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43"/>
  </p:notesMasterIdLst>
  <p:sldIdLst>
    <p:sldId id="256" r:id="rId2"/>
    <p:sldId id="276" r:id="rId3"/>
    <p:sldId id="277" r:id="rId4"/>
    <p:sldId id="278" r:id="rId5"/>
    <p:sldId id="257" r:id="rId6"/>
    <p:sldId id="258" r:id="rId7"/>
    <p:sldId id="259" r:id="rId8"/>
    <p:sldId id="260" r:id="rId9"/>
    <p:sldId id="261" r:id="rId10"/>
    <p:sldId id="262" r:id="rId11"/>
    <p:sldId id="263" r:id="rId12"/>
    <p:sldId id="264" r:id="rId13"/>
    <p:sldId id="265" r:id="rId14"/>
    <p:sldId id="266" r:id="rId15"/>
    <p:sldId id="267" r:id="rId16"/>
    <p:sldId id="268" r:id="rId17"/>
    <p:sldId id="270" r:id="rId18"/>
    <p:sldId id="271" r:id="rId19"/>
    <p:sldId id="272" r:id="rId20"/>
    <p:sldId id="279" r:id="rId21"/>
    <p:sldId id="280" r:id="rId22"/>
    <p:sldId id="281" r:id="rId23"/>
    <p:sldId id="282" r:id="rId24"/>
    <p:sldId id="283" r:id="rId25"/>
    <p:sldId id="284" r:id="rId26"/>
    <p:sldId id="285" r:id="rId27"/>
    <p:sldId id="286" r:id="rId28"/>
    <p:sldId id="287" r:id="rId29"/>
    <p:sldId id="288" r:id="rId30"/>
    <p:sldId id="289" r:id="rId31"/>
    <p:sldId id="290" r:id="rId32"/>
    <p:sldId id="291" r:id="rId33"/>
    <p:sldId id="292" r:id="rId34"/>
    <p:sldId id="293" r:id="rId35"/>
    <p:sldId id="294" r:id="rId36"/>
    <p:sldId id="295" r:id="rId37"/>
    <p:sldId id="296" r:id="rId38"/>
    <p:sldId id="297" r:id="rId39"/>
    <p:sldId id="298" r:id="rId40"/>
    <p:sldId id="299" r:id="rId41"/>
    <p:sldId id="275" r:id="rId4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p:scale>
          <a:sx n="67" d="100"/>
          <a:sy n="67" d="100"/>
        </p:scale>
        <p:origin x="32" y="3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8F5AFC3-E72B-4E25-BA7B-3B4DFD844128}" type="datetimeFigureOut">
              <a:rPr lang="en-US" smtClean="0"/>
              <a:t>5/4/2023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FA03498-2B34-4B3F-8378-34EB4F891D6F}" type="slidenum">
              <a:rPr lang="en-US" smtClean="0"/>
              <a:t>‹#›</a:t>
            </a:fld>
            <a:endParaRPr lang="en-US"/>
          </a:p>
        </p:txBody>
      </p:sp>
    </p:spTree>
    <p:extLst>
      <p:ext uri="{BB962C8B-B14F-4D97-AF65-F5344CB8AC3E}">
        <p14:creationId xmlns:p14="http://schemas.microsoft.com/office/powerpoint/2010/main" val="26425601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589213" y="2514600"/>
            <a:ext cx="8915399" cy="2262781"/>
          </a:xfrm>
        </p:spPr>
        <p:txBody>
          <a:bodyPr anchor="b">
            <a:normAutofit/>
          </a:bodyPr>
          <a:lstStyle>
            <a:lvl1pPr>
              <a:defRPr sz="5400"/>
            </a:lvl1pPr>
          </a:lstStyle>
          <a:p>
            <a:r>
              <a:rPr lang="en-US"/>
              <a:t>Click to edit Master title style</a:t>
            </a:r>
            <a:endParaRPr lang="en-US" dirty="0"/>
          </a:p>
        </p:txBody>
      </p:sp>
      <p:sp>
        <p:nvSpPr>
          <p:cNvPr id="3" name="Subtitle 2"/>
          <p:cNvSpPr>
            <a:spLocks noGrp="1"/>
          </p:cNvSpPr>
          <p:nvPr>
            <p:ph type="subTitle" idx="1"/>
          </p:nvPr>
        </p:nvSpPr>
        <p:spPr>
          <a:xfrm>
            <a:off x="2589213" y="4777379"/>
            <a:ext cx="8915399" cy="1126283"/>
          </a:xfrm>
        </p:spPr>
        <p:txBody>
          <a:bodyPr anchor="t"/>
          <a:lstStyle>
            <a:lvl1pPr marL="0" indent="0" algn="l">
              <a:buNone/>
              <a:defRPr>
                <a:solidFill>
                  <a:schemeClr val="tx1">
                    <a:lumMod val="65000"/>
                    <a:lumOff val="3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91878AD-7ABC-432C-81D9-7FED1F5B715F}" type="datetimeFigureOut">
              <a:rPr lang="en-US" smtClean="0"/>
              <a:t>5/4/2023</a:t>
            </a:fld>
            <a:endParaRPr lang="en-US"/>
          </a:p>
        </p:txBody>
      </p:sp>
      <p:sp>
        <p:nvSpPr>
          <p:cNvPr id="5" name="Footer Placeholder 4"/>
          <p:cNvSpPr>
            <a:spLocks noGrp="1"/>
          </p:cNvSpPr>
          <p:nvPr>
            <p:ph type="ftr" sz="quarter" idx="11"/>
          </p:nvPr>
        </p:nvSpPr>
        <p:spPr/>
        <p:txBody>
          <a:bodyPr/>
          <a:lstStyle/>
          <a:p>
            <a:endParaRPr lang="en-US"/>
          </a:p>
        </p:txBody>
      </p:sp>
      <p:sp>
        <p:nvSpPr>
          <p:cNvPr id="7" name="Freeform 6"/>
          <p:cNvSpPr/>
          <p:nvPr/>
        </p:nvSpPr>
        <p:spPr bwMode="auto">
          <a:xfrm>
            <a:off x="0" y="4323810"/>
            <a:ext cx="1744652" cy="778589"/>
          </a:xfrm>
          <a:custGeom>
            <a:avLst/>
            <a:gdLst/>
            <a:ahLst/>
            <a:cxnLst/>
            <a:rect l="0" t="0" r="r" b="b"/>
            <a:pathLst>
              <a:path w="372" h="166">
                <a:moveTo>
                  <a:pt x="287" y="166"/>
                </a:moveTo>
                <a:cubicBezTo>
                  <a:pt x="290" y="166"/>
                  <a:pt x="292" y="165"/>
                  <a:pt x="293" y="164"/>
                </a:cubicBezTo>
                <a:cubicBezTo>
                  <a:pt x="293" y="163"/>
                  <a:pt x="294" y="163"/>
                  <a:pt x="294" y="163"/>
                </a:cubicBezTo>
                <a:cubicBezTo>
                  <a:pt x="370" y="87"/>
                  <a:pt x="370" y="87"/>
                  <a:pt x="370" y="87"/>
                </a:cubicBezTo>
                <a:cubicBezTo>
                  <a:pt x="372" y="85"/>
                  <a:pt x="372" y="81"/>
                  <a:pt x="370" y="78"/>
                </a:cubicBezTo>
                <a:cubicBezTo>
                  <a:pt x="294" y="3"/>
                  <a:pt x="294" y="3"/>
                  <a:pt x="294" y="3"/>
                </a:cubicBezTo>
                <a:cubicBezTo>
                  <a:pt x="294" y="2"/>
                  <a:pt x="293" y="2"/>
                  <a:pt x="293" y="2"/>
                </a:cubicBezTo>
                <a:cubicBezTo>
                  <a:pt x="292" y="1"/>
                  <a:pt x="290" y="0"/>
                  <a:pt x="287" y="0"/>
                </a:cubicBezTo>
                <a:cubicBezTo>
                  <a:pt x="0" y="0"/>
                  <a:pt x="0" y="0"/>
                  <a:pt x="0" y="0"/>
                </a:cubicBezTo>
                <a:cubicBezTo>
                  <a:pt x="0" y="166"/>
                  <a:pt x="0" y="166"/>
                  <a:pt x="0" y="166"/>
                </a:cubicBezTo>
                <a:lnTo>
                  <a:pt x="287" y="166"/>
                </a:lnTo>
                <a:close/>
              </a:path>
            </a:pathLst>
          </a:custGeom>
          <a:solidFill>
            <a:schemeClr val="accent1"/>
          </a:solidFill>
          <a:ln>
            <a:noFill/>
          </a:ln>
        </p:spPr>
      </p:sp>
      <p:sp>
        <p:nvSpPr>
          <p:cNvPr id="6" name="Slide Number Placeholder 5"/>
          <p:cNvSpPr>
            <a:spLocks noGrp="1"/>
          </p:cNvSpPr>
          <p:nvPr>
            <p:ph type="sldNum" sz="quarter" idx="12"/>
          </p:nvPr>
        </p:nvSpPr>
        <p:spPr>
          <a:xfrm>
            <a:off x="531812" y="4529540"/>
            <a:ext cx="779767" cy="365125"/>
          </a:xfrm>
        </p:spPr>
        <p:txBody>
          <a:bodyPr/>
          <a:lstStyle/>
          <a:p>
            <a:fld id="{443BE909-9F42-4CA2-B68A-CF7F2BC6BDCF}" type="slidenum">
              <a:rPr lang="en-US" smtClean="0"/>
              <a:t>‹#›</a:t>
            </a:fld>
            <a:endParaRPr lang="en-US"/>
          </a:p>
        </p:txBody>
      </p:sp>
    </p:spTree>
    <p:extLst>
      <p:ext uri="{BB962C8B-B14F-4D97-AF65-F5344CB8AC3E}">
        <p14:creationId xmlns:p14="http://schemas.microsoft.com/office/powerpoint/2010/main" val="175803669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2592925" y="624110"/>
            <a:ext cx="8911687" cy="1280890"/>
          </a:xfrm>
        </p:spPr>
        <p:txBody>
          <a:bodyPr/>
          <a:lstStyle/>
          <a:p>
            <a:r>
              <a:rPr lang="en-US"/>
              <a:t>Click to edit Master title style</a:t>
            </a:r>
            <a:endParaRPr lang="en-US" dirty="0"/>
          </a:p>
        </p:txBody>
      </p:sp>
      <p:sp>
        <p:nvSpPr>
          <p:cNvPr id="3" name="Content Placeholder 2"/>
          <p:cNvSpPr>
            <a:spLocks noGrp="1"/>
          </p:cNvSpPr>
          <p:nvPr>
            <p:ph idx="1"/>
          </p:nvPr>
        </p:nvSpPr>
        <p:spPr>
          <a:xfrm>
            <a:off x="2589212" y="2133600"/>
            <a:ext cx="8915400" cy="377762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91878AD-7ABC-432C-81D9-7FED1F5B715F}" type="datetimeFigureOut">
              <a:rPr lang="en-US" smtClean="0"/>
              <a:t>5/4/2023</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443BE909-9F42-4CA2-B68A-CF7F2BC6BDCF}" type="slidenum">
              <a:rPr lang="en-US" smtClean="0"/>
              <a:t>‹#›</a:t>
            </a:fld>
            <a:endParaRPr lang="en-US"/>
          </a:p>
        </p:txBody>
      </p:sp>
    </p:spTree>
    <p:extLst>
      <p:ext uri="{BB962C8B-B14F-4D97-AF65-F5344CB8AC3E}">
        <p14:creationId xmlns:p14="http://schemas.microsoft.com/office/powerpoint/2010/main" val="26731002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589212" y="2058750"/>
            <a:ext cx="8915399" cy="146880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3530129"/>
            <a:ext cx="8915399" cy="860400"/>
          </a:xfrm>
        </p:spPr>
        <p:txBody>
          <a:bodyPr anchor="t"/>
          <a:lstStyle>
            <a:lvl1pPr marL="0" indent="0" algn="l">
              <a:buNone/>
              <a:defRPr sz="20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91878AD-7ABC-432C-81D9-7FED1F5B715F}" type="datetimeFigureOut">
              <a:rPr lang="en-US" smtClean="0"/>
              <a:t>5/4/2023</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443BE909-9F42-4CA2-B68A-CF7F2BC6BDCF}" type="slidenum">
              <a:rPr lang="en-US" smtClean="0"/>
              <a:t>‹#›</a:t>
            </a:fld>
            <a:endParaRPr lang="en-US"/>
          </a:p>
        </p:txBody>
      </p:sp>
    </p:spTree>
    <p:extLst>
      <p:ext uri="{BB962C8B-B14F-4D97-AF65-F5344CB8AC3E}">
        <p14:creationId xmlns:p14="http://schemas.microsoft.com/office/powerpoint/2010/main" val="20329650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2589212" y="2133600"/>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190747" y="2126222"/>
            <a:ext cx="4313864" cy="377762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91878AD-7ABC-432C-81D9-7FED1F5B715F}" type="datetimeFigureOut">
              <a:rPr lang="en-US" smtClean="0"/>
              <a:t>5/4/2023</a:t>
            </a:fld>
            <a:endParaRPr lang="en-US"/>
          </a:p>
        </p:txBody>
      </p:sp>
      <p:sp>
        <p:nvSpPr>
          <p:cNvPr id="6" name="Footer Placeholder 5"/>
          <p:cNvSpPr>
            <a:spLocks noGrp="1"/>
          </p:cNvSpPr>
          <p:nvPr>
            <p:ph type="ftr" sz="quarter" idx="11"/>
          </p:nvPr>
        </p:nvSpPr>
        <p:spPr/>
        <p:txBody>
          <a:bodyPr/>
          <a:lstStyle/>
          <a:p>
            <a:endParaRPr lang="en-US"/>
          </a:p>
        </p:txBody>
      </p:sp>
      <p:sp>
        <p:nvSpPr>
          <p:cNvPr id="10"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1" name="Slide Number Placeholder 5"/>
          <p:cNvSpPr>
            <a:spLocks noGrp="1"/>
          </p:cNvSpPr>
          <p:nvPr>
            <p:ph type="sldNum" sz="quarter" idx="12"/>
          </p:nvPr>
        </p:nvSpPr>
        <p:spPr>
          <a:xfrm>
            <a:off x="531812" y="787782"/>
            <a:ext cx="779767" cy="365125"/>
          </a:xfrm>
        </p:spPr>
        <p:txBody>
          <a:bodyPr/>
          <a:lstStyle/>
          <a:p>
            <a:fld id="{443BE909-9F42-4CA2-B68A-CF7F2BC6BDCF}" type="slidenum">
              <a:rPr lang="en-US" smtClean="0"/>
              <a:t>‹#›</a:t>
            </a:fld>
            <a:endParaRPr lang="en-US"/>
          </a:p>
        </p:txBody>
      </p:sp>
    </p:spTree>
    <p:extLst>
      <p:ext uri="{BB962C8B-B14F-4D97-AF65-F5344CB8AC3E}">
        <p14:creationId xmlns:p14="http://schemas.microsoft.com/office/powerpoint/2010/main" val="17484155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2939373" y="1972703"/>
            <a:ext cx="399273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2589212" y="2548966"/>
            <a:ext cx="4342893"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506629" y="1969475"/>
            <a:ext cx="3999001"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166957" y="2545738"/>
            <a:ext cx="4338674" cy="335406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91878AD-7ABC-432C-81D9-7FED1F5B715F}" type="datetimeFigureOut">
              <a:rPr lang="en-US" smtClean="0"/>
              <a:t>5/4/2023</a:t>
            </a:fld>
            <a:endParaRPr lang="en-US"/>
          </a:p>
        </p:txBody>
      </p:sp>
      <p:sp>
        <p:nvSpPr>
          <p:cNvPr id="8" name="Footer Placeholder 7"/>
          <p:cNvSpPr>
            <a:spLocks noGrp="1"/>
          </p:cNvSpPr>
          <p:nvPr>
            <p:ph type="ftr" sz="quarter" idx="11"/>
          </p:nvPr>
        </p:nvSpPr>
        <p:spPr/>
        <p:txBody>
          <a:bodyPr/>
          <a:lstStyle/>
          <a:p>
            <a:endParaRPr lang="en-US"/>
          </a:p>
        </p:txBody>
      </p:sp>
      <p:sp>
        <p:nvSpPr>
          <p:cNvPr id="12"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13" name="Slide Number Placeholder 5"/>
          <p:cNvSpPr>
            <a:spLocks noGrp="1"/>
          </p:cNvSpPr>
          <p:nvPr>
            <p:ph type="sldNum" sz="quarter" idx="12"/>
          </p:nvPr>
        </p:nvSpPr>
        <p:spPr>
          <a:xfrm>
            <a:off x="531812" y="787782"/>
            <a:ext cx="779767" cy="365125"/>
          </a:xfrm>
        </p:spPr>
        <p:txBody>
          <a:bodyPr/>
          <a:lstStyle/>
          <a:p>
            <a:fld id="{443BE909-9F42-4CA2-B68A-CF7F2BC6BDCF}" type="slidenum">
              <a:rPr lang="en-US" smtClean="0"/>
              <a:t>‹#›</a:t>
            </a:fld>
            <a:endParaRPr lang="en-US"/>
          </a:p>
        </p:txBody>
      </p:sp>
    </p:spTree>
    <p:extLst>
      <p:ext uri="{BB962C8B-B14F-4D97-AF65-F5344CB8AC3E}">
        <p14:creationId xmlns:p14="http://schemas.microsoft.com/office/powerpoint/2010/main" val="22919500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91878AD-7ABC-432C-81D9-7FED1F5B715F}" type="datetimeFigureOut">
              <a:rPr lang="en-US" smtClean="0"/>
              <a:t>5/4/2023</a:t>
            </a:fld>
            <a:endParaRPr lang="en-US"/>
          </a:p>
        </p:txBody>
      </p:sp>
      <p:sp>
        <p:nvSpPr>
          <p:cNvPr id="4" name="Footer Placeholder 3"/>
          <p:cNvSpPr>
            <a:spLocks noGrp="1"/>
          </p:cNvSpPr>
          <p:nvPr>
            <p:ph type="ftr" sz="quarter" idx="11"/>
          </p:nvPr>
        </p:nvSpPr>
        <p:spPr/>
        <p:txBody>
          <a:bodyPr/>
          <a:lstStyle/>
          <a:p>
            <a:endParaRPr lang="en-US"/>
          </a:p>
        </p:txBody>
      </p:sp>
      <p:sp>
        <p:nvSpPr>
          <p:cNvPr id="7"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5" name="Slide Number Placeholder 4"/>
          <p:cNvSpPr>
            <a:spLocks noGrp="1"/>
          </p:cNvSpPr>
          <p:nvPr>
            <p:ph type="sldNum" sz="quarter" idx="12"/>
          </p:nvPr>
        </p:nvSpPr>
        <p:spPr/>
        <p:txBody>
          <a:bodyPr/>
          <a:lstStyle/>
          <a:p>
            <a:fld id="{443BE909-9F42-4CA2-B68A-CF7F2BC6BDCF}" type="slidenum">
              <a:rPr lang="en-US" smtClean="0"/>
              <a:t>‹#›</a:t>
            </a:fld>
            <a:endParaRPr lang="en-US"/>
          </a:p>
        </p:txBody>
      </p:sp>
    </p:spTree>
    <p:extLst>
      <p:ext uri="{BB962C8B-B14F-4D97-AF65-F5344CB8AC3E}">
        <p14:creationId xmlns:p14="http://schemas.microsoft.com/office/powerpoint/2010/main" val="19951245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91878AD-7ABC-432C-81D9-7FED1F5B715F}" type="datetimeFigureOut">
              <a:rPr lang="en-US" smtClean="0"/>
              <a:t>5/4/2023</a:t>
            </a:fld>
            <a:endParaRPr lang="en-US"/>
          </a:p>
        </p:txBody>
      </p:sp>
      <p:sp>
        <p:nvSpPr>
          <p:cNvPr id="3" name="Footer Placeholder 2"/>
          <p:cNvSpPr>
            <a:spLocks noGrp="1"/>
          </p:cNvSpPr>
          <p:nvPr>
            <p:ph type="ftr" sz="quarter" idx="11"/>
          </p:nvPr>
        </p:nvSpPr>
        <p:spPr/>
        <p:txBody>
          <a:bodyPr/>
          <a:lstStyle/>
          <a:p>
            <a:endParaRPr lang="en-US"/>
          </a:p>
        </p:txBody>
      </p:sp>
      <p:sp>
        <p:nvSpPr>
          <p:cNvPr id="6"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4" name="Slide Number Placeholder 3"/>
          <p:cNvSpPr>
            <a:spLocks noGrp="1"/>
          </p:cNvSpPr>
          <p:nvPr>
            <p:ph type="sldNum" sz="quarter" idx="12"/>
          </p:nvPr>
        </p:nvSpPr>
        <p:spPr/>
        <p:txBody>
          <a:bodyPr/>
          <a:lstStyle/>
          <a:p>
            <a:fld id="{443BE909-9F42-4CA2-B68A-CF7F2BC6BDCF}" type="slidenum">
              <a:rPr lang="en-US" smtClean="0"/>
              <a:t>‹#›</a:t>
            </a:fld>
            <a:endParaRPr lang="en-US"/>
          </a:p>
        </p:txBody>
      </p:sp>
    </p:spTree>
    <p:extLst>
      <p:ext uri="{BB962C8B-B14F-4D97-AF65-F5344CB8AC3E}">
        <p14:creationId xmlns:p14="http://schemas.microsoft.com/office/powerpoint/2010/main" val="24266936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446088"/>
            <a:ext cx="3505199" cy="976312"/>
          </a:xfrm>
        </p:spPr>
        <p:txBody>
          <a:bodyPr anchor="b"/>
          <a:lstStyle>
            <a:lvl1pPr algn="l">
              <a:defRPr sz="2000" b="0"/>
            </a:lvl1pPr>
          </a:lstStyle>
          <a:p>
            <a:r>
              <a:rPr lang="en-US"/>
              <a:t>Click to edit Master title style</a:t>
            </a:r>
            <a:endParaRPr lang="en-US" dirty="0"/>
          </a:p>
        </p:txBody>
      </p:sp>
      <p:sp>
        <p:nvSpPr>
          <p:cNvPr id="3" name="Content Placeholder 2"/>
          <p:cNvSpPr>
            <a:spLocks noGrp="1"/>
          </p:cNvSpPr>
          <p:nvPr>
            <p:ph idx="1"/>
          </p:nvPr>
        </p:nvSpPr>
        <p:spPr>
          <a:xfrm>
            <a:off x="6323012" y="446088"/>
            <a:ext cx="5181600" cy="5414963"/>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89212" y="1598613"/>
            <a:ext cx="3505199" cy="4262436"/>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91878AD-7ABC-432C-81D9-7FED1F5B715F}" type="datetimeFigureOut">
              <a:rPr lang="en-US" smtClean="0"/>
              <a:t>5/4/2023</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p:txBody>
          <a:bodyPr/>
          <a:lstStyle/>
          <a:p>
            <a:fld id="{443BE909-9F42-4CA2-B68A-CF7F2BC6BDCF}" type="slidenum">
              <a:rPr lang="en-US" smtClean="0"/>
              <a:t>‹#›</a:t>
            </a:fld>
            <a:endParaRPr lang="en-US"/>
          </a:p>
        </p:txBody>
      </p:sp>
    </p:spTree>
    <p:extLst>
      <p:ext uri="{BB962C8B-B14F-4D97-AF65-F5344CB8AC3E}">
        <p14:creationId xmlns:p14="http://schemas.microsoft.com/office/powerpoint/2010/main" val="41953412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3" y="4800600"/>
            <a:ext cx="8915400"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2589212" y="634965"/>
            <a:ext cx="8915400" cy="3854970"/>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2589213" y="5367338"/>
            <a:ext cx="8915400"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91878AD-7ABC-432C-81D9-7FED1F5B715F}" type="datetimeFigureOut">
              <a:rPr lang="en-US" smtClean="0"/>
              <a:t>5/4/2023</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443BE909-9F42-4CA2-B68A-CF7F2BC6BDCF}" type="slidenum">
              <a:rPr lang="en-US" smtClean="0"/>
              <a:t>‹#›</a:t>
            </a:fld>
            <a:endParaRPr lang="en-US"/>
          </a:p>
        </p:txBody>
      </p:sp>
    </p:spTree>
    <p:extLst>
      <p:ext uri="{BB962C8B-B14F-4D97-AF65-F5344CB8AC3E}">
        <p14:creationId xmlns:p14="http://schemas.microsoft.com/office/powerpoint/2010/main" val="11432276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2589212" y="609600"/>
            <a:ext cx="8915399" cy="3117040"/>
          </a:xfrm>
        </p:spPr>
        <p:txBody>
          <a:bodyPr anchor="ctr">
            <a:normAutofit/>
          </a:bodyPr>
          <a:lstStyle>
            <a:lvl1pPr algn="l">
              <a:defRPr sz="4800" b="0" cap="none"/>
            </a:lvl1pPr>
          </a:lstStyle>
          <a:p>
            <a:r>
              <a:rPr lang="en-US"/>
              <a:t>Click to edit Master title style</a:t>
            </a:r>
            <a:endParaRPr lang="en-US" dirty="0"/>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91878AD-7ABC-432C-81D9-7FED1F5B715F}" type="datetimeFigureOut">
              <a:rPr lang="en-US" smtClean="0"/>
              <a:t>5/4/2023</a:t>
            </a:fld>
            <a:endParaRPr lang="en-US"/>
          </a:p>
        </p:txBody>
      </p:sp>
      <p:sp>
        <p:nvSpPr>
          <p:cNvPr id="5" name="Footer Placeholder 4"/>
          <p:cNvSpPr>
            <a:spLocks noGrp="1"/>
          </p:cNvSpPr>
          <p:nvPr>
            <p:ph type="ftr" sz="quarter" idx="11"/>
          </p:nvPr>
        </p:nvSpPr>
        <p:spPr/>
        <p:txBody>
          <a:bodyPr/>
          <a:lstStyle/>
          <a:p>
            <a:endParaRPr lang="en-US"/>
          </a:p>
        </p:txBody>
      </p:sp>
      <p:sp>
        <p:nvSpPr>
          <p:cNvPr id="9"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443BE909-9F42-4CA2-B68A-CF7F2BC6BDCF}" type="slidenum">
              <a:rPr lang="en-US" smtClean="0"/>
              <a:t>‹#›</a:t>
            </a:fld>
            <a:endParaRPr lang="en-US"/>
          </a:p>
        </p:txBody>
      </p:sp>
    </p:spTree>
    <p:extLst>
      <p:ext uri="{BB962C8B-B14F-4D97-AF65-F5344CB8AC3E}">
        <p14:creationId xmlns:p14="http://schemas.microsoft.com/office/powerpoint/2010/main" val="695272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13" name="Text Placeholder 9"/>
          <p:cNvSpPr>
            <a:spLocks noGrp="1"/>
          </p:cNvSpPr>
          <p:nvPr>
            <p:ph type="body" sz="quarter" idx="13"/>
          </p:nvPr>
        </p:nvSpPr>
        <p:spPr>
          <a:xfrm>
            <a:off x="3275012" y="3505200"/>
            <a:ext cx="753655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2589212" y="4354046"/>
            <a:ext cx="8915399" cy="1555864"/>
          </a:xfrm>
        </p:spPr>
        <p:txBody>
          <a:bodyPr anchor="ctr">
            <a:normAutofit/>
          </a:bodyPr>
          <a:lstStyle>
            <a:lvl1pPr marL="0" indent="0" algn="l">
              <a:buNone/>
              <a:defRPr sz="18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91878AD-7ABC-432C-81D9-7FED1F5B715F}" type="datetimeFigureOut">
              <a:rPr lang="en-US" smtClean="0"/>
              <a:t>5/4/2023</a:t>
            </a:fld>
            <a:endParaRPr lang="en-US"/>
          </a:p>
        </p:txBody>
      </p:sp>
      <p:sp>
        <p:nvSpPr>
          <p:cNvPr id="5" name="Footer Placeholder 4"/>
          <p:cNvSpPr>
            <a:spLocks noGrp="1"/>
          </p:cNvSpPr>
          <p:nvPr>
            <p:ph type="ftr" sz="quarter" idx="11"/>
          </p:nvPr>
        </p:nvSpPr>
        <p:spPr/>
        <p:txBody>
          <a:bodyPr/>
          <a:lstStyle/>
          <a:p>
            <a:endParaRPr lang="en-US"/>
          </a:p>
        </p:txBody>
      </p:sp>
      <p:sp>
        <p:nvSpPr>
          <p:cNvPr id="11" name="Freeform 11"/>
          <p:cNvSpPr/>
          <p:nvPr/>
        </p:nvSpPr>
        <p:spPr bwMode="auto">
          <a:xfrm flipV="1">
            <a:off x="-4189" y="31781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a:xfrm>
            <a:off x="531812" y="3244139"/>
            <a:ext cx="779767" cy="365125"/>
          </a:xfrm>
        </p:spPr>
        <p:txBody>
          <a:bodyPr/>
          <a:lstStyle/>
          <a:p>
            <a:fld id="{443BE909-9F42-4CA2-B68A-CF7F2BC6BDCF}" type="slidenum">
              <a:rPr lang="en-US" smtClean="0"/>
              <a:t>‹#›</a:t>
            </a:fld>
            <a:endParaRPr lang="en-US"/>
          </a:p>
        </p:txBody>
      </p:sp>
      <p:sp>
        <p:nvSpPr>
          <p:cNvPr id="14" name="TextBox 13"/>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5" name="TextBox 14"/>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373160070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2589213" y="2438400"/>
            <a:ext cx="8915400" cy="2724845"/>
          </a:xfrm>
        </p:spPr>
        <p:txBody>
          <a:bodyPr anchor="b">
            <a:normAutofit/>
          </a:bodyPr>
          <a:lstStyle>
            <a:lvl1pPr algn="l">
              <a:defRPr sz="4800" b="0"/>
            </a:lvl1pPr>
          </a:lstStyle>
          <a:p>
            <a:r>
              <a:rPr lang="en-US"/>
              <a:t>Click to edit Master title style</a:t>
            </a:r>
            <a:endParaRPr lang="en-US" dirty="0"/>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391878AD-7ABC-432C-81D9-7FED1F5B715F}" type="datetimeFigureOut">
              <a:rPr lang="en-US" smtClean="0"/>
              <a:t>5/4/2023</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443BE909-9F42-4CA2-B68A-CF7F2BC6BDCF}" type="slidenum">
              <a:rPr lang="en-US" smtClean="0"/>
              <a:t>‹#›</a:t>
            </a:fld>
            <a:endParaRPr lang="en-US"/>
          </a:p>
        </p:txBody>
      </p:sp>
    </p:spTree>
    <p:extLst>
      <p:ext uri="{BB962C8B-B14F-4D97-AF65-F5344CB8AC3E}">
        <p14:creationId xmlns:p14="http://schemas.microsoft.com/office/powerpoint/2010/main" val="169434272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2" name="Title 1"/>
          <p:cNvSpPr>
            <a:spLocks noGrp="1"/>
          </p:cNvSpPr>
          <p:nvPr>
            <p:ph type="title"/>
          </p:nvPr>
        </p:nvSpPr>
        <p:spPr>
          <a:xfrm>
            <a:off x="2849949" y="609600"/>
            <a:ext cx="8393926" cy="2895600"/>
          </a:xfrm>
        </p:spPr>
        <p:txBody>
          <a:bodyPr anchor="ctr">
            <a:normAutofit/>
          </a:bodyPr>
          <a:lstStyle>
            <a:lvl1pPr algn="l">
              <a:defRPr sz="4800" b="0" cap="none"/>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391878AD-7ABC-432C-81D9-7FED1F5B715F}" type="datetimeFigureOut">
              <a:rPr lang="en-US" smtClean="0"/>
              <a:t>5/4/2023</a:t>
            </a:fld>
            <a:endParaRPr lang="en-US"/>
          </a:p>
        </p:txBody>
      </p:sp>
      <p:sp>
        <p:nvSpPr>
          <p:cNvPr id="6" name="Footer Placeholder 5"/>
          <p:cNvSpPr>
            <a:spLocks noGrp="1"/>
          </p:cNvSpPr>
          <p:nvPr>
            <p:ph type="ftr" sz="quarter" idx="11"/>
          </p:nvPr>
        </p:nvSpPr>
        <p:spPr/>
        <p:txBody>
          <a:bodyPr/>
          <a:lstStyle/>
          <a:p>
            <a:endParaRPr lang="en-US"/>
          </a:p>
        </p:txBody>
      </p:sp>
      <p:sp>
        <p:nvSpPr>
          <p:cNvPr id="11"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443BE909-9F42-4CA2-B68A-CF7F2BC6BDCF}" type="slidenum">
              <a:rPr lang="en-US" smtClean="0"/>
              <a:t>‹#›</a:t>
            </a:fld>
            <a:endParaRPr lang="en-US"/>
          </a:p>
        </p:txBody>
      </p:sp>
      <p:sp>
        <p:nvSpPr>
          <p:cNvPr id="17" name="TextBox 16"/>
          <p:cNvSpPr txBox="1"/>
          <p:nvPr/>
        </p:nvSpPr>
        <p:spPr>
          <a:xfrm>
            <a:off x="2467652" y="648005"/>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18" name="TextBox 17"/>
          <p:cNvSpPr txBox="1"/>
          <p:nvPr/>
        </p:nvSpPr>
        <p:spPr>
          <a:xfrm>
            <a:off x="11114852" y="290530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3794743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2589212" y="627407"/>
            <a:ext cx="8915399" cy="2880020"/>
          </a:xfrm>
        </p:spPr>
        <p:txBody>
          <a:bodyPr anchor="ctr">
            <a:normAutofit/>
          </a:bodyPr>
          <a:lstStyle>
            <a:lvl1pPr algn="l">
              <a:defRPr sz="4800" b="0"/>
            </a:lvl1pPr>
          </a:lstStyle>
          <a:p>
            <a:r>
              <a:rPr lang="en-US"/>
              <a:t>Click to edit Master title style</a:t>
            </a:r>
            <a:endParaRPr lang="en-US" dirty="0"/>
          </a:p>
        </p:txBody>
      </p:sp>
      <p:sp>
        <p:nvSpPr>
          <p:cNvPr id="21" name="Text Placeholder 9"/>
          <p:cNvSpPr>
            <a:spLocks noGrp="1"/>
          </p:cNvSpPr>
          <p:nvPr>
            <p:ph type="body" sz="quarter" idx="13"/>
          </p:nvPr>
        </p:nvSpPr>
        <p:spPr>
          <a:xfrm>
            <a:off x="2589212" y="4343400"/>
            <a:ext cx="8915400" cy="838200"/>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4" name="Text Placeholder 3"/>
          <p:cNvSpPr>
            <a:spLocks noGrp="1"/>
          </p:cNvSpPr>
          <p:nvPr>
            <p:ph type="body" sz="half" idx="2"/>
          </p:nvPr>
        </p:nvSpPr>
        <p:spPr>
          <a:xfrm>
            <a:off x="2589213" y="5181600"/>
            <a:ext cx="8915400" cy="729622"/>
          </a:xfrm>
        </p:spPr>
        <p:txBody>
          <a:bodyPr vert="horz" lIns="91440" tIns="45720" rIns="91440" bIns="45720" rtlCol="0" anchor="t">
            <a:normAutofit/>
          </a:bodyPr>
          <a:lstStyle>
            <a:lvl1pPr>
              <a:buNone/>
              <a:defRPr lang="en-US">
                <a:solidFill>
                  <a:schemeClr val="tx1">
                    <a:lumMod val="65000"/>
                    <a:lumOff val="35000"/>
                  </a:schemeClr>
                </a:solidFill>
              </a:defRPr>
            </a:lvl1pPr>
          </a:lstStyle>
          <a:p>
            <a:pPr marL="0" lvl="0" indent="0">
              <a:buNone/>
            </a:pPr>
            <a:r>
              <a:rPr lang="en-US"/>
              <a:t>Click to edit Master text styles</a:t>
            </a:r>
          </a:p>
        </p:txBody>
      </p:sp>
      <p:sp>
        <p:nvSpPr>
          <p:cNvPr id="5" name="Date Placeholder 4"/>
          <p:cNvSpPr>
            <a:spLocks noGrp="1"/>
          </p:cNvSpPr>
          <p:nvPr>
            <p:ph type="dt" sz="half" idx="10"/>
          </p:nvPr>
        </p:nvSpPr>
        <p:spPr/>
        <p:txBody>
          <a:bodyPr/>
          <a:lstStyle/>
          <a:p>
            <a:fld id="{391878AD-7ABC-432C-81D9-7FED1F5B715F}" type="datetimeFigureOut">
              <a:rPr lang="en-US" smtClean="0"/>
              <a:t>5/4/2023</a:t>
            </a:fld>
            <a:endParaRPr lang="en-US"/>
          </a:p>
        </p:txBody>
      </p:sp>
      <p:sp>
        <p:nvSpPr>
          <p:cNvPr id="6" name="Footer Placeholder 5"/>
          <p:cNvSpPr>
            <a:spLocks noGrp="1"/>
          </p:cNvSpPr>
          <p:nvPr>
            <p:ph type="ftr" sz="quarter" idx="11"/>
          </p:nvPr>
        </p:nvSpPr>
        <p:spPr/>
        <p:txBody>
          <a:bodyPr/>
          <a:lstStyle/>
          <a:p>
            <a:endParaRPr lang="en-US"/>
          </a:p>
        </p:txBody>
      </p:sp>
      <p:sp>
        <p:nvSpPr>
          <p:cNvPr id="9" name="Freeform 11"/>
          <p:cNvSpPr/>
          <p:nvPr/>
        </p:nvSpPr>
        <p:spPr bwMode="auto">
          <a:xfrm flipV="1">
            <a:off x="-4189" y="491172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7" name="Slide Number Placeholder 6"/>
          <p:cNvSpPr>
            <a:spLocks noGrp="1"/>
          </p:cNvSpPr>
          <p:nvPr>
            <p:ph type="sldNum" sz="quarter" idx="12"/>
          </p:nvPr>
        </p:nvSpPr>
        <p:spPr>
          <a:xfrm>
            <a:off x="531812" y="4983087"/>
            <a:ext cx="779767" cy="365125"/>
          </a:xfrm>
        </p:spPr>
        <p:txBody>
          <a:bodyPr/>
          <a:lstStyle/>
          <a:p>
            <a:fld id="{443BE909-9F42-4CA2-B68A-CF7F2BC6BDCF}" type="slidenum">
              <a:rPr lang="en-US" smtClean="0"/>
              <a:t>‹#›</a:t>
            </a:fld>
            <a:endParaRPr lang="en-US"/>
          </a:p>
        </p:txBody>
      </p:sp>
    </p:spTree>
    <p:extLst>
      <p:ext uri="{BB962C8B-B14F-4D97-AF65-F5344CB8AC3E}">
        <p14:creationId xmlns:p14="http://schemas.microsoft.com/office/powerpoint/2010/main" val="121809966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91878AD-7ABC-432C-81D9-7FED1F5B715F}" type="datetimeFigureOut">
              <a:rPr lang="en-US" smtClean="0"/>
              <a:t>5/4/2023</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443BE909-9F42-4CA2-B68A-CF7F2BC6BDCF}" type="slidenum">
              <a:rPr lang="en-US" smtClean="0"/>
              <a:t>‹#›</a:t>
            </a:fld>
            <a:endParaRPr lang="en-US"/>
          </a:p>
        </p:txBody>
      </p:sp>
    </p:spTree>
    <p:extLst>
      <p:ext uri="{BB962C8B-B14F-4D97-AF65-F5344CB8AC3E}">
        <p14:creationId xmlns:p14="http://schemas.microsoft.com/office/powerpoint/2010/main" val="162004323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294812" y="627405"/>
            <a:ext cx="2207601" cy="5283817"/>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2589212" y="627405"/>
            <a:ext cx="6477000" cy="528381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91878AD-7ABC-432C-81D9-7FED1F5B715F}" type="datetimeFigureOut">
              <a:rPr lang="en-US" smtClean="0"/>
              <a:t>5/4/2023</a:t>
            </a:fld>
            <a:endParaRPr lang="en-US"/>
          </a:p>
        </p:txBody>
      </p:sp>
      <p:sp>
        <p:nvSpPr>
          <p:cNvPr id="5" name="Footer Placeholder 4"/>
          <p:cNvSpPr>
            <a:spLocks noGrp="1"/>
          </p:cNvSpPr>
          <p:nvPr>
            <p:ph type="ftr" sz="quarter" idx="11"/>
          </p:nvPr>
        </p:nvSpPr>
        <p:spPr/>
        <p:txBody>
          <a:bodyPr/>
          <a:lstStyle/>
          <a:p>
            <a:endParaRPr lang="en-US"/>
          </a:p>
        </p:txBody>
      </p:sp>
      <p:sp>
        <p:nvSpPr>
          <p:cNvPr id="8" name="Freeform 11"/>
          <p:cNvSpPr/>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p:nvSpPr>
          <p:cNvPr id="6" name="Slide Number Placeholder 5"/>
          <p:cNvSpPr>
            <a:spLocks noGrp="1"/>
          </p:cNvSpPr>
          <p:nvPr>
            <p:ph type="sldNum" sz="quarter" idx="12"/>
          </p:nvPr>
        </p:nvSpPr>
        <p:spPr/>
        <p:txBody>
          <a:bodyPr/>
          <a:lstStyle/>
          <a:p>
            <a:fld id="{443BE909-9F42-4CA2-B68A-CF7F2BC6BDCF}" type="slidenum">
              <a:rPr lang="en-US" smtClean="0"/>
              <a:t>‹#›</a:t>
            </a:fld>
            <a:endParaRPr lang="en-US"/>
          </a:p>
        </p:txBody>
      </p:sp>
    </p:spTree>
    <p:extLst>
      <p:ext uri="{BB962C8B-B14F-4D97-AF65-F5344CB8AC3E}">
        <p14:creationId xmlns:p14="http://schemas.microsoft.com/office/powerpoint/2010/main" val="8646187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23" name="Group 22"/>
          <p:cNvGrpSpPr/>
          <p:nvPr/>
        </p:nvGrpSpPr>
        <p:grpSpPr>
          <a:xfrm>
            <a:off x="1" y="228600"/>
            <a:ext cx="2851516" cy="6638628"/>
            <a:chOff x="2487613" y="285750"/>
            <a:chExt cx="2428875" cy="5654676"/>
          </a:xfrm>
        </p:grpSpPr>
        <p:sp>
          <p:nvSpPr>
            <p:cNvPr id="24" name="Freeform 11"/>
            <p:cNvSpPr/>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25" name="Freeform 12"/>
            <p:cNvSpPr/>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26" name="Freeform 13"/>
            <p:cNvSpPr/>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27" name="Freeform 14"/>
            <p:cNvSpPr/>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28" name="Freeform 15"/>
            <p:cNvSpPr/>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29" name="Freeform 16"/>
            <p:cNvSpPr/>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30" name="Freeform 17"/>
            <p:cNvSpPr/>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31" name="Freeform 18"/>
            <p:cNvSpPr/>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32" name="Freeform 19"/>
            <p:cNvSpPr/>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33" name="Freeform 20"/>
            <p:cNvSpPr/>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34" name="Freeform 21"/>
            <p:cNvSpPr/>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35" name="Freeform 22"/>
            <p:cNvSpPr/>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10" name="Group 9"/>
          <p:cNvGrpSpPr/>
          <p:nvPr/>
        </p:nvGrpSpPr>
        <p:grpSpPr>
          <a:xfrm>
            <a:off x="27221" y="-786"/>
            <a:ext cx="2356674" cy="6854039"/>
            <a:chOff x="6627813" y="194833"/>
            <a:chExt cx="1952625" cy="5678918"/>
          </a:xfrm>
        </p:grpSpPr>
        <p:sp>
          <p:nvSpPr>
            <p:cNvPr id="11" name="Freeform 27"/>
            <p:cNvSpPr/>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12" name="Freeform 28"/>
            <p:cNvSpPr/>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13" name="Freeform 29"/>
            <p:cNvSpPr/>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14" name="Freeform 30"/>
            <p:cNvSpPr/>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15" name="Freeform 31"/>
            <p:cNvSpPr/>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16" name="Freeform 32"/>
            <p:cNvSpPr/>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17" name="Freeform 33"/>
            <p:cNvSpPr/>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18" name="Freeform 34"/>
            <p:cNvSpPr/>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19" name="Freeform 35"/>
            <p:cNvSpPr/>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20" name="Freeform 36"/>
            <p:cNvSpPr/>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21" name="Freeform 37"/>
            <p:cNvSpPr/>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22" name="Freeform 38"/>
            <p:cNvSpPr/>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7" name="Rectangle 6"/>
          <p:cNvSpPr/>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2" name="Title Placeholder 1"/>
          <p:cNvSpPr>
            <a:spLocks noGrp="1"/>
          </p:cNvSpPr>
          <p:nvPr>
            <p:ph type="title"/>
          </p:nvPr>
        </p:nvSpPr>
        <p:spPr>
          <a:xfrm>
            <a:off x="2592924" y="624110"/>
            <a:ext cx="8911687" cy="128089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2589212" y="2133600"/>
            <a:ext cx="8915400" cy="38862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361612" y="6130437"/>
            <a:ext cx="1146283" cy="370396"/>
          </a:xfrm>
          <a:prstGeom prst="rect">
            <a:avLst/>
          </a:prstGeom>
        </p:spPr>
        <p:txBody>
          <a:bodyPr vert="horz" lIns="91440" tIns="45720" rIns="91440" bIns="45720" rtlCol="0" anchor="ctr"/>
          <a:lstStyle>
            <a:lvl1pPr algn="r">
              <a:defRPr sz="900">
                <a:solidFill>
                  <a:schemeClr val="tx1">
                    <a:tint val="75000"/>
                  </a:schemeClr>
                </a:solidFill>
              </a:defRPr>
            </a:lvl1pPr>
          </a:lstStyle>
          <a:p>
            <a:fld id="{391878AD-7ABC-432C-81D9-7FED1F5B715F}" type="datetimeFigureOut">
              <a:rPr lang="en-US" smtClean="0"/>
              <a:t>5/4/2023</a:t>
            </a:fld>
            <a:endParaRPr lang="en-US"/>
          </a:p>
        </p:txBody>
      </p:sp>
      <p:sp>
        <p:nvSpPr>
          <p:cNvPr id="5" name="Footer Placeholder 4"/>
          <p:cNvSpPr>
            <a:spLocks noGrp="1"/>
          </p:cNvSpPr>
          <p:nvPr>
            <p:ph type="ftr" sz="quarter" idx="3"/>
          </p:nvPr>
        </p:nvSpPr>
        <p:spPr>
          <a:xfrm>
            <a:off x="2589212" y="6135808"/>
            <a:ext cx="7619999"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bwMode="gray">
          <a:xfrm>
            <a:off x="531812" y="787782"/>
            <a:ext cx="779767" cy="365125"/>
          </a:xfrm>
          <a:prstGeom prst="rect">
            <a:avLst/>
          </a:prstGeom>
        </p:spPr>
        <p:txBody>
          <a:bodyPr vert="horz" lIns="91440" tIns="45720" rIns="91440" bIns="45720" rtlCol="0" anchor="ctr"/>
          <a:lstStyle>
            <a:lvl1pPr algn="r">
              <a:defRPr sz="2000">
                <a:solidFill>
                  <a:srgbClr val="FEFFFF"/>
                </a:solidFill>
              </a:defRPr>
            </a:lvl1pPr>
          </a:lstStyle>
          <a:p>
            <a:fld id="{443BE909-9F42-4CA2-B68A-CF7F2BC6BDCF}" type="slidenum">
              <a:rPr lang="en-US" smtClean="0"/>
              <a:t>‹#›</a:t>
            </a:fld>
            <a:endParaRPr lang="en-US"/>
          </a:p>
        </p:txBody>
      </p:sp>
    </p:spTree>
    <p:extLst>
      <p:ext uri="{BB962C8B-B14F-4D97-AF65-F5344CB8AC3E}">
        <p14:creationId xmlns:p14="http://schemas.microsoft.com/office/powerpoint/2010/main" val="103952387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image" Target="../media/image22.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image" Target="../media/image24.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7.emf"/><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9.emf"/><Relationship Id="rId2" Type="http://schemas.openxmlformats.org/officeDocument/2006/relationships/image" Target="../media/image28.emf"/><Relationship Id="rId1" Type="http://schemas.openxmlformats.org/officeDocument/2006/relationships/slideLayout" Target="../slideLayouts/slideLayout2.xml"/><Relationship Id="rId5" Type="http://schemas.openxmlformats.org/officeDocument/2006/relationships/image" Target="../media/image31.emf"/><Relationship Id="rId4" Type="http://schemas.openxmlformats.org/officeDocument/2006/relationships/image" Target="../media/image30.emf"/></Relationships>
</file>

<file path=ppt/slides/_rels/slide29.xml.rels><?xml version="1.0" encoding="UTF-8" standalone="yes"?>
<Relationships xmlns="http://schemas.openxmlformats.org/package/2006/relationships"><Relationship Id="rId3" Type="http://schemas.openxmlformats.org/officeDocument/2006/relationships/image" Target="../media/image31.emf"/><Relationship Id="rId2" Type="http://schemas.openxmlformats.org/officeDocument/2006/relationships/image" Target="../media/image30.emf"/><Relationship Id="rId1" Type="http://schemas.openxmlformats.org/officeDocument/2006/relationships/slideLayout" Target="../slideLayouts/slideLayout2.xml"/><Relationship Id="rId5" Type="http://schemas.openxmlformats.org/officeDocument/2006/relationships/image" Target="../media/image35.png"/><Relationship Id="rId4" Type="http://schemas.openxmlformats.org/officeDocument/2006/relationships/image" Target="../media/image34.png"/></Relationships>
</file>

<file path=ppt/slides/_rels/slide3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3.emf"/><Relationship Id="rId2" Type="http://schemas.openxmlformats.org/officeDocument/2006/relationships/image" Target="../media/image32.emf"/><Relationship Id="rId1" Type="http://schemas.openxmlformats.org/officeDocument/2006/relationships/slideLayout" Target="../slideLayouts/slideLayout2.xml"/><Relationship Id="rId5" Type="http://schemas.openxmlformats.org/officeDocument/2006/relationships/image" Target="../media/image35.emf"/><Relationship Id="rId4" Type="http://schemas.openxmlformats.org/officeDocument/2006/relationships/image" Target="../media/image34.emf"/></Relationships>
</file>

<file path=ppt/slides/_rels/slide34.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image" Target="../media/image36.emf"/><Relationship Id="rId1" Type="http://schemas.openxmlformats.org/officeDocument/2006/relationships/slideLayout" Target="../slideLayouts/slideLayout2.xml"/><Relationship Id="rId5" Type="http://schemas.openxmlformats.org/officeDocument/2006/relationships/image" Target="../media/image39.emf"/><Relationship Id="rId4" Type="http://schemas.openxmlformats.org/officeDocument/2006/relationships/image" Target="../media/image38.emf"/></Relationships>
</file>

<file path=ppt/slides/_rels/slide35.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41.emf"/><Relationship Id="rId2" Type="http://schemas.openxmlformats.org/officeDocument/2006/relationships/image" Target="../media/image40.emf"/><Relationship Id="rId1" Type="http://schemas.openxmlformats.org/officeDocument/2006/relationships/slideLayout" Target="../slideLayouts/slideLayout2.xml"/><Relationship Id="rId5" Type="http://schemas.openxmlformats.org/officeDocument/2006/relationships/image" Target="../media/image43.emf"/><Relationship Id="rId4" Type="http://schemas.openxmlformats.org/officeDocument/2006/relationships/image" Target="../media/image42.emf"/></Relationships>
</file>

<file path=ppt/slides/_rels/slide38.xml.rels><?xml version="1.0" encoding="UTF-8" standalone="yes"?>
<Relationships xmlns="http://schemas.openxmlformats.org/package/2006/relationships"><Relationship Id="rId3" Type="http://schemas.openxmlformats.org/officeDocument/2006/relationships/image" Target="../media/image45.emf"/><Relationship Id="rId2" Type="http://schemas.openxmlformats.org/officeDocument/2006/relationships/image" Target="../media/image44.emf"/><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82B8277E-C855-7B01-FEFA-77E3DA35B4D7}"/>
              </a:ext>
            </a:extLst>
          </p:cNvPr>
          <p:cNvSpPr txBox="1"/>
          <p:nvPr/>
        </p:nvSpPr>
        <p:spPr>
          <a:xfrm>
            <a:off x="1614518" y="999375"/>
            <a:ext cx="8891847" cy="5370701"/>
          </a:xfrm>
          <a:prstGeom prst="rect">
            <a:avLst/>
          </a:prstGeom>
          <a:noFill/>
        </p:spPr>
        <p:txBody>
          <a:bodyPr wrap="square" rtlCol="0">
            <a:spAutoFit/>
          </a:bodyPr>
          <a:lstStyle/>
          <a:p>
            <a:pPr algn="ctr"/>
            <a:r>
              <a:rPr lang="en-US" sz="2500" b="1" dirty="0">
                <a:latin typeface="Times New Roman" panose="02020603050405020304" pitchFamily="18" charset="0"/>
                <a:cs typeface="Times New Roman" panose="02020603050405020304" pitchFamily="18" charset="0"/>
              </a:rPr>
              <a:t>American University of Beirut</a:t>
            </a:r>
          </a:p>
          <a:p>
            <a:pPr algn="ctr"/>
            <a:endParaRPr lang="en-US" sz="2500" b="1" dirty="0">
              <a:latin typeface="Times New Roman" panose="02020603050405020304" pitchFamily="18" charset="0"/>
              <a:cs typeface="Times New Roman" panose="02020603050405020304" pitchFamily="18" charset="0"/>
            </a:endParaRPr>
          </a:p>
          <a:p>
            <a:pPr algn="ctr"/>
            <a:r>
              <a:rPr lang="en-US" sz="2500" b="1" dirty="0">
                <a:latin typeface="Times New Roman" panose="02020603050405020304" pitchFamily="18" charset="0"/>
                <a:cs typeface="Times New Roman" panose="02020603050405020304" pitchFamily="18" charset="0"/>
              </a:rPr>
              <a:t>MECH 674</a:t>
            </a:r>
          </a:p>
          <a:p>
            <a:pPr algn="ctr"/>
            <a:endParaRPr lang="en-US" sz="2500" b="1" dirty="0">
              <a:latin typeface="Times New Roman" panose="02020603050405020304" pitchFamily="18" charset="0"/>
              <a:cs typeface="Times New Roman" panose="02020603050405020304" pitchFamily="18" charset="0"/>
            </a:endParaRPr>
          </a:p>
          <a:p>
            <a:pPr algn="ctr"/>
            <a:r>
              <a:rPr lang="en-US" sz="2500" b="1" dirty="0">
                <a:latin typeface="Times New Roman" panose="02020603050405020304" pitchFamily="18" charset="0"/>
                <a:cs typeface="Times New Roman" panose="02020603050405020304" pitchFamily="18" charset="0"/>
              </a:rPr>
              <a:t>Energy Economics and Policy</a:t>
            </a:r>
          </a:p>
          <a:p>
            <a:pPr algn="ctr"/>
            <a:r>
              <a:rPr lang="en-US" sz="2500" b="1" dirty="0">
                <a:latin typeface="Times New Roman" panose="02020603050405020304" pitchFamily="18" charset="0"/>
                <a:cs typeface="Times New Roman" panose="02020603050405020304" pitchFamily="18" charset="0"/>
              </a:rPr>
              <a:t>Dr. Carine </a:t>
            </a:r>
            <a:r>
              <a:rPr lang="en-US" sz="2500" b="1" dirty="0" err="1">
                <a:latin typeface="Times New Roman" panose="02020603050405020304" pitchFamily="18" charset="0"/>
                <a:cs typeface="Times New Roman" panose="02020603050405020304" pitchFamily="18" charset="0"/>
              </a:rPr>
              <a:t>Habchi</a:t>
            </a:r>
            <a:endParaRPr lang="en-US" sz="2500" b="1" dirty="0">
              <a:latin typeface="Times New Roman" panose="02020603050405020304" pitchFamily="18" charset="0"/>
              <a:cs typeface="Times New Roman" panose="02020603050405020304" pitchFamily="18" charset="0"/>
            </a:endParaRPr>
          </a:p>
          <a:p>
            <a:pPr algn="ctr"/>
            <a:r>
              <a:rPr lang="en-US" sz="2500" b="1" dirty="0">
                <a:latin typeface="Times New Roman" panose="02020603050405020304" pitchFamily="18" charset="0"/>
                <a:cs typeface="Times New Roman" panose="02020603050405020304" pitchFamily="18" charset="0"/>
              </a:rPr>
              <a:t>Project : CCDV vs Mixed-mode Ventilation Economic Analysis</a:t>
            </a:r>
          </a:p>
          <a:p>
            <a:pPr algn="ctr"/>
            <a:endParaRPr lang="en-US" sz="2500" dirty="0">
              <a:latin typeface="Times New Roman" panose="02020603050405020304" pitchFamily="18" charset="0"/>
              <a:cs typeface="Times New Roman" panose="02020603050405020304" pitchFamily="18" charset="0"/>
            </a:endParaRPr>
          </a:p>
          <a:p>
            <a:pPr algn="ctr"/>
            <a:endParaRPr lang="en-US" sz="2500" dirty="0">
              <a:latin typeface="Times New Roman" panose="02020603050405020304" pitchFamily="18" charset="0"/>
              <a:cs typeface="Times New Roman" panose="02020603050405020304" pitchFamily="18" charset="0"/>
            </a:endParaRPr>
          </a:p>
          <a:p>
            <a:r>
              <a:rPr lang="en-US" sz="2500" b="1" u="sng" dirty="0">
                <a:latin typeface="Times New Roman" panose="02020603050405020304" pitchFamily="18" charset="0"/>
                <a:cs typeface="Times New Roman" panose="02020603050405020304" pitchFamily="18" charset="0"/>
              </a:rPr>
              <a:t>Prepared by:</a:t>
            </a:r>
          </a:p>
          <a:p>
            <a:pPr marL="342900" indent="-342900">
              <a:buFont typeface="Arial" panose="020B0604020202020204" pitchFamily="34" charset="0"/>
              <a:buChar char="•"/>
            </a:pPr>
            <a:r>
              <a:rPr lang="en-US" sz="2500" dirty="0">
                <a:latin typeface="Times New Roman" panose="02020603050405020304" pitchFamily="18" charset="0"/>
                <a:cs typeface="Times New Roman" panose="02020603050405020304" pitchFamily="18" charset="0"/>
              </a:rPr>
              <a:t>Ahmad El Haj</a:t>
            </a:r>
          </a:p>
          <a:p>
            <a:pPr marL="342900" indent="-342900">
              <a:buFont typeface="Arial" panose="020B0604020202020204" pitchFamily="34" charset="0"/>
              <a:buChar char="•"/>
            </a:pPr>
            <a:r>
              <a:rPr lang="en-US" sz="2500" dirty="0">
                <a:latin typeface="Times New Roman" panose="02020603050405020304" pitchFamily="18" charset="0"/>
                <a:cs typeface="Times New Roman" panose="02020603050405020304" pitchFamily="18" charset="0"/>
              </a:rPr>
              <a:t>Jihad Jundi</a:t>
            </a:r>
          </a:p>
          <a:p>
            <a:pPr marL="342900" indent="-342900">
              <a:buFont typeface="Arial" panose="020B0604020202020204" pitchFamily="34" charset="0"/>
              <a:buChar char="•"/>
            </a:pPr>
            <a:r>
              <a:rPr lang="en-US" sz="2500" dirty="0">
                <a:latin typeface="Times New Roman" panose="02020603050405020304" pitchFamily="18" charset="0"/>
                <a:cs typeface="Times New Roman" panose="02020603050405020304" pitchFamily="18" charset="0"/>
              </a:rPr>
              <a:t>Mohammad El </a:t>
            </a:r>
            <a:r>
              <a:rPr lang="en-US" sz="2500" dirty="0" err="1">
                <a:latin typeface="Times New Roman" panose="02020603050405020304" pitchFamily="18" charset="0"/>
                <a:cs typeface="Times New Roman" panose="02020603050405020304" pitchFamily="18" charset="0"/>
              </a:rPr>
              <a:t>Masri</a:t>
            </a:r>
            <a:endParaRPr lang="en-US" sz="2500" dirty="0">
              <a:latin typeface="Times New Roman" panose="02020603050405020304" pitchFamily="18" charset="0"/>
              <a:cs typeface="Times New Roman" panose="02020603050405020304" pitchFamily="18" charset="0"/>
            </a:endParaRPr>
          </a:p>
          <a:p>
            <a:pPr algn="ctr"/>
            <a:endParaRPr lang="en-US" dirty="0">
              <a:latin typeface="Times New Roman" panose="02020603050405020304" pitchFamily="18" charset="0"/>
              <a:cs typeface="Times New Roman" panose="02020603050405020304" pitchFamily="18" charset="0"/>
            </a:endParaRPr>
          </a:p>
        </p:txBody>
      </p:sp>
      <p:pic>
        <p:nvPicPr>
          <p:cNvPr id="6" name="Picture 5" descr="American University of Beirut - YouTube">
            <a:extLst>
              <a:ext uri="{FF2B5EF4-FFF2-40B4-BE49-F238E27FC236}">
                <a16:creationId xmlns:a16="http://schemas.microsoft.com/office/drawing/2014/main" id="{A9823211-7157-11DE-F435-A6AEC8441279}"/>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517650" y="161290"/>
            <a:ext cx="2109470" cy="2109470"/>
          </a:xfrm>
          <a:prstGeom prst="rect">
            <a:avLst/>
          </a:prstGeom>
          <a:noFill/>
          <a:ln>
            <a:noFill/>
          </a:ln>
        </p:spPr>
      </p:pic>
      <p:pic>
        <p:nvPicPr>
          <p:cNvPr id="7" name="Picture 6">
            <a:extLst>
              <a:ext uri="{FF2B5EF4-FFF2-40B4-BE49-F238E27FC236}">
                <a16:creationId xmlns:a16="http://schemas.microsoft.com/office/drawing/2014/main" id="{41957D08-80D9-4520-3729-189B7EEE631E}"/>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493762" y="161290"/>
            <a:ext cx="1886497" cy="2109470"/>
          </a:xfrm>
          <a:prstGeom prst="rect">
            <a:avLst/>
          </a:prstGeom>
          <a:noFill/>
          <a:ln>
            <a:noFill/>
          </a:ln>
        </p:spPr>
      </p:pic>
    </p:spTree>
    <p:extLst>
      <p:ext uri="{BB962C8B-B14F-4D97-AF65-F5344CB8AC3E}">
        <p14:creationId xmlns:p14="http://schemas.microsoft.com/office/powerpoint/2010/main" val="20524140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Problem</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pPr lvl="0"/>
                <a:r>
                  <a:rPr lang="en-US" dirty="0"/>
                  <a:t>The office space dimensions are 5 m x 5 m x 3 m.</a:t>
                </a:r>
              </a:p>
              <a:p>
                <a:pPr lvl="0"/>
                <a:r>
                  <a:rPr lang="en-US" dirty="0"/>
                  <a:t>The internal load due to equipment and lighting is fixed at 1000 W.</a:t>
                </a:r>
              </a:p>
              <a:p>
                <a:pPr lvl="0"/>
                <a:r>
                  <a:rPr lang="en-US" dirty="0"/>
                  <a:t>The internal load per person is 100 W</a:t>
                </a:r>
              </a:p>
              <a:p>
                <a:pPr lvl="0"/>
                <a:r>
                  <a:rPr lang="en-US" dirty="0"/>
                  <a:t>Maximum Occupancy in the office space is 12 persons.</a:t>
                </a:r>
              </a:p>
              <a:p>
                <a:pPr lvl="0"/>
                <a:r>
                  <a:rPr lang="en-US" dirty="0"/>
                  <a:t>The office is located close to available seawater at a temperature of </a:t>
                </a:r>
                <a14:m>
                  <m:oMath xmlns:m="http://schemas.openxmlformats.org/officeDocument/2006/math">
                    <m:r>
                      <a:rPr lang="en-US" i="1">
                        <a:latin typeface="Cambria Math" panose="02040503050406030204" pitchFamily="18" charset="0"/>
                      </a:rPr>
                      <m:t>15°</m:t>
                    </m:r>
                    <m:r>
                      <a:rPr lang="en-US" i="1">
                        <a:latin typeface="Cambria Math" panose="02040503050406030204" pitchFamily="18" charset="0"/>
                      </a:rPr>
                      <m:t>𝐶</m:t>
                    </m:r>
                  </m:oMath>
                </a14:m>
                <a:r>
                  <a:rPr lang="en-US" dirty="0"/>
                  <a:t>.</a:t>
                </a: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479" t="-806"/>
                </a:stretch>
              </a:blipFill>
            </p:spPr>
            <p:txBody>
              <a:bodyPr/>
              <a:lstStyle/>
              <a:p>
                <a:r>
                  <a:rPr lang="en-US">
                    <a:noFill/>
                  </a:rPr>
                  <a:t> </a:t>
                </a:r>
              </a:p>
            </p:txBody>
          </p:sp>
        </mc:Fallback>
      </mc:AlternateContent>
    </p:spTree>
    <p:extLst>
      <p:ext uri="{BB962C8B-B14F-4D97-AF65-F5344CB8AC3E}">
        <p14:creationId xmlns:p14="http://schemas.microsoft.com/office/powerpoint/2010/main" val="41187199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Problem</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The occupancy and weather conditions are given per hour of the day.</a:t>
                </a:r>
              </a:p>
              <a:p>
                <a:r>
                  <a:rPr lang="en-US" dirty="0"/>
                  <a:t>After calculation, we find the maximum load to be 88 W/</a:t>
                </a:r>
                <a14:m>
                  <m:oMath xmlns:m="http://schemas.openxmlformats.org/officeDocument/2006/math">
                    <m:sSup>
                      <m:sSupPr>
                        <m:ctrlPr>
                          <a:rPr lang="en-US" i="1">
                            <a:latin typeface="Cambria Math" panose="02040503050406030204" pitchFamily="18" charset="0"/>
                          </a:rPr>
                        </m:ctrlPr>
                      </m:sSupPr>
                      <m:e>
                        <m:r>
                          <a:rPr lang="en-US" i="1">
                            <a:latin typeface="Cambria Math" panose="02040503050406030204" pitchFamily="18" charset="0"/>
                          </a:rPr>
                          <m:t>𝑚</m:t>
                        </m:r>
                      </m:e>
                      <m:sup>
                        <m:r>
                          <a:rPr lang="en-US" i="1">
                            <a:latin typeface="Cambria Math" panose="02040503050406030204" pitchFamily="18" charset="0"/>
                          </a:rPr>
                          <m:t>2</m:t>
                        </m:r>
                      </m:sup>
                    </m:sSup>
                  </m:oMath>
                </a14:m>
                <a:endParaRPr lang="en-US" dirty="0"/>
              </a:p>
              <a:p>
                <a:r>
                  <a:rPr lang="en-US" dirty="0"/>
                  <a:t>What should we use to solve our problem?</a:t>
                </a: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479" t="-806"/>
                </a:stretch>
              </a:blipFill>
            </p:spPr>
            <p:txBody>
              <a:bodyPr/>
              <a:lstStyle/>
              <a:p>
                <a:r>
                  <a:rPr lang="en-US">
                    <a:noFill/>
                  </a:rPr>
                  <a:t> </a:t>
                </a:r>
              </a:p>
            </p:txBody>
          </p:sp>
        </mc:Fallback>
      </mc:AlternateContent>
    </p:spTree>
    <p:extLst>
      <p:ext uri="{BB962C8B-B14F-4D97-AF65-F5344CB8AC3E}">
        <p14:creationId xmlns:p14="http://schemas.microsoft.com/office/powerpoint/2010/main" val="18658461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Different options?</a:t>
            </a:r>
          </a:p>
        </p:txBody>
      </p:sp>
      <p:sp>
        <p:nvSpPr>
          <p:cNvPr id="3" name="Content Placeholder 2"/>
          <p:cNvSpPr>
            <a:spLocks noGrp="1"/>
          </p:cNvSpPr>
          <p:nvPr>
            <p:ph idx="1"/>
          </p:nvPr>
        </p:nvSpPr>
        <p:spPr/>
        <p:txBody>
          <a:bodyPr>
            <a:normAutofit lnSpcReduction="10000"/>
          </a:bodyPr>
          <a:lstStyle/>
          <a:p>
            <a:r>
              <a:rPr lang="en-US" dirty="0"/>
              <a:t>Option 1: Mixed-mode ventilation system using mechanical systems like windows and refrigeration systems in order to provide adjustable ventilation. </a:t>
            </a:r>
          </a:p>
          <a:p>
            <a:pPr lvl="1"/>
            <a:r>
              <a:rPr lang="en-US" dirty="0"/>
              <a:t>Information was taken from a previous study done on a bigger office building.</a:t>
            </a:r>
          </a:p>
          <a:p>
            <a:pPr lvl="1"/>
            <a:r>
              <a:rPr lang="en-US" dirty="0"/>
              <a:t>This will be powered purely by a diesel generator.</a:t>
            </a:r>
          </a:p>
          <a:p>
            <a:r>
              <a:rPr lang="en-US" dirty="0"/>
              <a:t>Option 2: CC-DV system which we will design and size accordingly.</a:t>
            </a:r>
          </a:p>
          <a:p>
            <a:pPr lvl="1"/>
            <a:r>
              <a:rPr lang="en-US" dirty="0"/>
              <a:t>We will use seawater in order to cool our chilled ceiling. </a:t>
            </a:r>
          </a:p>
          <a:p>
            <a:pPr lvl="1"/>
            <a:r>
              <a:rPr lang="en-US" dirty="0"/>
              <a:t>A fan of efficiency 0.5 and a pressure difference of 1.5 kPa will be used in order to supply air in the DV system. </a:t>
            </a:r>
          </a:p>
          <a:p>
            <a:pPr lvl="1"/>
            <a:r>
              <a:rPr lang="en-US" dirty="0"/>
              <a:t>A pump of efficiency 0.8 and a pump head of 4 m will be used in order to circulate seawater to the chilled ceiling. </a:t>
            </a:r>
          </a:p>
          <a:p>
            <a:pPr lvl="1"/>
            <a:r>
              <a:rPr lang="en-US" dirty="0"/>
              <a:t>This will be powered 50% by a diesel generator and 50% by PV panels.</a:t>
            </a:r>
          </a:p>
          <a:p>
            <a:endParaRPr lang="en-US" dirty="0"/>
          </a:p>
        </p:txBody>
      </p:sp>
    </p:spTree>
    <p:extLst>
      <p:ext uri="{BB962C8B-B14F-4D97-AF65-F5344CB8AC3E}">
        <p14:creationId xmlns:p14="http://schemas.microsoft.com/office/powerpoint/2010/main" val="227538655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8AACE98-0D52-1D86-A3C4-A863C3F72494}"/>
                  </a:ext>
                </a:extLst>
              </p:cNvPr>
              <p:cNvSpPr txBox="1"/>
              <p:nvPr/>
            </p:nvSpPr>
            <p:spPr>
              <a:xfrm>
                <a:off x="1540466" y="651424"/>
                <a:ext cx="9865360" cy="679250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Our objective is to make several designs of </a:t>
                </a:r>
              </a:p>
              <a:p>
                <a:r>
                  <a:rPr lang="en-US" sz="2000" dirty="0">
                    <a:latin typeface="Times New Roman" panose="02020603050405020304" pitchFamily="18" charset="0"/>
                    <a:cs typeface="Times New Roman" panose="02020603050405020304" pitchFamily="18" charset="0"/>
                  </a:rPr>
                  <a:t>Chilled ceiling and displacement ventilation</a:t>
                </a:r>
              </a:p>
              <a:p>
                <a:r>
                  <a:rPr lang="en-US" sz="2000" dirty="0">
                    <a:latin typeface="Times New Roman" panose="02020603050405020304" pitchFamily="18" charset="0"/>
                    <a:cs typeface="Times New Roman" panose="02020603050405020304" pitchFamily="18" charset="0"/>
                  </a:rPr>
                  <a:t>System to make sure that the thermal comfort</a:t>
                </a:r>
              </a:p>
              <a:p>
                <a:r>
                  <a:rPr lang="en-US" sz="2000" dirty="0">
                    <a:latin typeface="Times New Roman" panose="02020603050405020304" pitchFamily="18" charset="0"/>
                    <a:cs typeface="Times New Roman" panose="02020603050405020304" pitchFamily="18" charset="0"/>
                  </a:rPr>
                  <a:t>(dT/</a:t>
                </a:r>
                <a:r>
                  <a:rPr lang="en-US" sz="2000" dirty="0" err="1">
                    <a:latin typeface="Times New Roman" panose="02020603050405020304" pitchFamily="18" charset="0"/>
                    <a:cs typeface="Times New Roman" panose="02020603050405020304" pitchFamily="18" charset="0"/>
                  </a:rPr>
                  <a:t>dz</a:t>
                </a:r>
                <a:r>
                  <a:rPr lang="en-US" sz="2000" dirty="0">
                    <a:latin typeface="Times New Roman" panose="02020603050405020304" pitchFamily="18" charset="0"/>
                    <a:cs typeface="Times New Roman" panose="02020603050405020304" pitchFamily="18" charset="0"/>
                  </a:rPr>
                  <a:t> </a:t>
                </a:r>
                <a14:m>
                  <m:oMath xmlns:m="http://schemas.openxmlformats.org/officeDocument/2006/math">
                    <m:r>
                      <a:rPr lang="en-US" sz="2000" i="1" smtClean="0">
                        <a:effectLst/>
                        <a:latin typeface="Cambria Math" panose="02040503050406030204" pitchFamily="18" charset="0"/>
                        <a:ea typeface="Calibri" panose="020F0502020204030204" pitchFamily="34" charset="0"/>
                        <a:cs typeface="Times New Roman" panose="02020603050405020304" pitchFamily="18" charset="0"/>
                      </a:rPr>
                      <m:t>&lt; 2.5°</m:t>
                    </m:r>
                    <m:r>
                      <a:rPr lang="en-US" sz="2000" i="1" smtClean="0">
                        <a:effectLst/>
                        <a:latin typeface="Cambria Math" panose="02040503050406030204" pitchFamily="18" charset="0"/>
                        <a:ea typeface="Calibri" panose="020F0502020204030204" pitchFamily="34" charset="0"/>
                        <a:cs typeface="Times New Roman" panose="02020603050405020304" pitchFamily="18" charset="0"/>
                      </a:rPr>
                      <m:t>𝐶</m:t>
                    </m:r>
                    <m:r>
                      <a:rPr lang="en-US" sz="2000" i="1" smtClean="0">
                        <a:effectLst/>
                        <a:latin typeface="Cambria Math" panose="02040503050406030204" pitchFamily="18" charset="0"/>
                        <a:ea typeface="Calibri" panose="020F0502020204030204" pitchFamily="34" charset="0"/>
                        <a:cs typeface="Times New Roman" panose="02020603050405020304" pitchFamily="18" charset="0"/>
                      </a:rPr>
                      <m:t>/</m:t>
                    </m:r>
                    <m:r>
                      <a:rPr lang="en-US" sz="2000" i="1" smtClean="0">
                        <a:effectLst/>
                        <a:latin typeface="Cambria Math" panose="02040503050406030204" pitchFamily="18" charset="0"/>
                        <a:ea typeface="Calibri" panose="020F0502020204030204" pitchFamily="34" charset="0"/>
                        <a:cs typeface="Times New Roman" panose="02020603050405020304" pitchFamily="18" charset="0"/>
                      </a:rPr>
                      <m:t>𝑚</m:t>
                    </m:r>
                  </m:oMath>
                </a14:m>
                <a:r>
                  <a:rPr lang="en-US" sz="2000" dirty="0">
                    <a:latin typeface="Times New Roman" panose="02020603050405020304" pitchFamily="18" charset="0"/>
                    <a:cs typeface="Times New Roman" panose="02020603050405020304" pitchFamily="18" charset="0"/>
                  </a:rPr>
                  <a:t>) and the air quality (H&gt;1m)</a:t>
                </a:r>
              </a:p>
              <a:p>
                <a:r>
                  <a:rPr lang="en-US" sz="2000" dirty="0">
                    <a:latin typeface="Times New Roman" panose="02020603050405020304" pitchFamily="18" charset="0"/>
                    <a:cs typeface="Times New Roman" panose="02020603050405020304" pitchFamily="18" charset="0"/>
                  </a:rPr>
                  <a:t>standards are met. We wanted to make sure that</a:t>
                </a:r>
              </a:p>
              <a:p>
                <a14:m>
                  <m:oMath xmlns:m="http://schemas.openxmlformats.org/officeDocument/2006/math">
                    <m:sSub>
                      <m:sSubPr>
                        <m:ctrlPr>
                          <a:rPr lang="en-US" sz="1800" i="1" smtClean="0">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𝑐</m:t>
                        </m:r>
                      </m:sub>
                    </m:sSub>
                    <m:r>
                      <a:rPr lang="en-US" sz="1800" i="1">
                        <a:effectLst/>
                        <a:latin typeface="Cambria Math" panose="02040503050406030204" pitchFamily="18" charset="0"/>
                        <a:ea typeface="Calibri" panose="020F0502020204030204" pitchFamily="34" charset="0"/>
                        <a:cs typeface="Times New Roman" panose="02020603050405020304" pitchFamily="18" charset="0"/>
                      </a:rPr>
                      <m:t>&gt;</m:t>
                    </m:r>
                    <m:sSub>
                      <m:sSub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𝑑𝑝</m:t>
                        </m:r>
                      </m:sub>
                    </m:sSub>
                    <m:r>
                      <a:rPr lang="en-US" sz="1800" b="0" i="0" smtClean="0">
                        <a:effectLst/>
                        <a:latin typeface="Cambria Math" panose="02040503050406030204" pitchFamily="18" charset="0"/>
                        <a:ea typeface="Calibri" panose="020F0502020204030204" pitchFamily="34" charset="0"/>
                        <a:cs typeface="Times New Roman" panose="02020603050405020304" pitchFamily="18" charset="0"/>
                      </a:rPr>
                      <m:t> </m:t>
                    </m:r>
                    <m:r>
                      <m:rPr>
                        <m:sty m:val="p"/>
                      </m:rPr>
                      <a:rPr lang="en-US" sz="1800" b="0" i="0" smtClean="0">
                        <a:effectLst/>
                        <a:latin typeface="Cambria Math" panose="02040503050406030204" pitchFamily="18" charset="0"/>
                        <a:ea typeface="Calibri" panose="020F0502020204030204" pitchFamily="34" charset="0"/>
                        <a:cs typeface="Times New Roman" panose="02020603050405020304" pitchFamily="18" charset="0"/>
                      </a:rPr>
                      <m:t>to</m:t>
                    </m:r>
                    <m:r>
                      <a:rPr lang="en-US" sz="1800" b="0" i="0" smtClean="0">
                        <a:effectLst/>
                        <a:latin typeface="Cambria Math" panose="02040503050406030204" pitchFamily="18" charset="0"/>
                        <a:ea typeface="Calibri" panose="020F0502020204030204" pitchFamily="34" charset="0"/>
                        <a:cs typeface="Times New Roman" panose="02020603050405020304" pitchFamily="18" charset="0"/>
                      </a:rPr>
                      <m:t> </m:t>
                    </m:r>
                  </m:oMath>
                </a14:m>
                <a:r>
                  <a:rPr lang="en-US" sz="1800" dirty="0">
                    <a:effectLst/>
                    <a:latin typeface="Times New Roman" panose="02020603050405020304" pitchFamily="18" charset="0"/>
                    <a:ea typeface="Times New Roman" panose="02020603050405020304" pitchFamily="18" charset="0"/>
                    <a:cs typeface="Arial" panose="020B0604020202020204" pitchFamily="34" charset="0"/>
                  </a:rPr>
                  <a:t>avoid condensate forming on the chilled </a:t>
                </a:r>
              </a:p>
              <a:p>
                <a:r>
                  <a:rPr lang="en-US" sz="1800" dirty="0">
                    <a:effectLst/>
                    <a:latin typeface="Times New Roman" panose="02020603050405020304" pitchFamily="18" charset="0"/>
                    <a:ea typeface="Times New Roman" panose="02020603050405020304" pitchFamily="18" charset="0"/>
                    <a:cs typeface="Arial" panose="020B0604020202020204" pitchFamily="34" charset="0"/>
                  </a:rPr>
                  <a:t>ceiling.</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endParaRPr lang="en-US" sz="2000" dirty="0">
                  <a:latin typeface="Times New Roman" panose="02020603050405020304" pitchFamily="18" charset="0"/>
                  <a:cs typeface="Times New Roman" panose="02020603050405020304" pitchFamily="18" charset="0"/>
                </a:endParaRPr>
              </a:p>
              <a:p>
                <a:r>
                  <a:rPr lang="en-US" sz="2000" b="1" u="sng" dirty="0">
                    <a:latin typeface="Times New Roman" panose="02020603050405020304" pitchFamily="18" charset="0"/>
                    <a:cs typeface="Times New Roman" panose="02020603050405020304" pitchFamily="18" charset="0"/>
                  </a:rPr>
                  <a:t>System Description:</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Office space dimension: </a:t>
                </a:r>
                <a:r>
                  <a:rPr lang="en-US" sz="2000" dirty="0">
                    <a:effectLst/>
                    <a:latin typeface="Times New Roman" panose="02020603050405020304" pitchFamily="18" charset="0"/>
                    <a:ea typeface="Calibri" panose="020F0502020204030204" pitchFamily="34" charset="0"/>
                  </a:rPr>
                  <a:t>5 m x 5 m x 3 m</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p>
                <a:pPr marL="342900" indent="-342900">
                  <a:buFont typeface="Arial" panose="020B0604020202020204" pitchFamily="34" charset="0"/>
                  <a:buChar char="•"/>
                </a:pPr>
                <a:r>
                  <a:rPr lang="en-US" sz="2000" dirty="0">
                    <a:effectLst/>
                    <a:latin typeface="Times New Roman" panose="02020603050405020304" pitchFamily="18" charset="0"/>
                    <a:ea typeface="Calibri" panose="020F0502020204030204" pitchFamily="34" charset="0"/>
                    <a:cs typeface="Arial" panose="020B0604020202020204" pitchFamily="34" charset="0"/>
                  </a:rPr>
                  <a:t>The internal load due to equipment and lighting is </a:t>
                </a:r>
              </a:p>
              <a:p>
                <a:r>
                  <a:rPr lang="en-US" sz="2000" dirty="0">
                    <a:effectLst/>
                    <a:latin typeface="Times New Roman" panose="02020603050405020304" pitchFamily="18" charset="0"/>
                    <a:ea typeface="Calibri" panose="020F0502020204030204" pitchFamily="34" charset="0"/>
                    <a:cs typeface="Arial" panose="020B0604020202020204" pitchFamily="34" charset="0"/>
                  </a:rPr>
                  <a:t>fixed at 1000 W.</a:t>
                </a:r>
              </a:p>
              <a:p>
                <a:pPr marL="285750" indent="-285750">
                  <a:buFont typeface="Arial" panose="020B0604020202020204" pitchFamily="34" charset="0"/>
                  <a:buChar char="•"/>
                </a:pPr>
                <a:r>
                  <a:rPr lang="en-US" sz="2000" dirty="0">
                    <a:effectLst/>
                    <a:latin typeface="Times New Roman" panose="02020603050405020304" pitchFamily="18" charset="0"/>
                    <a:ea typeface="Calibri" panose="020F0502020204030204" pitchFamily="34" charset="0"/>
                  </a:rPr>
                  <a:t>The internal load per person is 100 W</a:t>
                </a:r>
                <a:endParaRPr lang="en-US" sz="2000" dirty="0">
                  <a:latin typeface="Times New Roman" panose="02020603050405020304" pitchFamily="18" charset="0"/>
                  <a:ea typeface="Calibri" panose="020F0502020204030204" pitchFamily="34" charset="0"/>
                  <a:cs typeface="Arial" panose="020B0604020202020204" pitchFamily="34" charset="0"/>
                </a:endParaRPr>
              </a:p>
              <a:p>
                <a:pPr marL="285750" indent="-285750">
                  <a:buFont typeface="Arial" panose="020B0604020202020204" pitchFamily="34" charset="0"/>
                  <a:buChar char="•"/>
                </a:pPr>
                <a:r>
                  <a:rPr lang="en-US" sz="2000" dirty="0">
                    <a:effectLst/>
                    <a:latin typeface="Times New Roman" panose="02020603050405020304" pitchFamily="18" charset="0"/>
                    <a:ea typeface="Calibri" panose="020F0502020204030204" pitchFamily="34" charset="0"/>
                    <a:cs typeface="Arial" panose="020B0604020202020204" pitchFamily="34" charset="0"/>
                  </a:rPr>
                  <a:t>Maximum Occupancy in the office space is 12 persons.</a:t>
                </a:r>
                <a:endParaRPr lang="en-US" sz="2000" dirty="0">
                  <a:effectLst/>
                  <a:latin typeface="Calibri" panose="020F0502020204030204" pitchFamily="34" charset="0"/>
                  <a:ea typeface="Calibri" panose="020F0502020204030204" pitchFamily="34" charset="0"/>
                  <a:cs typeface="Arial" panose="020B0604020202020204" pitchFamily="34" charset="0"/>
                </a:endParaRPr>
              </a:p>
              <a:p>
                <a:pPr marL="285750" indent="-285750">
                  <a:buFont typeface="Arial" panose="020B0604020202020204" pitchFamily="34" charset="0"/>
                  <a:buChar char="•"/>
                </a:pPr>
                <a:r>
                  <a:rPr lang="en-US" sz="2000" dirty="0">
                    <a:effectLst/>
                    <a:latin typeface="Times New Roman" panose="02020603050405020304" pitchFamily="18" charset="0"/>
                    <a:ea typeface="Calibri" panose="020F0502020204030204" pitchFamily="34" charset="0"/>
                    <a:cs typeface="Arial" panose="020B0604020202020204" pitchFamily="34" charset="0"/>
                  </a:rPr>
                  <a:t>The seawater used to cool the chilled ceiling comes</a:t>
                </a:r>
              </a:p>
              <a:p>
                <a:r>
                  <a:rPr lang="en-US" sz="2000" dirty="0">
                    <a:effectLst/>
                    <a:latin typeface="Times New Roman" panose="02020603050405020304" pitchFamily="18" charset="0"/>
                    <a:ea typeface="Calibri" panose="020F0502020204030204" pitchFamily="34" charset="0"/>
                    <a:cs typeface="Arial" panose="020B0604020202020204" pitchFamily="34" charset="0"/>
                  </a:rPr>
                  <a:t> in at a temperature of </a:t>
                </a:r>
                <a14:m>
                  <m:oMath xmlns:m="http://schemas.openxmlformats.org/officeDocument/2006/math">
                    <m:r>
                      <a:rPr lang="en-US" sz="2000" i="1">
                        <a:effectLst/>
                        <a:latin typeface="Cambria Math" panose="02040503050406030204" pitchFamily="18" charset="0"/>
                        <a:ea typeface="Calibri" panose="020F0502020204030204" pitchFamily="34" charset="0"/>
                        <a:cs typeface="Times New Roman" panose="02020603050405020304" pitchFamily="18" charset="0"/>
                      </a:rPr>
                      <m:t>15°</m:t>
                    </m:r>
                    <m:r>
                      <a:rPr lang="en-US" sz="2000" i="1">
                        <a:effectLst/>
                        <a:latin typeface="Cambria Math" panose="02040503050406030204" pitchFamily="18" charset="0"/>
                        <a:ea typeface="Calibri" panose="020F0502020204030204" pitchFamily="34" charset="0"/>
                        <a:cs typeface="Times New Roman" panose="02020603050405020304" pitchFamily="18" charset="0"/>
                      </a:rPr>
                      <m:t>𝐶</m:t>
                    </m:r>
                  </m:oMath>
                </a14:m>
                <a:r>
                  <a:rPr lang="en-US" sz="2000" dirty="0">
                    <a:effectLst/>
                    <a:latin typeface="Times New Roman" panose="02020603050405020304" pitchFamily="18" charset="0"/>
                    <a:ea typeface="Times New Roman" panose="02020603050405020304" pitchFamily="18" charset="0"/>
                    <a:cs typeface="Arial" panose="020B0604020202020204" pitchFamily="34" charset="0"/>
                  </a:rPr>
                  <a:t>.</a:t>
                </a:r>
              </a:p>
              <a:p>
                <a:pPr marL="285750" indent="-285750">
                  <a:buFont typeface="Arial" panose="020B0604020202020204" pitchFamily="34" charset="0"/>
                  <a:buChar char="•"/>
                </a:pPr>
                <a:r>
                  <a:rPr lang="en-US" sz="2000" dirty="0">
                    <a:effectLst/>
                    <a:latin typeface="Times New Roman" panose="02020603050405020304" pitchFamily="18" charset="0"/>
                    <a:ea typeface="Calibri" panose="020F0502020204030204" pitchFamily="34" charset="0"/>
                    <a:cs typeface="Arial" panose="020B0604020202020204" pitchFamily="34" charset="0"/>
                  </a:rPr>
                  <a:t>The fan efficiency is 0.5 and the pressure difference</a:t>
                </a:r>
              </a:p>
              <a:p>
                <a:r>
                  <a:rPr lang="en-US" sz="2000" dirty="0">
                    <a:effectLst/>
                    <a:latin typeface="Times New Roman" panose="02020603050405020304" pitchFamily="18" charset="0"/>
                    <a:ea typeface="Calibri" panose="020F0502020204030204" pitchFamily="34" charset="0"/>
                    <a:cs typeface="Arial" panose="020B0604020202020204" pitchFamily="34" charset="0"/>
                  </a:rPr>
                  <a:t> is 1.5 kPa.</a:t>
                </a:r>
                <a:endParaRPr lang="en-US" sz="2000" dirty="0">
                  <a:effectLst/>
                  <a:latin typeface="Calibri" panose="020F0502020204030204" pitchFamily="34" charset="0"/>
                  <a:ea typeface="Calibri" panose="020F0502020204030204" pitchFamily="34" charset="0"/>
                  <a:cs typeface="Arial" panose="020B0604020202020204" pitchFamily="34" charset="0"/>
                </a:endParaRPr>
              </a:p>
              <a:p>
                <a:pPr marL="285750" indent="-285750">
                  <a:buFont typeface="Arial" panose="020B0604020202020204" pitchFamily="34" charset="0"/>
                  <a:buChar char="•"/>
                </a:pPr>
                <a:r>
                  <a:rPr lang="en-US" sz="2000" dirty="0">
                    <a:effectLst/>
                    <a:latin typeface="Times New Roman" panose="02020603050405020304" pitchFamily="18" charset="0"/>
                    <a:ea typeface="Calibri" panose="020F0502020204030204" pitchFamily="34" charset="0"/>
                  </a:rPr>
                  <a:t>The pump efficiency is 0.8 and the pump head is</a:t>
                </a:r>
              </a:p>
              <a:p>
                <a:r>
                  <a:rPr lang="en-US" sz="2000" dirty="0">
                    <a:effectLst/>
                    <a:latin typeface="Times New Roman" panose="02020603050405020304" pitchFamily="18" charset="0"/>
                    <a:ea typeface="Calibri" panose="020F0502020204030204" pitchFamily="34" charset="0"/>
                  </a:rPr>
                  <a:t> equivalent to 4 m.</a:t>
                </a:r>
                <a:endParaRPr lang="en-US" sz="2000" dirty="0">
                  <a:effectLst/>
                  <a:latin typeface="Calibri" panose="020F0502020204030204" pitchFamily="34" charset="0"/>
                  <a:ea typeface="Calibri" panose="020F0502020204030204" pitchFamily="34" charset="0"/>
                  <a:cs typeface="Arial" panose="020B0604020202020204" pitchFamily="34" charset="0"/>
                </a:endParaRPr>
              </a:p>
              <a:p>
                <a:pPr marL="285750" indent="-285750">
                  <a:buFont typeface="Arial" panose="020B0604020202020204" pitchFamily="34" charset="0"/>
                  <a:buChar char="•"/>
                </a:pPr>
                <a:endParaRPr lang="en-US" sz="2000" dirty="0">
                  <a:effectLst/>
                  <a:latin typeface="Calibri" panose="020F0502020204030204" pitchFamily="34" charset="0"/>
                  <a:ea typeface="Calibri" panose="020F0502020204030204" pitchFamily="34" charset="0"/>
                  <a:cs typeface="Arial" panose="020B0604020202020204" pitchFamily="34" charset="0"/>
                </a:endParaRPr>
              </a:p>
              <a:p>
                <a:pPr marL="342900" indent="-342900">
                  <a:buFont typeface="Arial" panose="020B0604020202020204" pitchFamily="34" charset="0"/>
                  <a:buChar char="•"/>
                </a:pPr>
                <a:endParaRPr lang="en-US" dirty="0">
                  <a:latin typeface="Times New Roman" panose="02020603050405020304" pitchFamily="18" charset="0"/>
                  <a:cs typeface="Times New Roman" panose="02020603050405020304" pitchFamily="18" charset="0"/>
                </a:endParaRPr>
              </a:p>
            </p:txBody>
          </p:sp>
        </mc:Choice>
        <mc:Fallback xmlns="">
          <p:sp>
            <p:nvSpPr>
              <p:cNvPr id="2" name="TextBox 1">
                <a:extLst>
                  <a:ext uri="{FF2B5EF4-FFF2-40B4-BE49-F238E27FC236}">
                    <a16:creationId xmlns:a16="http://schemas.microsoft.com/office/drawing/2014/main" id="{58AACE98-0D52-1D86-A3C4-A863C3F72494}"/>
                  </a:ext>
                </a:extLst>
              </p:cNvPr>
              <p:cNvSpPr txBox="1">
                <a:spLocks noRot="1" noChangeAspect="1" noMove="1" noResize="1" noEditPoints="1" noAdjustHandles="1" noChangeArrowheads="1" noChangeShapeType="1" noTextEdit="1"/>
              </p:cNvSpPr>
              <p:nvPr/>
            </p:nvSpPr>
            <p:spPr>
              <a:xfrm>
                <a:off x="1540466" y="651424"/>
                <a:ext cx="9865360" cy="6792500"/>
              </a:xfrm>
              <a:prstGeom prst="rect">
                <a:avLst/>
              </a:prstGeom>
              <a:blipFill>
                <a:blip r:embed="rId2"/>
                <a:stretch>
                  <a:fillRect l="-680" t="-539"/>
                </a:stretch>
              </a:blipFill>
            </p:spPr>
            <p:txBody>
              <a:bodyPr/>
              <a:lstStyle/>
              <a:p>
                <a:r>
                  <a:rPr lang="en-US">
                    <a:noFill/>
                  </a:rPr>
                  <a:t> </a:t>
                </a:r>
              </a:p>
            </p:txBody>
          </p:sp>
        </mc:Fallback>
      </mc:AlternateContent>
      <p:pic>
        <p:nvPicPr>
          <p:cNvPr id="3" name="Picture 2" descr="Diagram, schematic&#10;&#10;Description automatically generated">
            <a:extLst>
              <a:ext uri="{FF2B5EF4-FFF2-40B4-BE49-F238E27FC236}">
                <a16:creationId xmlns:a16="http://schemas.microsoft.com/office/drawing/2014/main" id="{58C29E8C-80DA-6A79-B792-04BDCE51ADA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6473146" y="156730"/>
            <a:ext cx="5694829" cy="3057333"/>
          </a:xfrm>
          <a:prstGeom prst="rect">
            <a:avLst/>
          </a:prstGeom>
          <a:noFill/>
        </p:spPr>
      </p:pic>
    </p:spTree>
    <p:extLst>
      <p:ext uri="{BB962C8B-B14F-4D97-AF65-F5344CB8AC3E}">
        <p14:creationId xmlns:p14="http://schemas.microsoft.com/office/powerpoint/2010/main" val="16140237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75FC1B9E-9CD6-F3EF-6681-D8932AEDA733}"/>
                  </a:ext>
                </a:extLst>
              </p:cNvPr>
              <p:cNvSpPr txBox="1"/>
              <p:nvPr/>
            </p:nvSpPr>
            <p:spPr>
              <a:xfrm>
                <a:off x="1620520" y="121920"/>
                <a:ext cx="9377680" cy="2841483"/>
              </a:xfrm>
              <a:prstGeom prst="rect">
                <a:avLst/>
              </a:prstGeom>
              <a:noFill/>
            </p:spPr>
            <p:txBody>
              <a:bodyPr wrap="square" rtlCol="0">
                <a:spAutoFit/>
              </a:bodyPr>
              <a:lstStyle/>
              <a:p>
                <a:pPr marL="0" marR="0">
                  <a:lnSpc>
                    <a:spcPct val="107000"/>
                  </a:lnSpc>
                  <a:spcBef>
                    <a:spcPts val="0"/>
                  </a:spcBef>
                  <a:spcAft>
                    <a:spcPts val="800"/>
                  </a:spcAft>
                </a:pPr>
                <a:r>
                  <a:rPr lang="en-US" sz="2000" dirty="0">
                    <a:effectLst/>
                    <a:latin typeface="Times New Roman" panose="02020603050405020304" pitchFamily="18" charset="0"/>
                    <a:ea typeface="Calibri" panose="020F0502020204030204" pitchFamily="34" charset="0"/>
                    <a:cs typeface="Arial" panose="020B0604020202020204" pitchFamily="34" charset="0"/>
                  </a:rPr>
                  <a:t>The load due to equipment per unit area is calculated as follows:</a:t>
                </a:r>
                <a:endParaRPr lang="en-US" sz="2000" dirty="0">
                  <a:effectLst/>
                  <a:latin typeface="Calibri" panose="020F050202020403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800"/>
                  </a:spcAft>
                </a:pPr>
                <a14:m>
                  <m:oMathPara xmlns:m="http://schemas.openxmlformats.org/officeDocument/2006/math">
                    <m:oMathParaPr>
                      <m:jc m:val="center"/>
                    </m:oMathParaPr>
                    <m:oMath xmlns:m="http://schemas.openxmlformats.org/officeDocument/2006/math">
                      <m:sSubSup>
                        <m:sSubSupPr>
                          <m:ctrlPr>
                            <a:rPr lang="en-US" sz="2000" i="1">
                              <a:effectLst/>
                              <a:latin typeface="Cambria Math" panose="02040503050406030204" pitchFamily="18" charset="0"/>
                              <a:ea typeface="Calibri" panose="020F0502020204030204" pitchFamily="34" charset="0"/>
                              <a:cs typeface="Times New Roman" panose="02020603050405020304" pitchFamily="18" charset="0"/>
                            </a:rPr>
                          </m:ctrlPr>
                        </m:sSubSupPr>
                        <m:e>
                          <m:r>
                            <a:rPr lang="en-US" sz="2000" i="1">
                              <a:effectLst/>
                              <a:latin typeface="Cambria Math" panose="02040503050406030204" pitchFamily="18" charset="0"/>
                              <a:ea typeface="Calibri" panose="020F0502020204030204" pitchFamily="34" charset="0"/>
                              <a:cs typeface="Times New Roman" panose="02020603050405020304" pitchFamily="18" charset="0"/>
                            </a:rPr>
                            <m:t>𝑞</m:t>
                          </m:r>
                        </m:e>
                        <m:sub>
                          <m:r>
                            <a:rPr lang="en-US" sz="2000" i="1">
                              <a:effectLst/>
                              <a:latin typeface="Cambria Math" panose="02040503050406030204" pitchFamily="18" charset="0"/>
                              <a:ea typeface="Calibri" panose="020F0502020204030204" pitchFamily="34" charset="0"/>
                              <a:cs typeface="Times New Roman" panose="02020603050405020304" pitchFamily="18" charset="0"/>
                            </a:rPr>
                            <m:t>𝑒𝑞𝑢𝑖𝑝𝑚𝑒𝑛𝑡</m:t>
                          </m:r>
                        </m:sub>
                        <m:sup>
                          <m:r>
                            <a:rPr lang="en-US" sz="2000" i="1">
                              <a:effectLst/>
                              <a:latin typeface="Cambria Math" panose="02040503050406030204" pitchFamily="18" charset="0"/>
                              <a:ea typeface="Calibri" panose="020F0502020204030204" pitchFamily="34" charset="0"/>
                              <a:cs typeface="Times New Roman" panose="02020603050405020304" pitchFamily="18" charset="0"/>
                            </a:rPr>
                            <m:t>′′</m:t>
                          </m:r>
                        </m:sup>
                      </m:sSubSup>
                      <m:r>
                        <a:rPr lang="en-US" sz="2000" i="1">
                          <a:effectLst/>
                          <a:latin typeface="Cambria Math" panose="02040503050406030204" pitchFamily="18" charset="0"/>
                          <a:ea typeface="Calibri" panose="020F0502020204030204" pitchFamily="34" charset="0"/>
                          <a:cs typeface="Times New Roman" panose="02020603050405020304" pitchFamily="18" charset="0"/>
                        </a:rPr>
                        <m:t>=</m:t>
                      </m:r>
                      <m:f>
                        <m:fPr>
                          <m:ctrlPr>
                            <a:rPr lang="en-US" sz="2000" i="1">
                              <a:effectLst/>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sz="20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2000" i="1">
                                  <a:effectLst/>
                                  <a:latin typeface="Cambria Math" panose="02040503050406030204" pitchFamily="18" charset="0"/>
                                  <a:ea typeface="Calibri" panose="020F0502020204030204" pitchFamily="34" charset="0"/>
                                  <a:cs typeface="Times New Roman" panose="02020603050405020304" pitchFamily="18" charset="0"/>
                                </a:rPr>
                                <m:t>𝑄</m:t>
                              </m:r>
                            </m:e>
                            <m:sub>
                              <m:r>
                                <a:rPr lang="en-US" sz="2000" i="1">
                                  <a:effectLst/>
                                  <a:latin typeface="Cambria Math" panose="02040503050406030204" pitchFamily="18" charset="0"/>
                                  <a:ea typeface="Calibri" panose="020F0502020204030204" pitchFamily="34" charset="0"/>
                                  <a:cs typeface="Times New Roman" panose="02020603050405020304" pitchFamily="18" charset="0"/>
                                </a:rPr>
                                <m:t>𝑒𝑞𝑢𝑖𝑝𝑚𝑒𝑛𝑡</m:t>
                              </m:r>
                            </m:sub>
                          </m:sSub>
                        </m:num>
                        <m:den>
                          <m:sSub>
                            <m:sSubPr>
                              <m:ctrlPr>
                                <a:rPr lang="en-US" sz="20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2000" i="1">
                                  <a:effectLst/>
                                  <a:latin typeface="Cambria Math" panose="02040503050406030204" pitchFamily="18" charset="0"/>
                                  <a:ea typeface="Calibri" panose="020F0502020204030204" pitchFamily="34" charset="0"/>
                                  <a:cs typeface="Times New Roman" panose="02020603050405020304" pitchFamily="18" charset="0"/>
                                </a:rPr>
                                <m:t>𝐴</m:t>
                              </m:r>
                            </m:e>
                            <m:sub>
                              <m:r>
                                <a:rPr lang="en-US" sz="2000" i="1">
                                  <a:effectLst/>
                                  <a:latin typeface="Cambria Math" panose="02040503050406030204" pitchFamily="18" charset="0"/>
                                  <a:ea typeface="Calibri" panose="020F0502020204030204" pitchFamily="34" charset="0"/>
                                  <a:cs typeface="Times New Roman" panose="02020603050405020304" pitchFamily="18" charset="0"/>
                                </a:rPr>
                                <m:t>𝑟𝑜𝑜𝑚</m:t>
                              </m:r>
                            </m:sub>
                          </m:sSub>
                        </m:den>
                      </m:f>
                      <m:r>
                        <a:rPr lang="en-US" sz="2000" i="1">
                          <a:effectLst/>
                          <a:latin typeface="Cambria Math" panose="02040503050406030204" pitchFamily="18" charset="0"/>
                          <a:ea typeface="Calibri" panose="020F0502020204030204" pitchFamily="34" charset="0"/>
                          <a:cs typeface="Times New Roman" panose="02020603050405020304" pitchFamily="18" charset="0"/>
                        </a:rPr>
                        <m:t>=</m:t>
                      </m:r>
                      <m:f>
                        <m:fPr>
                          <m:ctrlPr>
                            <a:rPr lang="en-US" sz="2000" i="1">
                              <a:effectLst/>
                              <a:latin typeface="Cambria Math" panose="02040503050406030204" pitchFamily="18" charset="0"/>
                              <a:ea typeface="Calibri" panose="020F0502020204030204" pitchFamily="34" charset="0"/>
                              <a:cs typeface="Times New Roman" panose="02020603050405020304" pitchFamily="18" charset="0"/>
                            </a:rPr>
                          </m:ctrlPr>
                        </m:fPr>
                        <m:num>
                          <m:r>
                            <a:rPr lang="en-US" sz="2000" i="1">
                              <a:effectLst/>
                              <a:latin typeface="Cambria Math" panose="02040503050406030204" pitchFamily="18" charset="0"/>
                              <a:ea typeface="Calibri" panose="020F0502020204030204" pitchFamily="34" charset="0"/>
                              <a:cs typeface="Times New Roman" panose="02020603050405020304" pitchFamily="18" charset="0"/>
                            </a:rPr>
                            <m:t>1000</m:t>
                          </m:r>
                        </m:num>
                        <m:den>
                          <m:r>
                            <a:rPr lang="en-US" sz="2000" i="1">
                              <a:effectLst/>
                              <a:latin typeface="Cambria Math" panose="02040503050406030204" pitchFamily="18" charset="0"/>
                              <a:ea typeface="Calibri" panose="020F0502020204030204" pitchFamily="34" charset="0"/>
                              <a:cs typeface="Times New Roman" panose="02020603050405020304" pitchFamily="18" charset="0"/>
                            </a:rPr>
                            <m:t>5∗5</m:t>
                          </m:r>
                        </m:den>
                      </m:f>
                      <m:r>
                        <a:rPr lang="en-US" sz="2000" i="1">
                          <a:effectLst/>
                          <a:latin typeface="Cambria Math" panose="02040503050406030204" pitchFamily="18" charset="0"/>
                          <a:ea typeface="Calibri" panose="020F0502020204030204" pitchFamily="34" charset="0"/>
                          <a:cs typeface="Times New Roman" panose="02020603050405020304" pitchFamily="18" charset="0"/>
                        </a:rPr>
                        <m:t>=40 </m:t>
                      </m:r>
                      <m:r>
                        <a:rPr lang="en-US" sz="2000" i="1">
                          <a:effectLst/>
                          <a:latin typeface="Cambria Math" panose="02040503050406030204" pitchFamily="18" charset="0"/>
                          <a:ea typeface="Calibri" panose="020F0502020204030204" pitchFamily="34" charset="0"/>
                          <a:cs typeface="Times New Roman" panose="02020603050405020304" pitchFamily="18" charset="0"/>
                        </a:rPr>
                        <m:t>𝑊</m:t>
                      </m:r>
                      <m:r>
                        <a:rPr lang="en-US" sz="2000" i="1">
                          <a:effectLst/>
                          <a:latin typeface="Cambria Math" panose="02040503050406030204" pitchFamily="18" charset="0"/>
                          <a:ea typeface="Calibri" panose="020F0502020204030204" pitchFamily="34" charset="0"/>
                          <a:cs typeface="Times New Roman" panose="02020603050405020304" pitchFamily="18" charset="0"/>
                        </a:rPr>
                        <m:t>/</m:t>
                      </m:r>
                      <m:sSup>
                        <m:sSupPr>
                          <m:ctrlPr>
                            <a:rPr lang="en-US" sz="2000" i="1">
                              <a:effectLst/>
                              <a:latin typeface="Cambria Math" panose="02040503050406030204" pitchFamily="18" charset="0"/>
                              <a:ea typeface="Calibri" panose="020F0502020204030204" pitchFamily="34" charset="0"/>
                              <a:cs typeface="Times New Roman" panose="02020603050405020304" pitchFamily="18" charset="0"/>
                            </a:rPr>
                          </m:ctrlPr>
                        </m:sSupPr>
                        <m:e>
                          <m:r>
                            <a:rPr lang="en-US" sz="2000" i="1">
                              <a:effectLst/>
                              <a:latin typeface="Cambria Math" panose="02040503050406030204" pitchFamily="18" charset="0"/>
                              <a:ea typeface="Calibri" panose="020F0502020204030204" pitchFamily="34" charset="0"/>
                              <a:cs typeface="Times New Roman" panose="02020603050405020304" pitchFamily="18" charset="0"/>
                            </a:rPr>
                            <m:t>𝑚</m:t>
                          </m:r>
                        </m:e>
                        <m:sup>
                          <m:r>
                            <a:rPr lang="en-US" sz="2000" i="1">
                              <a:effectLst/>
                              <a:latin typeface="Cambria Math" panose="02040503050406030204" pitchFamily="18" charset="0"/>
                              <a:ea typeface="Calibri" panose="020F0502020204030204" pitchFamily="34" charset="0"/>
                              <a:cs typeface="Times New Roman" panose="02020603050405020304" pitchFamily="18" charset="0"/>
                            </a:rPr>
                            <m:t>2</m:t>
                          </m:r>
                        </m:sup>
                      </m:sSup>
                    </m:oMath>
                  </m:oMathPara>
                </a14:m>
                <a:endParaRPr lang="en-US" sz="2000" dirty="0">
                  <a:effectLst/>
                  <a:latin typeface="Calibri" panose="020F0502020204030204" pitchFamily="34" charset="0"/>
                  <a:ea typeface="Calibri" panose="020F0502020204030204" pitchFamily="34" charset="0"/>
                  <a:cs typeface="Arial" panose="020B0604020202020204" pitchFamily="34" charset="0"/>
                </a:endParaRPr>
              </a:p>
              <a:p>
                <a:pPr marL="0" marR="0">
                  <a:lnSpc>
                    <a:spcPct val="107000"/>
                  </a:lnSpc>
                  <a:spcBef>
                    <a:spcPts val="0"/>
                  </a:spcBef>
                  <a:spcAft>
                    <a:spcPts val="800"/>
                  </a:spcAft>
                </a:pPr>
                <a:r>
                  <a:rPr lang="en-US" sz="2000" dirty="0">
                    <a:effectLst/>
                    <a:latin typeface="Times New Roman" panose="02020603050405020304" pitchFamily="18" charset="0"/>
                    <a:ea typeface="Times New Roman" panose="02020603050405020304" pitchFamily="18" charset="0"/>
                    <a:cs typeface="Arial" panose="020B0604020202020204" pitchFamily="34" charset="0"/>
                  </a:rPr>
                  <a:t>The load due to people is calculated as follows:</a:t>
                </a:r>
                <a:endParaRPr lang="en-US" sz="2000" dirty="0">
                  <a:latin typeface="Calibri" panose="020F0502020204030204" pitchFamily="34" charset="0"/>
                  <a:ea typeface="Times New Roman" panose="02020603050405020304" pitchFamily="18" charset="0"/>
                  <a:cs typeface="Arial" panose="020B0604020202020204" pitchFamily="34" charset="0"/>
                </a:endParaRPr>
              </a:p>
              <a:p>
                <a:pPr marL="0" marR="0">
                  <a:lnSpc>
                    <a:spcPct val="107000"/>
                  </a:lnSpc>
                  <a:spcBef>
                    <a:spcPts val="0"/>
                  </a:spcBef>
                  <a:spcAft>
                    <a:spcPts val="800"/>
                  </a:spcAft>
                </a:pPr>
                <a14:m>
                  <m:oMathPara xmlns:m="http://schemas.openxmlformats.org/officeDocument/2006/math">
                    <m:oMathParaPr>
                      <m:jc m:val="center"/>
                    </m:oMathParaPr>
                    <m:oMath xmlns:m="http://schemas.openxmlformats.org/officeDocument/2006/math">
                      <m:sSubSup>
                        <m:sSubSupPr>
                          <m:ctrlPr>
                            <a:rPr lang="en-US" sz="2000" i="1">
                              <a:effectLst/>
                              <a:latin typeface="Cambria Math" panose="02040503050406030204" pitchFamily="18" charset="0"/>
                              <a:ea typeface="Times New Roman" panose="02020603050405020304" pitchFamily="18" charset="0"/>
                              <a:cs typeface="Times New Roman" panose="02020603050405020304" pitchFamily="18" charset="0"/>
                            </a:rPr>
                          </m:ctrlPr>
                        </m:sSub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𝑞</m:t>
                          </m:r>
                        </m:e>
                        <m:sub>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𝑝𝑒𝑟𝑠𝑜𝑛𝑠</m:t>
                          </m:r>
                        </m:sub>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sup>
                      </m:sSub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20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𝑁</m:t>
                          </m:r>
                        </m:e>
                        <m:sub>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𝑝</m:t>
                          </m:r>
                        </m:sub>
                      </m:sSub>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en-US" sz="2000" i="1">
                              <a:effectLst/>
                              <a:latin typeface="Cambria Math" panose="02040503050406030204" pitchFamily="18" charset="0"/>
                              <a:ea typeface="Times New Roman" panose="02020603050405020304" pitchFamily="18" charset="0"/>
                              <a:cs typeface="Times New Roman" panose="02020603050405020304" pitchFamily="18" charset="0"/>
                            </a:rPr>
                          </m:ctrlPr>
                        </m:fPr>
                        <m:num>
                          <m:sSub>
                            <m:sSubPr>
                              <m:ctrlPr>
                                <a:rPr lang="en-US" sz="20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𝑄</m:t>
                              </m:r>
                            </m:e>
                            <m:sub>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𝑝𝑒𝑟𝑠𝑜𝑛</m:t>
                              </m:r>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 </m:t>
                              </m:r>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𝑙𝑜𝑎𝑑</m:t>
                              </m:r>
                            </m:sub>
                          </m:sSub>
                        </m:num>
                        <m:den>
                          <m:sSub>
                            <m:sSubPr>
                              <m:ctrlPr>
                                <a:rPr lang="en-US" sz="20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𝐴</m:t>
                              </m:r>
                            </m:e>
                            <m:sub>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𝑟𝑜𝑜𝑚</m:t>
                              </m:r>
                            </m:sub>
                          </m:sSub>
                        </m:den>
                      </m:f>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2000" b="0" i="1" smtClean="0">
                          <a:effectLst/>
                          <a:latin typeface="Cambria Math" panose="02040503050406030204" pitchFamily="18" charset="0"/>
                          <a:ea typeface="Times New Roman" panose="02020603050405020304" pitchFamily="18" charset="0"/>
                          <a:cs typeface="Times New Roman" panose="02020603050405020304" pitchFamily="18" charset="0"/>
                        </a:rPr>
                        <m:t>12</m:t>
                      </m:r>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en-US" sz="20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100</m:t>
                          </m:r>
                        </m:num>
                        <m:den>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5∗5</m:t>
                          </m:r>
                        </m:den>
                      </m:f>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2000" b="0" i="1" smtClean="0">
                          <a:effectLst/>
                          <a:latin typeface="Cambria Math" panose="02040503050406030204" pitchFamily="18" charset="0"/>
                          <a:ea typeface="Times New Roman" panose="02020603050405020304" pitchFamily="18" charset="0"/>
                          <a:cs typeface="Times New Roman" panose="02020603050405020304" pitchFamily="18" charset="0"/>
                        </a:rPr>
                        <m:t>48</m:t>
                      </m:r>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𝑊</m:t>
                      </m:r>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US" sz="20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𝑚</m:t>
                          </m:r>
                        </m:e>
                        <m: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2</m:t>
                          </m:r>
                        </m:sup>
                      </m:sSup>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oMath>
                  </m:oMathPara>
                </a14:m>
                <a:endParaRPr lang="en-US" sz="2000" dirty="0">
                  <a:effectLst/>
                  <a:latin typeface="Calibri" panose="020F0502020204030204" pitchFamily="34" charset="0"/>
                  <a:ea typeface="Calibri" panose="020F0502020204030204" pitchFamily="34" charset="0"/>
                  <a:cs typeface="Arial" panose="020B0604020202020204" pitchFamily="34" charset="0"/>
                </a:endParaRPr>
              </a:p>
              <a:p>
                <a:r>
                  <a:rPr lang="en-US" sz="2000" dirty="0">
                    <a:effectLst/>
                    <a:latin typeface="Times New Roman" panose="02020603050405020304" pitchFamily="18" charset="0"/>
                    <a:ea typeface="Times New Roman" panose="02020603050405020304" pitchFamily="18" charset="0"/>
                  </a:rPr>
                  <a:t>the maximum load is and is equal to </a:t>
                </a:r>
                <a14:m>
                  <m:oMath xmlns:m="http://schemas.openxmlformats.org/officeDocument/2006/math">
                    <m:r>
                      <a:rPr lang="en-US" sz="2000" b="1" i="1">
                        <a:effectLst/>
                        <a:latin typeface="Cambria Math" panose="02040503050406030204" pitchFamily="18" charset="0"/>
                        <a:ea typeface="Times New Roman" panose="02020603050405020304" pitchFamily="18" charset="0"/>
                        <a:cs typeface="Times New Roman" panose="02020603050405020304" pitchFamily="18" charset="0"/>
                      </a:rPr>
                      <m:t>𝟖𝟖</m:t>
                    </m:r>
                    <m:r>
                      <a:rPr lang="en-US" sz="2000" b="1" i="1">
                        <a:effectLst/>
                        <a:latin typeface="Cambria Math" panose="02040503050406030204" pitchFamily="18" charset="0"/>
                        <a:ea typeface="Times New Roman" panose="02020603050405020304" pitchFamily="18" charset="0"/>
                        <a:cs typeface="Times New Roman" panose="02020603050405020304" pitchFamily="18" charset="0"/>
                      </a:rPr>
                      <m:t> </m:t>
                    </m:r>
                    <m:r>
                      <a:rPr lang="en-US" sz="2000" b="1" i="1">
                        <a:effectLst/>
                        <a:latin typeface="Cambria Math" panose="02040503050406030204" pitchFamily="18" charset="0"/>
                        <a:ea typeface="Times New Roman" panose="02020603050405020304" pitchFamily="18" charset="0"/>
                        <a:cs typeface="Times New Roman" panose="02020603050405020304" pitchFamily="18" charset="0"/>
                      </a:rPr>
                      <m:t>𝑾</m:t>
                    </m:r>
                    <m:r>
                      <a:rPr lang="en-US" sz="2000" b="1" i="1">
                        <a:effectLst/>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US" sz="2000" b="1"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2000" b="1" i="1">
                            <a:effectLst/>
                            <a:latin typeface="Cambria Math" panose="02040503050406030204" pitchFamily="18" charset="0"/>
                            <a:ea typeface="Times New Roman" panose="02020603050405020304" pitchFamily="18" charset="0"/>
                            <a:cs typeface="Times New Roman" panose="02020603050405020304" pitchFamily="18" charset="0"/>
                          </a:rPr>
                          <m:t>𝒎</m:t>
                        </m:r>
                      </m:e>
                      <m:sup>
                        <m:r>
                          <a:rPr lang="en-US" sz="2000" b="1" i="1">
                            <a:effectLst/>
                            <a:latin typeface="Cambria Math" panose="02040503050406030204" pitchFamily="18" charset="0"/>
                            <a:ea typeface="Times New Roman" panose="02020603050405020304" pitchFamily="18" charset="0"/>
                            <a:cs typeface="Times New Roman" panose="02020603050405020304" pitchFamily="18" charset="0"/>
                          </a:rPr>
                          <m:t>𝟐</m:t>
                        </m:r>
                      </m:sup>
                    </m:sSup>
                  </m:oMath>
                </a14:m>
                <a:endParaRPr lang="en-US" sz="2000" dirty="0"/>
              </a:p>
            </p:txBody>
          </p:sp>
        </mc:Choice>
        <mc:Fallback xmlns="">
          <p:sp>
            <p:nvSpPr>
              <p:cNvPr id="2" name="TextBox 1">
                <a:extLst>
                  <a:ext uri="{FF2B5EF4-FFF2-40B4-BE49-F238E27FC236}">
                    <a16:creationId xmlns:a16="http://schemas.microsoft.com/office/drawing/2014/main" id="{75FC1B9E-9CD6-F3EF-6681-D8932AEDA733}"/>
                  </a:ext>
                </a:extLst>
              </p:cNvPr>
              <p:cNvSpPr txBox="1">
                <a:spLocks noRot="1" noChangeAspect="1" noMove="1" noResize="1" noEditPoints="1" noAdjustHandles="1" noChangeArrowheads="1" noChangeShapeType="1" noTextEdit="1"/>
              </p:cNvSpPr>
              <p:nvPr/>
            </p:nvSpPr>
            <p:spPr>
              <a:xfrm>
                <a:off x="1620520" y="121920"/>
                <a:ext cx="9377680" cy="2841483"/>
              </a:xfrm>
              <a:prstGeom prst="rect">
                <a:avLst/>
              </a:prstGeom>
              <a:blipFill>
                <a:blip r:embed="rId2"/>
                <a:stretch>
                  <a:fillRect l="-715" t="-1073" b="-3004"/>
                </a:stretch>
              </a:blipFill>
            </p:spPr>
            <p:txBody>
              <a:bodyPr/>
              <a:lstStyle/>
              <a:p>
                <a:r>
                  <a:rPr lang="en-US">
                    <a:noFill/>
                  </a:rPr>
                  <a:t> </a:t>
                </a:r>
              </a:p>
            </p:txBody>
          </p:sp>
        </mc:Fallback>
      </mc:AlternateContent>
      <p:pic>
        <p:nvPicPr>
          <p:cNvPr id="3" name="Picture 2">
            <a:extLst>
              <a:ext uri="{FF2B5EF4-FFF2-40B4-BE49-F238E27FC236}">
                <a16:creationId xmlns:a16="http://schemas.microsoft.com/office/drawing/2014/main" id="{00000000-0008-0000-0100-00000200000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334000" y="2963403"/>
            <a:ext cx="6156960" cy="3772677"/>
          </a:xfrm>
          <a:prstGeom prst="rect">
            <a:avLst/>
          </a:prstGeom>
          <a:noFill/>
        </p:spPr>
      </p:pic>
    </p:spTree>
    <p:extLst>
      <p:ext uri="{BB962C8B-B14F-4D97-AF65-F5344CB8AC3E}">
        <p14:creationId xmlns:p14="http://schemas.microsoft.com/office/powerpoint/2010/main" val="377351595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Table 2">
            <a:extLst>
              <a:ext uri="{FF2B5EF4-FFF2-40B4-BE49-F238E27FC236}">
                <a16:creationId xmlns:a16="http://schemas.microsoft.com/office/drawing/2014/main" id="{6EEA16D9-B848-8BA6-F820-CB541EE7C7A0}"/>
              </a:ext>
            </a:extLst>
          </p:cNvPr>
          <p:cNvGraphicFramePr>
            <a:graphicFrameLocks noGrp="1"/>
          </p:cNvGraphicFramePr>
          <p:nvPr>
            <p:extLst>
              <p:ext uri="{D42A27DB-BD31-4B8C-83A1-F6EECF244321}">
                <p14:modId xmlns:p14="http://schemas.microsoft.com/office/powerpoint/2010/main" val="2500421175"/>
              </p:ext>
            </p:extLst>
          </p:nvPr>
        </p:nvGraphicFramePr>
        <p:xfrm>
          <a:off x="1556304" y="454919"/>
          <a:ext cx="9079391" cy="3505202"/>
        </p:xfrm>
        <a:graphic>
          <a:graphicData uri="http://schemas.openxmlformats.org/drawingml/2006/table">
            <a:tbl>
              <a:tblPr firstRow="1" firstCol="1" bandRow="1">
                <a:tableStyleId>{5C22544A-7EE6-4342-B048-85BDC9FD1C3A}</a:tableStyleId>
              </a:tblPr>
              <a:tblGrid>
                <a:gridCol w="1064481">
                  <a:extLst>
                    <a:ext uri="{9D8B030D-6E8A-4147-A177-3AD203B41FA5}">
                      <a16:colId xmlns:a16="http://schemas.microsoft.com/office/drawing/2014/main" val="3689493462"/>
                    </a:ext>
                  </a:extLst>
                </a:gridCol>
                <a:gridCol w="1001864">
                  <a:extLst>
                    <a:ext uri="{9D8B030D-6E8A-4147-A177-3AD203B41FA5}">
                      <a16:colId xmlns:a16="http://schemas.microsoft.com/office/drawing/2014/main" val="4085845712"/>
                    </a:ext>
                  </a:extLst>
                </a:gridCol>
                <a:gridCol w="1001864">
                  <a:extLst>
                    <a:ext uri="{9D8B030D-6E8A-4147-A177-3AD203B41FA5}">
                      <a16:colId xmlns:a16="http://schemas.microsoft.com/office/drawing/2014/main" val="1856656522"/>
                    </a:ext>
                  </a:extLst>
                </a:gridCol>
                <a:gridCol w="1982855">
                  <a:extLst>
                    <a:ext uri="{9D8B030D-6E8A-4147-A177-3AD203B41FA5}">
                      <a16:colId xmlns:a16="http://schemas.microsoft.com/office/drawing/2014/main" val="1616587549"/>
                    </a:ext>
                  </a:extLst>
                </a:gridCol>
                <a:gridCol w="1001864">
                  <a:extLst>
                    <a:ext uri="{9D8B030D-6E8A-4147-A177-3AD203B41FA5}">
                      <a16:colId xmlns:a16="http://schemas.microsoft.com/office/drawing/2014/main" val="3923770028"/>
                    </a:ext>
                  </a:extLst>
                </a:gridCol>
                <a:gridCol w="1001864">
                  <a:extLst>
                    <a:ext uri="{9D8B030D-6E8A-4147-A177-3AD203B41FA5}">
                      <a16:colId xmlns:a16="http://schemas.microsoft.com/office/drawing/2014/main" val="3345916455"/>
                    </a:ext>
                  </a:extLst>
                </a:gridCol>
                <a:gridCol w="1001864">
                  <a:extLst>
                    <a:ext uri="{9D8B030D-6E8A-4147-A177-3AD203B41FA5}">
                      <a16:colId xmlns:a16="http://schemas.microsoft.com/office/drawing/2014/main" val="2046356955"/>
                    </a:ext>
                  </a:extLst>
                </a:gridCol>
                <a:gridCol w="1022735">
                  <a:extLst>
                    <a:ext uri="{9D8B030D-6E8A-4147-A177-3AD203B41FA5}">
                      <a16:colId xmlns:a16="http://schemas.microsoft.com/office/drawing/2014/main" val="1062778542"/>
                    </a:ext>
                  </a:extLst>
                </a:gridCol>
              </a:tblGrid>
              <a:tr h="330894">
                <a:tc>
                  <a:txBody>
                    <a:bodyPr/>
                    <a:lstStyle/>
                    <a:p>
                      <a:pPr marL="0" marR="0" algn="ctr">
                        <a:lnSpc>
                          <a:spcPct val="107000"/>
                        </a:lnSpc>
                        <a:spcBef>
                          <a:spcPts val="0"/>
                        </a:spcBef>
                        <a:spcAft>
                          <a:spcPts val="0"/>
                        </a:spcAft>
                      </a:pPr>
                      <a:r>
                        <a:rPr lang="en-US" sz="1600" dirty="0">
                          <a:effectLst/>
                          <a:latin typeface="Times New Roman" panose="02020603050405020304" pitchFamily="18" charset="0"/>
                          <a:cs typeface="Times New Roman" panose="02020603050405020304" pitchFamily="18" charset="0"/>
                        </a:rPr>
                        <a:t>Design</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Bef>
                          <a:spcPts val="0"/>
                        </a:spcBef>
                        <a:spcAft>
                          <a:spcPts val="0"/>
                        </a:spcAft>
                      </a:pPr>
                      <a:r>
                        <a:rPr lang="en-US" sz="1600" dirty="0">
                          <a:effectLst/>
                          <a:latin typeface="Times New Roman" panose="02020603050405020304" pitchFamily="18" charset="0"/>
                          <a:cs typeface="Times New Roman" panose="02020603050405020304" pitchFamily="18" charset="0"/>
                        </a:rPr>
                        <a:t>P</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600" dirty="0" err="1">
                          <a:effectLst/>
                          <a:latin typeface="Times New Roman" panose="02020603050405020304" pitchFamily="18" charset="0"/>
                          <a:cs typeface="Times New Roman" panose="02020603050405020304" pitchFamily="18" charset="0"/>
                        </a:rPr>
                        <a:t>mdot</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Bef>
                          <a:spcPts val="0"/>
                        </a:spcBef>
                        <a:spcAft>
                          <a:spcPts val="0"/>
                        </a:spcAft>
                      </a:pPr>
                      <a:r>
                        <a:rPr lang="en-US" sz="1600" dirty="0">
                          <a:effectLst/>
                          <a:latin typeface="Times New Roman" panose="02020603050405020304" pitchFamily="18" charset="0"/>
                          <a:cs typeface="Times New Roman" panose="02020603050405020304" pitchFamily="18" charset="0"/>
                        </a:rPr>
                        <a:t>Tc </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600" dirty="0">
                          <a:effectLst/>
                          <a:latin typeface="Times New Roman" panose="02020603050405020304" pitchFamily="18" charset="0"/>
                          <a:cs typeface="Times New Roman" panose="02020603050405020304" pitchFamily="18" charset="0"/>
                        </a:rPr>
                        <a:t>Ts</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600" dirty="0">
                          <a:effectLst/>
                          <a:latin typeface="Times New Roman" panose="02020603050405020304" pitchFamily="18" charset="0"/>
                          <a:cs typeface="Times New Roman" panose="02020603050405020304" pitchFamily="18" charset="0"/>
                        </a:rPr>
                        <a:t>R</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600" dirty="0">
                          <a:effectLst/>
                          <a:latin typeface="Times New Roman" panose="02020603050405020304" pitchFamily="18" charset="0"/>
                          <a:cs typeface="Times New Roman" panose="02020603050405020304" pitchFamily="18" charset="0"/>
                        </a:rPr>
                        <a:t>H</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600" dirty="0">
                          <a:effectLst/>
                          <a:latin typeface="Times New Roman" panose="02020603050405020304" pitchFamily="18" charset="0"/>
                          <a:cs typeface="Times New Roman" panose="02020603050405020304" pitchFamily="18" charset="0"/>
                        </a:rPr>
                        <a:t>dT/</a:t>
                      </a:r>
                      <a:r>
                        <a:rPr lang="en-US" sz="1600" dirty="0" err="1">
                          <a:effectLst/>
                          <a:latin typeface="Times New Roman" panose="02020603050405020304" pitchFamily="18" charset="0"/>
                          <a:cs typeface="Times New Roman" panose="02020603050405020304" pitchFamily="18" charset="0"/>
                        </a:rPr>
                        <a:t>dZ</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068185921"/>
                  </a:ext>
                </a:extLst>
              </a:tr>
              <a:tr h="330894">
                <a:tc>
                  <a:txBody>
                    <a:bodyPr/>
                    <a:lstStyle/>
                    <a:p>
                      <a:pPr marL="0" marR="0" algn="ctr">
                        <a:lnSpc>
                          <a:spcPct val="107000"/>
                        </a:lnSpc>
                        <a:spcBef>
                          <a:spcPts val="0"/>
                        </a:spcBef>
                        <a:spcAft>
                          <a:spcPts val="0"/>
                        </a:spcAft>
                      </a:pPr>
                      <a:r>
                        <a:rPr lang="en-US" sz="1500" dirty="0">
                          <a:effectLst/>
                          <a:latin typeface="Times New Roman" panose="02020603050405020304" pitchFamily="18" charset="0"/>
                          <a:cs typeface="Times New Roman" panose="02020603050405020304" pitchFamily="18" charset="0"/>
                        </a:rPr>
                        <a:t>1</a:t>
                      </a:r>
                      <a:endParaRPr lang="en-US" sz="15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Bef>
                          <a:spcPts val="0"/>
                        </a:spcBef>
                        <a:spcAft>
                          <a:spcPts val="0"/>
                        </a:spcAft>
                      </a:pPr>
                      <a:r>
                        <a:rPr lang="en-US" sz="1600" dirty="0">
                          <a:effectLst/>
                          <a:latin typeface="Times New Roman" panose="02020603050405020304" pitchFamily="18" charset="0"/>
                          <a:cs typeface="Times New Roman" panose="02020603050405020304" pitchFamily="18" charset="0"/>
                        </a:rPr>
                        <a:t>4</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600">
                          <a:effectLst/>
                          <a:latin typeface="Times New Roman" panose="02020603050405020304" pitchFamily="18" charset="0"/>
                          <a:cs typeface="Times New Roman" panose="02020603050405020304" pitchFamily="18" charset="0"/>
                        </a:rPr>
                        <a:t>0.55</a:t>
                      </a:r>
                      <a:endParaRPr lang="en-US"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600">
                          <a:effectLst/>
                          <a:latin typeface="Times New Roman" panose="02020603050405020304" pitchFamily="18" charset="0"/>
                          <a:cs typeface="Times New Roman" panose="02020603050405020304" pitchFamily="18" charset="0"/>
                        </a:rPr>
                        <a:t>17</a:t>
                      </a:r>
                      <a:endParaRPr lang="en-US"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600">
                          <a:effectLst/>
                          <a:latin typeface="Times New Roman" panose="02020603050405020304" pitchFamily="18" charset="0"/>
                          <a:cs typeface="Times New Roman" panose="02020603050405020304" pitchFamily="18" charset="0"/>
                        </a:rPr>
                        <a:t>18</a:t>
                      </a:r>
                      <a:endParaRPr lang="en-US"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600">
                          <a:effectLst/>
                          <a:latin typeface="Times New Roman" panose="02020603050405020304" pitchFamily="18" charset="0"/>
                          <a:cs typeface="Times New Roman" panose="02020603050405020304" pitchFamily="18" charset="0"/>
                        </a:rPr>
                        <a:t>0.3</a:t>
                      </a:r>
                      <a:endParaRPr lang="en-US"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600">
                          <a:effectLst/>
                          <a:latin typeface="Times New Roman" panose="02020603050405020304" pitchFamily="18" charset="0"/>
                          <a:cs typeface="Times New Roman" panose="02020603050405020304" pitchFamily="18" charset="0"/>
                        </a:rPr>
                        <a:t>1.7218</a:t>
                      </a:r>
                      <a:endParaRPr lang="en-US"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600">
                          <a:effectLst/>
                          <a:latin typeface="Times New Roman" panose="02020603050405020304" pitchFamily="18" charset="0"/>
                          <a:cs typeface="Times New Roman" panose="02020603050405020304" pitchFamily="18" charset="0"/>
                        </a:rPr>
                        <a:t>1.1621</a:t>
                      </a:r>
                      <a:endParaRPr lang="en-US"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4206254788"/>
                  </a:ext>
                </a:extLst>
              </a:tr>
              <a:tr h="628130">
                <a:tc>
                  <a:txBody>
                    <a:bodyPr/>
                    <a:lstStyle/>
                    <a:p>
                      <a:pPr marL="0" marR="0" algn="ctr">
                        <a:lnSpc>
                          <a:spcPct val="107000"/>
                        </a:lnSpc>
                        <a:spcBef>
                          <a:spcPts val="0"/>
                        </a:spcBef>
                        <a:spcAft>
                          <a:spcPts val="0"/>
                        </a:spcAft>
                      </a:pPr>
                      <a:r>
                        <a:rPr lang="en-US" sz="1500" dirty="0">
                          <a:effectLst/>
                          <a:latin typeface="Times New Roman" panose="02020603050405020304" pitchFamily="18" charset="0"/>
                          <a:cs typeface="Times New Roman" panose="02020603050405020304" pitchFamily="18" charset="0"/>
                        </a:rPr>
                        <a:t>2</a:t>
                      </a:r>
                      <a:endParaRPr lang="en-US" sz="15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Bef>
                          <a:spcPts val="0"/>
                        </a:spcBef>
                        <a:spcAft>
                          <a:spcPts val="0"/>
                        </a:spcAft>
                      </a:pPr>
                      <a:r>
                        <a:rPr lang="en-US" sz="1600" dirty="0">
                          <a:effectLst/>
                          <a:latin typeface="Times New Roman" panose="02020603050405020304" pitchFamily="18" charset="0"/>
                          <a:cs typeface="Times New Roman" panose="02020603050405020304" pitchFamily="18" charset="0"/>
                        </a:rPr>
                        <a:t>6</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600" dirty="0">
                          <a:effectLst/>
                          <a:latin typeface="Times New Roman" panose="02020603050405020304" pitchFamily="18" charset="0"/>
                          <a:cs typeface="Times New Roman" panose="02020603050405020304" pitchFamily="18" charset="0"/>
                        </a:rPr>
                        <a:t>0.37</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600">
                          <a:effectLst/>
                          <a:latin typeface="Times New Roman" panose="02020603050405020304" pitchFamily="18" charset="0"/>
                          <a:cs typeface="Times New Roman" panose="02020603050405020304" pitchFamily="18" charset="0"/>
                        </a:rPr>
                        <a:t>17</a:t>
                      </a:r>
                      <a:endParaRPr lang="en-US"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600">
                          <a:effectLst/>
                          <a:latin typeface="Times New Roman" panose="02020603050405020304" pitchFamily="18" charset="0"/>
                          <a:cs typeface="Times New Roman" panose="02020603050405020304" pitchFamily="18" charset="0"/>
                        </a:rPr>
                        <a:t>18</a:t>
                      </a:r>
                      <a:endParaRPr lang="en-US"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600">
                          <a:effectLst/>
                          <a:latin typeface="Times New Roman" panose="02020603050405020304" pitchFamily="18" charset="0"/>
                          <a:cs typeface="Times New Roman" panose="02020603050405020304" pitchFamily="18" charset="0"/>
                        </a:rPr>
                        <a:t>0.35</a:t>
                      </a:r>
                      <a:endParaRPr lang="en-US"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600">
                          <a:effectLst/>
                          <a:latin typeface="Times New Roman" panose="02020603050405020304" pitchFamily="18" charset="0"/>
                          <a:cs typeface="Times New Roman" panose="02020603050405020304" pitchFamily="18" charset="0"/>
                        </a:rPr>
                        <a:t>1.6456</a:t>
                      </a:r>
                      <a:endParaRPr lang="en-US"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600">
                          <a:effectLst/>
                          <a:latin typeface="Times New Roman" panose="02020603050405020304" pitchFamily="18" charset="0"/>
                          <a:cs typeface="Times New Roman" panose="02020603050405020304" pitchFamily="18" charset="0"/>
                        </a:rPr>
                        <a:t>1.25545</a:t>
                      </a:r>
                      <a:endParaRPr lang="en-US"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737457005"/>
                  </a:ext>
                </a:extLst>
              </a:tr>
              <a:tr h="628130">
                <a:tc>
                  <a:txBody>
                    <a:bodyPr/>
                    <a:lstStyle/>
                    <a:p>
                      <a:pPr marL="0" marR="0" algn="ctr">
                        <a:lnSpc>
                          <a:spcPct val="107000"/>
                        </a:lnSpc>
                        <a:spcBef>
                          <a:spcPts val="0"/>
                        </a:spcBef>
                        <a:spcAft>
                          <a:spcPts val="0"/>
                        </a:spcAft>
                      </a:pPr>
                      <a:r>
                        <a:rPr lang="en-US" sz="1500" dirty="0">
                          <a:effectLst/>
                          <a:latin typeface="Times New Roman" panose="02020603050405020304" pitchFamily="18" charset="0"/>
                          <a:cs typeface="Times New Roman" panose="02020603050405020304" pitchFamily="18" charset="0"/>
                        </a:rPr>
                        <a:t>3</a:t>
                      </a:r>
                      <a:endParaRPr lang="en-US" sz="15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Bef>
                          <a:spcPts val="0"/>
                        </a:spcBef>
                        <a:spcAft>
                          <a:spcPts val="0"/>
                        </a:spcAft>
                      </a:pPr>
                      <a:r>
                        <a:rPr lang="en-US" sz="1600">
                          <a:effectLst/>
                          <a:latin typeface="Times New Roman" panose="02020603050405020304" pitchFamily="18" charset="0"/>
                          <a:cs typeface="Times New Roman" panose="02020603050405020304" pitchFamily="18" charset="0"/>
                        </a:rPr>
                        <a:t>8</a:t>
                      </a:r>
                      <a:endParaRPr lang="en-US"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600" dirty="0">
                          <a:effectLst/>
                          <a:latin typeface="Times New Roman" panose="02020603050405020304" pitchFamily="18" charset="0"/>
                          <a:cs typeface="Times New Roman" panose="02020603050405020304" pitchFamily="18" charset="0"/>
                        </a:rPr>
                        <a:t>0.28</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600" dirty="0">
                          <a:effectLst/>
                          <a:latin typeface="Times New Roman" panose="02020603050405020304" pitchFamily="18" charset="0"/>
                          <a:cs typeface="Times New Roman" panose="02020603050405020304" pitchFamily="18" charset="0"/>
                        </a:rPr>
                        <a:t>16</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600" dirty="0">
                          <a:effectLst/>
                          <a:latin typeface="Times New Roman" panose="02020603050405020304" pitchFamily="18" charset="0"/>
                          <a:cs typeface="Times New Roman" panose="02020603050405020304" pitchFamily="18" charset="0"/>
                        </a:rPr>
                        <a:t>19</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600">
                          <a:effectLst/>
                          <a:latin typeface="Times New Roman" panose="02020603050405020304" pitchFamily="18" charset="0"/>
                          <a:cs typeface="Times New Roman" panose="02020603050405020304" pitchFamily="18" charset="0"/>
                        </a:rPr>
                        <a:t>0.475</a:t>
                      </a:r>
                      <a:endParaRPr lang="en-US"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600">
                          <a:effectLst/>
                          <a:latin typeface="Times New Roman" panose="02020603050405020304" pitchFamily="18" charset="0"/>
                          <a:cs typeface="Times New Roman" panose="02020603050405020304" pitchFamily="18" charset="0"/>
                        </a:rPr>
                        <a:t>1.5801</a:t>
                      </a:r>
                      <a:endParaRPr lang="en-US"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600">
                          <a:effectLst/>
                          <a:latin typeface="Times New Roman" panose="02020603050405020304" pitchFamily="18" charset="0"/>
                          <a:cs typeface="Times New Roman" panose="02020603050405020304" pitchFamily="18" charset="0"/>
                        </a:rPr>
                        <a:t>1.460825</a:t>
                      </a:r>
                      <a:endParaRPr lang="en-US"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447069276"/>
                  </a:ext>
                </a:extLst>
              </a:tr>
              <a:tr h="628130">
                <a:tc>
                  <a:txBody>
                    <a:bodyPr/>
                    <a:lstStyle/>
                    <a:p>
                      <a:pPr marL="0" marR="0" algn="ctr">
                        <a:lnSpc>
                          <a:spcPct val="107000"/>
                        </a:lnSpc>
                        <a:spcBef>
                          <a:spcPts val="0"/>
                        </a:spcBef>
                        <a:spcAft>
                          <a:spcPts val="0"/>
                        </a:spcAft>
                      </a:pPr>
                      <a:r>
                        <a:rPr lang="en-US" sz="1500" dirty="0">
                          <a:effectLst/>
                          <a:latin typeface="Times New Roman" panose="02020603050405020304" pitchFamily="18" charset="0"/>
                          <a:cs typeface="Times New Roman" panose="02020603050405020304" pitchFamily="18" charset="0"/>
                        </a:rPr>
                        <a:t>4</a:t>
                      </a:r>
                      <a:endParaRPr lang="en-US" sz="15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Bef>
                          <a:spcPts val="0"/>
                        </a:spcBef>
                        <a:spcAft>
                          <a:spcPts val="0"/>
                        </a:spcAft>
                      </a:pPr>
                      <a:r>
                        <a:rPr lang="en-US" sz="1600">
                          <a:effectLst/>
                          <a:latin typeface="Times New Roman" panose="02020603050405020304" pitchFamily="18" charset="0"/>
                          <a:cs typeface="Times New Roman" panose="02020603050405020304" pitchFamily="18" charset="0"/>
                        </a:rPr>
                        <a:t>10</a:t>
                      </a:r>
                      <a:endParaRPr lang="en-US"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600">
                          <a:effectLst/>
                          <a:latin typeface="Times New Roman" panose="02020603050405020304" pitchFamily="18" charset="0"/>
                          <a:cs typeface="Times New Roman" panose="02020603050405020304" pitchFamily="18" charset="0"/>
                        </a:rPr>
                        <a:t>0.22</a:t>
                      </a:r>
                      <a:endParaRPr lang="en-US"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600" dirty="0">
                          <a:effectLst/>
                          <a:latin typeface="Times New Roman" panose="02020603050405020304" pitchFamily="18" charset="0"/>
                          <a:cs typeface="Times New Roman" panose="02020603050405020304" pitchFamily="18" charset="0"/>
                        </a:rPr>
                        <a:t>16</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600" dirty="0">
                          <a:effectLst/>
                          <a:latin typeface="Times New Roman" panose="02020603050405020304" pitchFamily="18" charset="0"/>
                          <a:cs typeface="Times New Roman" panose="02020603050405020304" pitchFamily="18" charset="0"/>
                        </a:rPr>
                        <a:t>19</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600" dirty="0">
                          <a:effectLst/>
                          <a:latin typeface="Times New Roman" panose="02020603050405020304" pitchFamily="18" charset="0"/>
                          <a:cs typeface="Times New Roman" panose="02020603050405020304" pitchFamily="18" charset="0"/>
                        </a:rPr>
                        <a:t>0.525</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600">
                          <a:effectLst/>
                          <a:latin typeface="Times New Roman" panose="02020603050405020304" pitchFamily="18" charset="0"/>
                          <a:cs typeface="Times New Roman" panose="02020603050405020304" pitchFamily="18" charset="0"/>
                        </a:rPr>
                        <a:t>1.5039</a:t>
                      </a:r>
                      <a:endParaRPr lang="en-US"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600" dirty="0">
                          <a:effectLst/>
                          <a:latin typeface="Times New Roman" panose="02020603050405020304" pitchFamily="18" charset="0"/>
                          <a:cs typeface="Times New Roman" panose="02020603050405020304" pitchFamily="18" charset="0"/>
                        </a:rPr>
                        <a:t>1.554175</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271125283"/>
                  </a:ext>
                </a:extLst>
              </a:tr>
              <a:tr h="628130">
                <a:tc>
                  <a:txBody>
                    <a:bodyPr/>
                    <a:lstStyle/>
                    <a:p>
                      <a:pPr marL="0" marR="0" algn="ctr">
                        <a:lnSpc>
                          <a:spcPct val="107000"/>
                        </a:lnSpc>
                        <a:spcBef>
                          <a:spcPts val="0"/>
                        </a:spcBef>
                        <a:spcAft>
                          <a:spcPts val="0"/>
                        </a:spcAft>
                      </a:pPr>
                      <a:r>
                        <a:rPr lang="en-US" sz="1500" dirty="0">
                          <a:effectLst/>
                          <a:latin typeface="Times New Roman" panose="02020603050405020304" pitchFamily="18" charset="0"/>
                          <a:cs typeface="Times New Roman" panose="02020603050405020304" pitchFamily="18" charset="0"/>
                        </a:rPr>
                        <a:t>5</a:t>
                      </a:r>
                      <a:endParaRPr lang="en-US" sz="15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Bef>
                          <a:spcPts val="0"/>
                        </a:spcBef>
                        <a:spcAft>
                          <a:spcPts val="0"/>
                        </a:spcAft>
                      </a:pPr>
                      <a:r>
                        <a:rPr lang="en-US" sz="1600">
                          <a:effectLst/>
                          <a:latin typeface="Times New Roman" panose="02020603050405020304" pitchFamily="18" charset="0"/>
                          <a:cs typeface="Times New Roman" panose="02020603050405020304" pitchFamily="18" charset="0"/>
                        </a:rPr>
                        <a:t>12</a:t>
                      </a:r>
                      <a:endParaRPr lang="en-US"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600">
                          <a:effectLst/>
                          <a:latin typeface="Times New Roman" panose="02020603050405020304" pitchFamily="18" charset="0"/>
                          <a:cs typeface="Times New Roman" panose="02020603050405020304" pitchFamily="18" charset="0"/>
                        </a:rPr>
                        <a:t>0.18</a:t>
                      </a:r>
                      <a:endParaRPr lang="en-US"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600">
                          <a:effectLst/>
                          <a:latin typeface="Times New Roman" panose="02020603050405020304" pitchFamily="18" charset="0"/>
                          <a:cs typeface="Times New Roman" panose="02020603050405020304" pitchFamily="18" charset="0"/>
                        </a:rPr>
                        <a:t>15.5</a:t>
                      </a:r>
                      <a:endParaRPr lang="en-US"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600" dirty="0">
                          <a:effectLst/>
                          <a:latin typeface="Times New Roman" panose="02020603050405020304" pitchFamily="18" charset="0"/>
                          <a:cs typeface="Times New Roman" panose="02020603050405020304" pitchFamily="18" charset="0"/>
                        </a:rPr>
                        <a:t>20.5</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600" dirty="0">
                          <a:effectLst/>
                          <a:latin typeface="Times New Roman" panose="02020603050405020304" pitchFamily="18" charset="0"/>
                          <a:cs typeface="Times New Roman" panose="02020603050405020304" pitchFamily="18" charset="0"/>
                        </a:rPr>
                        <a:t>0.575</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600" dirty="0">
                          <a:effectLst/>
                          <a:latin typeface="Times New Roman" panose="02020603050405020304" pitchFamily="18" charset="0"/>
                          <a:cs typeface="Times New Roman" panose="02020603050405020304" pitchFamily="18" charset="0"/>
                        </a:rPr>
                        <a:t>1.4702</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600" dirty="0">
                          <a:effectLst/>
                          <a:latin typeface="Times New Roman" panose="02020603050405020304" pitchFamily="18" charset="0"/>
                          <a:cs typeface="Times New Roman" panose="02020603050405020304" pitchFamily="18" charset="0"/>
                        </a:rPr>
                        <a:t>1.703525</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593276073"/>
                  </a:ext>
                </a:extLst>
              </a:tr>
              <a:tr h="330894">
                <a:tc>
                  <a:txBody>
                    <a:bodyPr/>
                    <a:lstStyle/>
                    <a:p>
                      <a:pPr marL="0" marR="0" algn="ctr">
                        <a:lnSpc>
                          <a:spcPct val="107000"/>
                        </a:lnSpc>
                        <a:spcBef>
                          <a:spcPts val="0"/>
                        </a:spcBef>
                        <a:spcAft>
                          <a:spcPts val="0"/>
                        </a:spcAft>
                      </a:pPr>
                      <a:r>
                        <a:rPr lang="en-US" sz="1500" dirty="0">
                          <a:effectLst/>
                          <a:latin typeface="Times New Roman" panose="02020603050405020304" pitchFamily="18" charset="0"/>
                          <a:cs typeface="Times New Roman" panose="02020603050405020304" pitchFamily="18" charset="0"/>
                        </a:rPr>
                        <a:t>6</a:t>
                      </a:r>
                      <a:endParaRPr lang="en-US" sz="15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Bef>
                          <a:spcPts val="0"/>
                        </a:spcBef>
                        <a:spcAft>
                          <a:spcPts val="0"/>
                        </a:spcAft>
                      </a:pPr>
                      <a:r>
                        <a:rPr lang="en-US" sz="1600">
                          <a:effectLst/>
                          <a:latin typeface="Times New Roman" panose="02020603050405020304" pitchFamily="18" charset="0"/>
                          <a:cs typeface="Times New Roman" panose="02020603050405020304" pitchFamily="18" charset="0"/>
                        </a:rPr>
                        <a:t>14</a:t>
                      </a:r>
                      <a:endParaRPr lang="en-US"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600">
                          <a:effectLst/>
                          <a:latin typeface="Times New Roman" panose="02020603050405020304" pitchFamily="18" charset="0"/>
                          <a:cs typeface="Times New Roman" panose="02020603050405020304" pitchFamily="18" charset="0"/>
                        </a:rPr>
                        <a:t>0.16</a:t>
                      </a:r>
                      <a:endParaRPr lang="en-US"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600">
                          <a:effectLst/>
                          <a:latin typeface="Times New Roman" panose="02020603050405020304" pitchFamily="18" charset="0"/>
                          <a:cs typeface="Times New Roman" panose="02020603050405020304" pitchFamily="18" charset="0"/>
                        </a:rPr>
                        <a:t>15.5</a:t>
                      </a:r>
                      <a:endParaRPr lang="en-US"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600">
                          <a:effectLst/>
                          <a:latin typeface="Times New Roman" panose="02020603050405020304" pitchFamily="18" charset="0"/>
                          <a:cs typeface="Times New Roman" panose="02020603050405020304" pitchFamily="18" charset="0"/>
                        </a:rPr>
                        <a:t>20.5</a:t>
                      </a:r>
                      <a:endParaRPr lang="en-US" sz="16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600" dirty="0">
                          <a:effectLst/>
                          <a:latin typeface="Times New Roman" panose="02020603050405020304" pitchFamily="18" charset="0"/>
                          <a:cs typeface="Times New Roman" panose="02020603050405020304" pitchFamily="18" charset="0"/>
                        </a:rPr>
                        <a:t>0.6</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600" dirty="0">
                          <a:effectLst/>
                          <a:latin typeface="Times New Roman" panose="02020603050405020304" pitchFamily="18" charset="0"/>
                          <a:cs typeface="Times New Roman" panose="02020603050405020304" pitchFamily="18" charset="0"/>
                        </a:rPr>
                        <a:t>1.3961</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1600" dirty="0">
                          <a:effectLst/>
                          <a:latin typeface="Times New Roman" panose="02020603050405020304" pitchFamily="18" charset="0"/>
                          <a:cs typeface="Times New Roman" panose="02020603050405020304" pitchFamily="18" charset="0"/>
                        </a:rPr>
                        <a:t>1.8022</a:t>
                      </a:r>
                      <a:endParaRPr lang="en-US" sz="16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1749837651"/>
                  </a:ext>
                </a:extLst>
              </a:tr>
            </a:tbl>
          </a:graphicData>
        </a:graphic>
      </p:graphicFrame>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D03FB845-FD8B-255E-07AF-D11D0DC755CA}"/>
                  </a:ext>
                </a:extLst>
              </p:cNvPr>
              <p:cNvSpPr txBox="1"/>
              <p:nvPr/>
            </p:nvSpPr>
            <p:spPr>
              <a:xfrm>
                <a:off x="2773680" y="4661638"/>
                <a:ext cx="4785360" cy="1121204"/>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sSub>
                        <m:sSubPr>
                          <m:ctrlPr>
                            <a:rPr lang="en-US" i="1" smtClean="0">
                              <a:solidFill>
                                <a:srgbClr val="836967"/>
                              </a:solidFill>
                              <a:latin typeface="Cambria Math" panose="02040503050406030204" pitchFamily="18" charset="0"/>
                            </a:rPr>
                          </m:ctrlPr>
                        </m:sSubPr>
                        <m:e>
                          <m:acc>
                            <m:accPr>
                              <m:chr m:val="̇"/>
                              <m:ctrlPr>
                                <a:rPr lang="en-US" i="1">
                                  <a:solidFill>
                                    <a:srgbClr val="836967"/>
                                  </a:solidFill>
                                  <a:latin typeface="Cambria Math" panose="02040503050406030204" pitchFamily="18" charset="0"/>
                                </a:rPr>
                              </m:ctrlPr>
                            </m:accPr>
                            <m:e>
                              <m:r>
                                <a:rPr lang="en-US" i="1">
                                  <a:latin typeface="Cambria Math" panose="02040503050406030204" pitchFamily="18" charset="0"/>
                                </a:rPr>
                                <m:t>𝑚</m:t>
                              </m:r>
                            </m:e>
                          </m:acc>
                        </m:e>
                        <m:sub>
                          <m:r>
                            <a:rPr lang="en-US" i="1">
                              <a:latin typeface="Cambria Math" panose="02040503050406030204" pitchFamily="18" charset="0"/>
                            </a:rPr>
                            <m:t>𝑠</m:t>
                          </m:r>
                        </m:sub>
                      </m:sSub>
                      <m:d>
                        <m:dPr>
                          <m:ctrlPr>
                            <a:rPr lang="en-US" i="1">
                              <a:solidFill>
                                <a:srgbClr val="836967"/>
                              </a:solidFill>
                              <a:latin typeface="Cambria Math" panose="02040503050406030204" pitchFamily="18" charset="0"/>
                            </a:rPr>
                          </m:ctrlPr>
                        </m:dPr>
                        <m:e>
                          <m:f>
                            <m:fPr>
                              <m:ctrlPr>
                                <a:rPr lang="en-US" i="1">
                                  <a:solidFill>
                                    <a:srgbClr val="836967"/>
                                  </a:solidFill>
                                  <a:latin typeface="Cambria Math" panose="02040503050406030204" pitchFamily="18" charset="0"/>
                                </a:rPr>
                              </m:ctrlPr>
                            </m:fPr>
                            <m:num>
                              <m:r>
                                <a:rPr lang="en-US" i="1">
                                  <a:latin typeface="Cambria Math" panose="02040503050406030204" pitchFamily="18" charset="0"/>
                                </a:rPr>
                                <m:t>𝑘𝑔</m:t>
                              </m:r>
                            </m:num>
                            <m:den>
                              <m:r>
                                <a:rPr lang="en-US" i="1">
                                  <a:latin typeface="Cambria Math" panose="02040503050406030204" pitchFamily="18" charset="0"/>
                                </a:rPr>
                                <m:t>𝑠</m:t>
                              </m:r>
                            </m:den>
                          </m:f>
                        </m:e>
                      </m:d>
                      <m:r>
                        <a:rPr lang="en-US" i="0">
                          <a:latin typeface="Cambria Math" panose="02040503050406030204" pitchFamily="18" charset="0"/>
                        </a:rPr>
                        <m:t>=</m:t>
                      </m:r>
                      <m:sSub>
                        <m:sSubPr>
                          <m:ctrlPr>
                            <a:rPr lang="en-US" i="1">
                              <a:solidFill>
                                <a:srgbClr val="836967"/>
                              </a:solidFill>
                              <a:latin typeface="Cambria Math" panose="02040503050406030204" pitchFamily="18" charset="0"/>
                            </a:rPr>
                          </m:ctrlPr>
                        </m:sSubPr>
                        <m:e>
                          <m:acc>
                            <m:accPr>
                              <m:chr m:val="̇"/>
                              <m:ctrlPr>
                                <a:rPr lang="en-US" i="1">
                                  <a:solidFill>
                                    <a:srgbClr val="836967"/>
                                  </a:solidFill>
                                  <a:latin typeface="Cambria Math" panose="02040503050406030204" pitchFamily="18" charset="0"/>
                                </a:rPr>
                              </m:ctrlPr>
                            </m:accPr>
                            <m:e>
                              <m:r>
                                <a:rPr lang="en-US" i="1">
                                  <a:latin typeface="Cambria Math" panose="02040503050406030204" pitchFamily="18" charset="0"/>
                                </a:rPr>
                                <m:t>𝑚</m:t>
                              </m:r>
                            </m:e>
                          </m:acc>
                        </m:e>
                        <m:sub>
                          <m:r>
                            <a:rPr lang="en-US" i="1">
                              <a:latin typeface="Cambria Math" panose="02040503050406030204" pitchFamily="18" charset="0"/>
                            </a:rPr>
                            <m:t>𝐹𝐴</m:t>
                          </m:r>
                        </m:sub>
                      </m:sSub>
                      <m:r>
                        <a:rPr lang="en-US" i="0">
                          <a:latin typeface="Cambria Math" panose="02040503050406030204" pitchFamily="18" charset="0"/>
                        </a:rPr>
                        <m:t>=</m:t>
                      </m:r>
                      <m:f>
                        <m:fPr>
                          <m:ctrlPr>
                            <a:rPr lang="en-US" i="1">
                              <a:solidFill>
                                <a:srgbClr val="836967"/>
                              </a:solidFill>
                              <a:latin typeface="Cambria Math" panose="02040503050406030204" pitchFamily="18" charset="0"/>
                            </a:rPr>
                          </m:ctrlPr>
                        </m:fPr>
                        <m:num>
                          <m:sSub>
                            <m:sSubPr>
                              <m:ctrlPr>
                                <a:rPr lang="en-US" i="1">
                                  <a:solidFill>
                                    <a:srgbClr val="836967"/>
                                  </a:solidFill>
                                  <a:latin typeface="Cambria Math" panose="02040503050406030204" pitchFamily="18" charset="0"/>
                                </a:rPr>
                              </m:ctrlPr>
                            </m:sSubPr>
                            <m:e>
                              <m:r>
                                <a:rPr lang="en-US" i="1">
                                  <a:latin typeface="Cambria Math" panose="02040503050406030204" pitchFamily="18" charset="0"/>
                                </a:rPr>
                                <m:t>𝑄</m:t>
                              </m:r>
                            </m:e>
                            <m:sub>
                              <m:r>
                                <a:rPr lang="en-US" i="1">
                                  <a:latin typeface="Cambria Math" panose="02040503050406030204" pitchFamily="18" charset="0"/>
                                </a:rPr>
                                <m:t>𝑠</m:t>
                              </m:r>
                            </m:sub>
                          </m:sSub>
                          <m:d>
                            <m:dPr>
                              <m:ctrlPr>
                                <a:rPr lang="en-US" i="1">
                                  <a:solidFill>
                                    <a:srgbClr val="836967"/>
                                  </a:solidFill>
                                  <a:latin typeface="Cambria Math" panose="02040503050406030204" pitchFamily="18" charset="0"/>
                                </a:rPr>
                              </m:ctrlPr>
                            </m:dPr>
                            <m:e>
                              <m:f>
                                <m:fPr>
                                  <m:ctrlPr>
                                    <a:rPr lang="en-US" i="1">
                                      <a:solidFill>
                                        <a:srgbClr val="836967"/>
                                      </a:solidFill>
                                      <a:latin typeface="Cambria Math" panose="02040503050406030204" pitchFamily="18" charset="0"/>
                                    </a:rPr>
                                  </m:ctrlPr>
                                </m:fPr>
                                <m:num>
                                  <m:r>
                                    <a:rPr lang="en-US" i="1">
                                      <a:latin typeface="Cambria Math" panose="02040503050406030204" pitchFamily="18" charset="0"/>
                                    </a:rPr>
                                    <m:t>𝑘𝑊</m:t>
                                  </m:r>
                                </m:num>
                                <m:den>
                                  <m:sSup>
                                    <m:sSupPr>
                                      <m:ctrlPr>
                                        <a:rPr lang="en-US" i="1">
                                          <a:solidFill>
                                            <a:srgbClr val="836967"/>
                                          </a:solidFill>
                                          <a:latin typeface="Cambria Math" panose="02040503050406030204" pitchFamily="18" charset="0"/>
                                        </a:rPr>
                                      </m:ctrlPr>
                                    </m:sSupPr>
                                    <m:e>
                                      <m:r>
                                        <a:rPr lang="en-US" i="1">
                                          <a:latin typeface="Cambria Math" panose="02040503050406030204" pitchFamily="18" charset="0"/>
                                        </a:rPr>
                                        <m:t>𝑚</m:t>
                                      </m:r>
                                    </m:e>
                                    <m:sup>
                                      <m:r>
                                        <a:rPr lang="en-US" i="0">
                                          <a:latin typeface="Cambria Math" panose="02040503050406030204" pitchFamily="18" charset="0"/>
                                        </a:rPr>
                                        <m:t>2</m:t>
                                      </m:r>
                                    </m:sup>
                                  </m:sSup>
                                </m:den>
                              </m:f>
                            </m:e>
                          </m:d>
                          <m:r>
                            <a:rPr lang="en-US" i="0">
                              <a:latin typeface="Cambria Math" panose="02040503050406030204" pitchFamily="18" charset="0"/>
                            </a:rPr>
                            <m:t>∗</m:t>
                          </m:r>
                          <m:sSub>
                            <m:sSubPr>
                              <m:ctrlPr>
                                <a:rPr lang="en-US" i="1">
                                  <a:solidFill>
                                    <a:srgbClr val="836967"/>
                                  </a:solidFill>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𝑟𝑜𝑜𝑚</m:t>
                              </m:r>
                            </m:sub>
                          </m:sSub>
                          <m:d>
                            <m:dPr>
                              <m:ctrlPr>
                                <a:rPr lang="en-US" i="1">
                                  <a:solidFill>
                                    <a:srgbClr val="836967"/>
                                  </a:solidFill>
                                  <a:latin typeface="Cambria Math" panose="02040503050406030204" pitchFamily="18" charset="0"/>
                                </a:rPr>
                              </m:ctrlPr>
                            </m:dPr>
                            <m:e>
                              <m:sSup>
                                <m:sSupPr>
                                  <m:ctrlPr>
                                    <a:rPr lang="en-US" i="1">
                                      <a:solidFill>
                                        <a:srgbClr val="836967"/>
                                      </a:solidFill>
                                      <a:latin typeface="Cambria Math" panose="02040503050406030204" pitchFamily="18" charset="0"/>
                                    </a:rPr>
                                  </m:ctrlPr>
                                </m:sSupPr>
                                <m:e>
                                  <m:r>
                                    <a:rPr lang="en-US" i="1">
                                      <a:latin typeface="Cambria Math" panose="02040503050406030204" pitchFamily="18" charset="0"/>
                                    </a:rPr>
                                    <m:t>𝑚</m:t>
                                  </m:r>
                                </m:e>
                                <m:sup>
                                  <m:r>
                                    <a:rPr lang="en-US" i="0">
                                      <a:latin typeface="Cambria Math" panose="02040503050406030204" pitchFamily="18" charset="0"/>
                                    </a:rPr>
                                    <m:t>2</m:t>
                                  </m:r>
                                </m:sup>
                              </m:sSup>
                            </m:e>
                          </m:d>
                        </m:num>
                        <m:den>
                          <m:r>
                            <a:rPr lang="en-US" i="1">
                              <a:latin typeface="Cambria Math" panose="02040503050406030204" pitchFamily="18" charset="0"/>
                            </a:rPr>
                            <m:t>𝑃</m:t>
                          </m:r>
                          <m:d>
                            <m:dPr>
                              <m:ctrlPr>
                                <a:rPr lang="en-US" i="1">
                                  <a:latin typeface="Cambria Math" panose="02040503050406030204" pitchFamily="18" charset="0"/>
                                </a:rPr>
                              </m:ctrlPr>
                            </m:dPr>
                            <m:e>
                              <m:f>
                                <m:fPr>
                                  <m:ctrlPr>
                                    <a:rPr lang="en-US" i="1">
                                      <a:solidFill>
                                        <a:srgbClr val="836967"/>
                                      </a:solidFill>
                                      <a:latin typeface="Cambria Math" panose="02040503050406030204" pitchFamily="18" charset="0"/>
                                    </a:rPr>
                                  </m:ctrlPr>
                                </m:fPr>
                                <m:num>
                                  <m:r>
                                    <a:rPr lang="en-US" i="1">
                                      <a:latin typeface="Cambria Math" panose="02040503050406030204" pitchFamily="18" charset="0"/>
                                    </a:rPr>
                                    <m:t>𝑘𝐽</m:t>
                                  </m:r>
                                </m:num>
                                <m:den>
                                  <m:r>
                                    <a:rPr lang="en-US" i="1">
                                      <a:latin typeface="Cambria Math" panose="02040503050406030204" pitchFamily="18" charset="0"/>
                                    </a:rPr>
                                    <m:t>𝐾𝑔</m:t>
                                  </m:r>
                                </m:den>
                              </m:f>
                            </m:e>
                          </m:d>
                        </m:den>
                      </m:f>
                    </m:oMath>
                  </m:oMathPara>
                </a14:m>
                <a:endParaRPr lang="en-US" dirty="0"/>
              </a:p>
            </p:txBody>
          </p:sp>
        </mc:Choice>
        <mc:Fallback xmlns="">
          <p:sp>
            <p:nvSpPr>
              <p:cNvPr id="5" name="TextBox 4">
                <a:extLst>
                  <a:ext uri="{FF2B5EF4-FFF2-40B4-BE49-F238E27FC236}">
                    <a16:creationId xmlns:a16="http://schemas.microsoft.com/office/drawing/2014/main" id="{D03FB845-FD8B-255E-07AF-D11D0DC755CA}"/>
                  </a:ext>
                </a:extLst>
              </p:cNvPr>
              <p:cNvSpPr txBox="1">
                <a:spLocks noRot="1" noChangeAspect="1" noMove="1" noResize="1" noEditPoints="1" noAdjustHandles="1" noChangeArrowheads="1" noChangeShapeType="1" noTextEdit="1"/>
              </p:cNvSpPr>
              <p:nvPr/>
            </p:nvSpPr>
            <p:spPr>
              <a:xfrm>
                <a:off x="2773680" y="4661638"/>
                <a:ext cx="4785360" cy="1121204"/>
              </a:xfrm>
              <a:prstGeom prst="rect">
                <a:avLst/>
              </a:prstGeom>
              <a:blipFill>
                <a:blip r:embed="rId2"/>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TextBox 5">
                <a:extLst>
                  <a:ext uri="{FF2B5EF4-FFF2-40B4-BE49-F238E27FC236}">
                    <a16:creationId xmlns:a16="http://schemas.microsoft.com/office/drawing/2014/main" id="{DE57B53E-6002-5401-6A13-E65CADC86CB2}"/>
                  </a:ext>
                </a:extLst>
              </p:cNvPr>
              <p:cNvSpPr txBox="1"/>
              <p:nvPr/>
            </p:nvSpPr>
            <p:spPr>
              <a:xfrm>
                <a:off x="1556304" y="4177013"/>
                <a:ext cx="8402320"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The supplied mass flow rate </a:t>
                </a:r>
                <a14:m>
                  <m:oMath xmlns:m="http://schemas.openxmlformats.org/officeDocument/2006/math">
                    <m:sSub>
                      <m:sSubPr>
                        <m:ctrlPr>
                          <a:rPr lang="en-US" sz="2000" i="1" smtClean="0">
                            <a:solidFill>
                              <a:srgbClr val="836967"/>
                            </a:solidFill>
                            <a:latin typeface="Cambria Math" panose="02040503050406030204" pitchFamily="18" charset="0"/>
                          </a:rPr>
                        </m:ctrlPr>
                      </m:sSubPr>
                      <m:e>
                        <m:acc>
                          <m:accPr>
                            <m:chr m:val="̇"/>
                            <m:ctrlPr>
                              <a:rPr lang="en-US" sz="2000" i="1">
                                <a:solidFill>
                                  <a:srgbClr val="836967"/>
                                </a:solidFill>
                                <a:latin typeface="Cambria Math" panose="02040503050406030204" pitchFamily="18" charset="0"/>
                              </a:rPr>
                            </m:ctrlPr>
                          </m:accPr>
                          <m:e>
                            <m:r>
                              <a:rPr lang="en-US" sz="2000" i="1">
                                <a:latin typeface="Cambria Math" panose="02040503050406030204" pitchFamily="18" charset="0"/>
                              </a:rPr>
                              <m:t>𝑚</m:t>
                            </m:r>
                          </m:e>
                        </m:acc>
                      </m:e>
                      <m:sub>
                        <m:r>
                          <a:rPr lang="en-US" sz="2000" i="1">
                            <a:latin typeface="Cambria Math" panose="02040503050406030204" pitchFamily="18" charset="0"/>
                          </a:rPr>
                          <m:t>𝑠</m:t>
                        </m:r>
                      </m:sub>
                    </m:sSub>
                  </m:oMath>
                </a14:m>
                <a:r>
                  <a:rPr lang="en-US" sz="2000" dirty="0">
                    <a:latin typeface="Times New Roman" panose="02020603050405020304" pitchFamily="18" charset="0"/>
                    <a:cs typeface="Times New Roman" panose="02020603050405020304" pitchFamily="18" charset="0"/>
                  </a:rPr>
                  <a:t> can be calculated using the below formula:</a:t>
                </a:r>
              </a:p>
            </p:txBody>
          </p:sp>
        </mc:Choice>
        <mc:Fallback xmlns="">
          <p:sp>
            <p:nvSpPr>
              <p:cNvPr id="6" name="TextBox 5">
                <a:extLst>
                  <a:ext uri="{FF2B5EF4-FFF2-40B4-BE49-F238E27FC236}">
                    <a16:creationId xmlns:a16="http://schemas.microsoft.com/office/drawing/2014/main" id="{DE57B53E-6002-5401-6A13-E65CADC86CB2}"/>
                  </a:ext>
                </a:extLst>
              </p:cNvPr>
              <p:cNvSpPr txBox="1">
                <a:spLocks noRot="1" noChangeAspect="1" noMove="1" noResize="1" noEditPoints="1" noAdjustHandles="1" noChangeArrowheads="1" noChangeShapeType="1" noTextEdit="1"/>
              </p:cNvSpPr>
              <p:nvPr/>
            </p:nvSpPr>
            <p:spPr>
              <a:xfrm>
                <a:off x="1556304" y="4177013"/>
                <a:ext cx="8402320" cy="400110"/>
              </a:xfrm>
              <a:prstGeom prst="rect">
                <a:avLst/>
              </a:prstGeom>
              <a:blipFill>
                <a:blip r:embed="rId3"/>
                <a:stretch>
                  <a:fillRect l="-725" t="-7576" b="-25758"/>
                </a:stretch>
              </a:blipFill>
            </p:spPr>
            <p:txBody>
              <a:bodyPr/>
              <a:lstStyle/>
              <a:p>
                <a:r>
                  <a:rPr lang="en-US">
                    <a:noFill/>
                  </a:rPr>
                  <a:t> </a:t>
                </a:r>
              </a:p>
            </p:txBody>
          </p:sp>
        </mc:Fallback>
      </mc:AlternateContent>
    </p:spTree>
    <p:extLst>
      <p:ext uri="{BB962C8B-B14F-4D97-AF65-F5344CB8AC3E}">
        <p14:creationId xmlns:p14="http://schemas.microsoft.com/office/powerpoint/2010/main" val="8134275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DCE5FA32-8F12-18D6-65B9-5E4D13B191BF}"/>
                  </a:ext>
                </a:extLst>
              </p:cNvPr>
              <p:cNvSpPr txBox="1"/>
              <p:nvPr/>
            </p:nvSpPr>
            <p:spPr>
              <a:xfrm>
                <a:off x="1757680" y="548640"/>
                <a:ext cx="9519920" cy="2510239"/>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The exhaust temperature </a:t>
                </a:r>
                <a14:m>
                  <m:oMath xmlns:m="http://schemas.openxmlformats.org/officeDocument/2006/math">
                    <m:sSub>
                      <m:sSubPr>
                        <m:ctrlPr>
                          <a:rPr lang="en-US" sz="1800" i="1" smtClea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𝑇</m:t>
                        </m:r>
                      </m:e>
                      <m:sub>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𝑟</m:t>
                        </m:r>
                      </m:sub>
                    </m:sSub>
                  </m:oMath>
                </a14:m>
                <a:r>
                  <a:rPr lang="en-US" sz="2000" dirty="0">
                    <a:latin typeface="Times New Roman" panose="02020603050405020304" pitchFamily="18" charset="0"/>
                    <a:cs typeface="Times New Roman" panose="02020603050405020304" pitchFamily="18" charset="0"/>
                  </a:rPr>
                  <a:t> can be calculated using the below formula:</a:t>
                </a:r>
              </a:p>
              <a:p>
                <a:pPr/>
                <a14:m>
                  <m:oMathPara xmlns:m="http://schemas.openxmlformats.org/officeDocument/2006/math">
                    <m:oMathParaPr>
                      <m:jc m:val="centerGroup"/>
                    </m:oMathParaPr>
                    <m:oMath xmlns:m="http://schemas.openxmlformats.org/officeDocument/2006/math">
                      <m:sSub>
                        <m:sSubPr>
                          <m:ctrlPr>
                            <a:rPr lang="en-US" sz="1800" i="1" smtClea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𝑇</m:t>
                          </m:r>
                        </m:e>
                        <m:sub>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𝑟</m:t>
                          </m:r>
                        </m:sub>
                      </m:sSub>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18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𝑇</m:t>
                          </m:r>
                        </m:e>
                        <m:sub>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𝑠</m:t>
                          </m:r>
                        </m:sub>
                      </m:sSub>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en-US" sz="18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𝑑𝑇</m:t>
                          </m:r>
                        </m:num>
                        <m:den>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𝑑𝑍</m:t>
                          </m:r>
                        </m:den>
                      </m:f>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en-US" sz="18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3</m:t>
                          </m:r>
                        </m:num>
                        <m:den>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4</m:t>
                          </m:r>
                          <m:sSub>
                            <m:sSubPr>
                              <m:ctrlPr>
                                <a:rPr lang="en-US" sz="18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𝐻</m:t>
                              </m:r>
                            </m:e>
                            <m:sub>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𝑟</m:t>
                              </m:r>
                            </m:sub>
                          </m:sSub>
                        </m:den>
                      </m:f>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m:t>
                      </m:r>
                    </m:oMath>
                  </m:oMathPara>
                </a14:m>
                <a:endParaRPr lang="en-US" sz="1800" dirty="0">
                  <a:effectLst/>
                  <a:latin typeface="Calibri" panose="020F0502020204030204" pitchFamily="34" charset="0"/>
                  <a:ea typeface="Calibri" panose="020F0502020204030204" pitchFamily="34" charset="0"/>
                  <a:cs typeface="Arial" panose="020B0604020202020204" pitchFamily="34" charset="0"/>
                </a:endParaRPr>
              </a:p>
              <a:p>
                <a:r>
                  <a:rPr lang="en-US" sz="2000" dirty="0">
                    <a:latin typeface="Times New Roman" panose="02020603050405020304" pitchFamily="18" charset="0"/>
                    <a:cs typeface="Times New Roman" panose="02020603050405020304" pitchFamily="18" charset="0"/>
                  </a:rPr>
                  <a:t>Where </a:t>
                </a:r>
                <a:r>
                  <a:rPr lang="en-US" sz="2000" dirty="0" err="1">
                    <a:latin typeface="Times New Roman" panose="02020603050405020304" pitchFamily="18" charset="0"/>
                    <a:cs typeface="Times New Roman" panose="02020603050405020304" pitchFamily="18" charset="0"/>
                  </a:rPr>
                  <a:t>Hr</a:t>
                </a:r>
                <a:r>
                  <a:rPr lang="en-US" sz="2000" dirty="0">
                    <a:latin typeface="Times New Roman" panose="02020603050405020304" pitchFamily="18" charset="0"/>
                    <a:cs typeface="Times New Roman" panose="02020603050405020304" pitchFamily="18" charset="0"/>
                  </a:rPr>
                  <a:t> is the height of the room=3m</a:t>
                </a: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p:txBody>
          </p:sp>
        </mc:Choice>
        <mc:Fallback xmlns="">
          <p:sp>
            <p:nvSpPr>
              <p:cNvPr id="3" name="TextBox 2">
                <a:extLst>
                  <a:ext uri="{FF2B5EF4-FFF2-40B4-BE49-F238E27FC236}">
                    <a16:creationId xmlns:a16="http://schemas.microsoft.com/office/drawing/2014/main" id="{DCE5FA32-8F12-18D6-65B9-5E4D13B191BF}"/>
                  </a:ext>
                </a:extLst>
              </p:cNvPr>
              <p:cNvSpPr txBox="1">
                <a:spLocks noRot="1" noChangeAspect="1" noMove="1" noResize="1" noEditPoints="1" noAdjustHandles="1" noChangeArrowheads="1" noChangeShapeType="1" noTextEdit="1"/>
              </p:cNvSpPr>
              <p:nvPr/>
            </p:nvSpPr>
            <p:spPr>
              <a:xfrm>
                <a:off x="1757680" y="548640"/>
                <a:ext cx="9519920" cy="2510239"/>
              </a:xfrm>
              <a:prstGeom prst="rect">
                <a:avLst/>
              </a:prstGeom>
              <a:blipFill>
                <a:blip r:embed="rId2"/>
                <a:stretch>
                  <a:fillRect l="-640" t="-1214"/>
                </a:stretch>
              </a:blipFill>
            </p:spPr>
            <p:txBody>
              <a:bodyPr/>
              <a:lstStyle/>
              <a:p>
                <a:r>
                  <a:rPr lang="en-US">
                    <a:noFill/>
                  </a:rPr>
                  <a:t> </a:t>
                </a:r>
              </a:p>
            </p:txBody>
          </p:sp>
        </mc:Fallback>
      </mc:AlternateContent>
      <p:graphicFrame>
        <p:nvGraphicFramePr>
          <p:cNvPr id="4" name="Table 3">
            <a:extLst>
              <a:ext uri="{FF2B5EF4-FFF2-40B4-BE49-F238E27FC236}">
                <a16:creationId xmlns:a16="http://schemas.microsoft.com/office/drawing/2014/main" id="{749CF963-5EC9-9325-6F8D-70975675A114}"/>
              </a:ext>
            </a:extLst>
          </p:cNvPr>
          <p:cNvGraphicFramePr>
            <a:graphicFrameLocks noGrp="1"/>
          </p:cNvGraphicFramePr>
          <p:nvPr>
            <p:extLst>
              <p:ext uri="{D42A27DB-BD31-4B8C-83A1-F6EECF244321}">
                <p14:modId xmlns:p14="http://schemas.microsoft.com/office/powerpoint/2010/main" val="23228303"/>
              </p:ext>
            </p:extLst>
          </p:nvPr>
        </p:nvGraphicFramePr>
        <p:xfrm>
          <a:off x="1844436" y="2326216"/>
          <a:ext cx="8503128" cy="3586904"/>
        </p:xfrm>
        <a:graphic>
          <a:graphicData uri="http://schemas.openxmlformats.org/drawingml/2006/table">
            <a:tbl>
              <a:tblPr firstRow="1" firstCol="1" bandRow="1">
                <a:tableStyleId>{5C22544A-7EE6-4342-B048-85BDC9FD1C3A}</a:tableStyleId>
              </a:tblPr>
              <a:tblGrid>
                <a:gridCol w="1270983">
                  <a:extLst>
                    <a:ext uri="{9D8B030D-6E8A-4147-A177-3AD203B41FA5}">
                      <a16:colId xmlns:a16="http://schemas.microsoft.com/office/drawing/2014/main" val="2328261784"/>
                    </a:ext>
                  </a:extLst>
                </a:gridCol>
                <a:gridCol w="1206188">
                  <a:extLst>
                    <a:ext uri="{9D8B030D-6E8A-4147-A177-3AD203B41FA5}">
                      <a16:colId xmlns:a16="http://schemas.microsoft.com/office/drawing/2014/main" val="1236684226"/>
                    </a:ext>
                  </a:extLst>
                </a:gridCol>
                <a:gridCol w="1216157">
                  <a:extLst>
                    <a:ext uri="{9D8B030D-6E8A-4147-A177-3AD203B41FA5}">
                      <a16:colId xmlns:a16="http://schemas.microsoft.com/office/drawing/2014/main" val="3531464650"/>
                    </a:ext>
                  </a:extLst>
                </a:gridCol>
                <a:gridCol w="2387455">
                  <a:extLst>
                    <a:ext uri="{9D8B030D-6E8A-4147-A177-3AD203B41FA5}">
                      <a16:colId xmlns:a16="http://schemas.microsoft.com/office/drawing/2014/main" val="705831180"/>
                    </a:ext>
                  </a:extLst>
                </a:gridCol>
                <a:gridCol w="1216157">
                  <a:extLst>
                    <a:ext uri="{9D8B030D-6E8A-4147-A177-3AD203B41FA5}">
                      <a16:colId xmlns:a16="http://schemas.microsoft.com/office/drawing/2014/main" val="221385461"/>
                    </a:ext>
                  </a:extLst>
                </a:gridCol>
                <a:gridCol w="1206188">
                  <a:extLst>
                    <a:ext uri="{9D8B030D-6E8A-4147-A177-3AD203B41FA5}">
                      <a16:colId xmlns:a16="http://schemas.microsoft.com/office/drawing/2014/main" val="2298655506"/>
                    </a:ext>
                  </a:extLst>
                </a:gridCol>
              </a:tblGrid>
              <a:tr h="341516">
                <a:tc>
                  <a:txBody>
                    <a:bodyPr/>
                    <a:lstStyle/>
                    <a:p>
                      <a:pPr marL="0" marR="0" algn="ctr">
                        <a:lnSpc>
                          <a:spcPct val="107000"/>
                        </a:lnSpc>
                        <a:spcBef>
                          <a:spcPts val="0"/>
                        </a:spcBef>
                        <a:spcAft>
                          <a:spcPts val="0"/>
                        </a:spcAft>
                      </a:pPr>
                      <a:r>
                        <a:rPr lang="en-US" sz="2000" dirty="0">
                          <a:effectLst/>
                          <a:latin typeface="Times New Roman" panose="02020603050405020304" pitchFamily="18" charset="0"/>
                          <a:cs typeface="Times New Roman" panose="02020603050405020304" pitchFamily="18" charset="0"/>
                        </a:rPr>
                        <a:t>Design</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nSpc>
                          <a:spcPct val="107000"/>
                        </a:lnSpc>
                        <a:spcBef>
                          <a:spcPts val="0"/>
                        </a:spcBef>
                        <a:spcAft>
                          <a:spcPts val="0"/>
                        </a:spcAft>
                      </a:pPr>
                      <a:r>
                        <a:rPr lang="en-US" sz="2000">
                          <a:effectLst/>
                          <a:latin typeface="Times New Roman" panose="02020603050405020304" pitchFamily="18" charset="0"/>
                          <a:cs typeface="Times New Roman" panose="02020603050405020304" pitchFamily="18" charset="0"/>
                        </a:rPr>
                        <a:t>P</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nSpc>
                          <a:spcPct val="107000"/>
                        </a:lnSpc>
                        <a:spcBef>
                          <a:spcPts val="0"/>
                        </a:spcBef>
                        <a:spcAft>
                          <a:spcPts val="0"/>
                        </a:spcAft>
                      </a:pPr>
                      <a:r>
                        <a:rPr lang="en-US" sz="2000">
                          <a:effectLst/>
                          <a:latin typeface="Times New Roman" panose="02020603050405020304" pitchFamily="18" charset="0"/>
                          <a:cs typeface="Times New Roman" panose="02020603050405020304" pitchFamily="18" charset="0"/>
                        </a:rPr>
                        <a:t>mdot</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nSpc>
                          <a:spcPct val="107000"/>
                        </a:lnSpc>
                        <a:spcBef>
                          <a:spcPts val="0"/>
                        </a:spcBef>
                        <a:spcAft>
                          <a:spcPts val="0"/>
                        </a:spcAft>
                      </a:pPr>
                      <a:r>
                        <a:rPr lang="en-US" sz="2000">
                          <a:effectLst/>
                          <a:latin typeface="Times New Roman" panose="02020603050405020304" pitchFamily="18" charset="0"/>
                          <a:cs typeface="Times New Roman" panose="02020603050405020304" pitchFamily="18" charset="0"/>
                        </a:rPr>
                        <a:t>Ts</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nSpc>
                          <a:spcPct val="107000"/>
                        </a:lnSpc>
                        <a:spcBef>
                          <a:spcPts val="0"/>
                        </a:spcBef>
                        <a:spcAft>
                          <a:spcPts val="0"/>
                        </a:spcAft>
                      </a:pPr>
                      <a:r>
                        <a:rPr lang="en-US" sz="2000">
                          <a:effectLst/>
                          <a:latin typeface="Times New Roman" panose="02020603050405020304" pitchFamily="18" charset="0"/>
                          <a:cs typeface="Times New Roman" panose="02020603050405020304" pitchFamily="18" charset="0"/>
                        </a:rPr>
                        <a:t>dT/dZ</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nSpc>
                          <a:spcPct val="107000"/>
                        </a:lnSpc>
                        <a:spcBef>
                          <a:spcPts val="0"/>
                        </a:spcBef>
                        <a:spcAft>
                          <a:spcPts val="0"/>
                        </a:spcAft>
                      </a:pPr>
                      <a:r>
                        <a:rPr lang="en-US" sz="2000" dirty="0">
                          <a:effectLst/>
                          <a:latin typeface="Times New Roman" panose="02020603050405020304" pitchFamily="18" charset="0"/>
                          <a:cs typeface="Times New Roman" panose="02020603050405020304" pitchFamily="18" charset="0"/>
                        </a:rPr>
                        <a:t>Tr</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3299813843"/>
                  </a:ext>
                </a:extLst>
              </a:tr>
              <a:tr h="540898">
                <a:tc>
                  <a:txBody>
                    <a:bodyPr/>
                    <a:lstStyle/>
                    <a:p>
                      <a:pPr marL="0" marR="0" algn="ctr">
                        <a:lnSpc>
                          <a:spcPct val="107000"/>
                        </a:lnSpc>
                        <a:spcBef>
                          <a:spcPts val="0"/>
                        </a:spcBef>
                        <a:spcAft>
                          <a:spcPts val="0"/>
                        </a:spcAft>
                      </a:pPr>
                      <a:r>
                        <a:rPr lang="en-US" sz="2000">
                          <a:effectLst/>
                          <a:latin typeface="Times New Roman" panose="02020603050405020304" pitchFamily="18" charset="0"/>
                          <a:cs typeface="Times New Roman" panose="02020603050405020304" pitchFamily="18" charset="0"/>
                        </a:rPr>
                        <a:t>1</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Bef>
                          <a:spcPts val="0"/>
                        </a:spcBef>
                        <a:spcAft>
                          <a:spcPts val="0"/>
                        </a:spcAft>
                      </a:pPr>
                      <a:r>
                        <a:rPr lang="en-US" sz="2000" dirty="0">
                          <a:effectLst/>
                          <a:latin typeface="Times New Roman" panose="02020603050405020304" pitchFamily="18" charset="0"/>
                          <a:cs typeface="Times New Roman" panose="02020603050405020304" pitchFamily="18" charset="0"/>
                        </a:rPr>
                        <a:t>4</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2000">
                          <a:effectLst/>
                          <a:latin typeface="Times New Roman" panose="02020603050405020304" pitchFamily="18" charset="0"/>
                          <a:cs typeface="Times New Roman" panose="02020603050405020304" pitchFamily="18" charset="0"/>
                        </a:rPr>
                        <a:t>0.55</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2000">
                          <a:effectLst/>
                          <a:latin typeface="Times New Roman" panose="02020603050405020304" pitchFamily="18" charset="0"/>
                          <a:cs typeface="Times New Roman" panose="02020603050405020304" pitchFamily="18" charset="0"/>
                        </a:rPr>
                        <a:t>18</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2000">
                          <a:effectLst/>
                          <a:latin typeface="Times New Roman" panose="02020603050405020304" pitchFamily="18" charset="0"/>
                          <a:cs typeface="Times New Roman" panose="02020603050405020304" pitchFamily="18" charset="0"/>
                        </a:rPr>
                        <a:t>1.1621</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2000" dirty="0">
                          <a:effectLst/>
                          <a:latin typeface="Times New Roman" panose="02020603050405020304" pitchFamily="18" charset="0"/>
                          <a:cs typeface="Times New Roman" panose="02020603050405020304" pitchFamily="18" charset="0"/>
                        </a:rPr>
                        <a:t>20.61473</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457767664"/>
                  </a:ext>
                </a:extLst>
              </a:tr>
              <a:tr h="540898">
                <a:tc>
                  <a:txBody>
                    <a:bodyPr/>
                    <a:lstStyle/>
                    <a:p>
                      <a:pPr marL="0" marR="0" algn="ctr">
                        <a:lnSpc>
                          <a:spcPct val="107000"/>
                        </a:lnSpc>
                        <a:spcBef>
                          <a:spcPts val="0"/>
                        </a:spcBef>
                        <a:spcAft>
                          <a:spcPts val="0"/>
                        </a:spcAft>
                      </a:pPr>
                      <a:r>
                        <a:rPr lang="en-US" sz="2000">
                          <a:effectLst/>
                          <a:latin typeface="Times New Roman" panose="02020603050405020304" pitchFamily="18" charset="0"/>
                          <a:cs typeface="Times New Roman" panose="02020603050405020304" pitchFamily="18" charset="0"/>
                        </a:rPr>
                        <a:t>2</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Bef>
                          <a:spcPts val="0"/>
                        </a:spcBef>
                        <a:spcAft>
                          <a:spcPts val="0"/>
                        </a:spcAft>
                      </a:pPr>
                      <a:r>
                        <a:rPr lang="en-US" sz="2000" dirty="0">
                          <a:effectLst/>
                          <a:latin typeface="Times New Roman" panose="02020603050405020304" pitchFamily="18" charset="0"/>
                          <a:cs typeface="Times New Roman" panose="02020603050405020304" pitchFamily="18" charset="0"/>
                        </a:rPr>
                        <a:t>6</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2000">
                          <a:effectLst/>
                          <a:latin typeface="Times New Roman" panose="02020603050405020304" pitchFamily="18" charset="0"/>
                          <a:cs typeface="Times New Roman" panose="02020603050405020304" pitchFamily="18" charset="0"/>
                        </a:rPr>
                        <a:t>0.37</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2000">
                          <a:effectLst/>
                          <a:latin typeface="Times New Roman" panose="02020603050405020304" pitchFamily="18" charset="0"/>
                          <a:cs typeface="Times New Roman" panose="02020603050405020304" pitchFamily="18" charset="0"/>
                        </a:rPr>
                        <a:t>18</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2000">
                          <a:effectLst/>
                          <a:latin typeface="Times New Roman" panose="02020603050405020304" pitchFamily="18" charset="0"/>
                          <a:cs typeface="Times New Roman" panose="02020603050405020304" pitchFamily="18" charset="0"/>
                        </a:rPr>
                        <a:t>1.25545</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2000" dirty="0">
                          <a:effectLst/>
                          <a:latin typeface="Times New Roman" panose="02020603050405020304" pitchFamily="18" charset="0"/>
                          <a:cs typeface="Times New Roman" panose="02020603050405020304" pitchFamily="18" charset="0"/>
                        </a:rPr>
                        <a:t>20.82476</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694623695"/>
                  </a:ext>
                </a:extLst>
              </a:tr>
              <a:tr h="540898">
                <a:tc>
                  <a:txBody>
                    <a:bodyPr/>
                    <a:lstStyle/>
                    <a:p>
                      <a:pPr marL="0" marR="0" algn="ctr">
                        <a:lnSpc>
                          <a:spcPct val="107000"/>
                        </a:lnSpc>
                        <a:spcBef>
                          <a:spcPts val="0"/>
                        </a:spcBef>
                        <a:spcAft>
                          <a:spcPts val="0"/>
                        </a:spcAft>
                      </a:pPr>
                      <a:r>
                        <a:rPr lang="en-US" sz="2000">
                          <a:effectLst/>
                          <a:latin typeface="Times New Roman" panose="02020603050405020304" pitchFamily="18" charset="0"/>
                          <a:cs typeface="Times New Roman" panose="02020603050405020304" pitchFamily="18" charset="0"/>
                        </a:rPr>
                        <a:t>3</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Bef>
                          <a:spcPts val="0"/>
                        </a:spcBef>
                        <a:spcAft>
                          <a:spcPts val="0"/>
                        </a:spcAft>
                      </a:pPr>
                      <a:r>
                        <a:rPr lang="en-US" sz="2000">
                          <a:effectLst/>
                          <a:latin typeface="Times New Roman" panose="02020603050405020304" pitchFamily="18" charset="0"/>
                          <a:cs typeface="Times New Roman" panose="02020603050405020304" pitchFamily="18" charset="0"/>
                        </a:rPr>
                        <a:t>8</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2000" dirty="0">
                          <a:effectLst/>
                          <a:latin typeface="Times New Roman" panose="02020603050405020304" pitchFamily="18" charset="0"/>
                          <a:cs typeface="Times New Roman" panose="02020603050405020304" pitchFamily="18" charset="0"/>
                        </a:rPr>
                        <a:t>0.28</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2000">
                          <a:effectLst/>
                          <a:latin typeface="Times New Roman" panose="02020603050405020304" pitchFamily="18" charset="0"/>
                          <a:cs typeface="Times New Roman" panose="02020603050405020304" pitchFamily="18" charset="0"/>
                        </a:rPr>
                        <a:t>19</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2000">
                          <a:effectLst/>
                          <a:latin typeface="Times New Roman" panose="02020603050405020304" pitchFamily="18" charset="0"/>
                          <a:cs typeface="Times New Roman" panose="02020603050405020304" pitchFamily="18" charset="0"/>
                        </a:rPr>
                        <a:t>1.460825</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2000" dirty="0">
                          <a:effectLst/>
                          <a:latin typeface="Times New Roman" panose="02020603050405020304" pitchFamily="18" charset="0"/>
                          <a:cs typeface="Times New Roman" panose="02020603050405020304" pitchFamily="18" charset="0"/>
                        </a:rPr>
                        <a:t>22.28686</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996666265"/>
                  </a:ext>
                </a:extLst>
              </a:tr>
              <a:tr h="540898">
                <a:tc>
                  <a:txBody>
                    <a:bodyPr/>
                    <a:lstStyle/>
                    <a:p>
                      <a:pPr marL="0" marR="0" algn="ctr">
                        <a:lnSpc>
                          <a:spcPct val="107000"/>
                        </a:lnSpc>
                        <a:spcBef>
                          <a:spcPts val="0"/>
                        </a:spcBef>
                        <a:spcAft>
                          <a:spcPts val="0"/>
                        </a:spcAft>
                      </a:pPr>
                      <a:r>
                        <a:rPr lang="en-US" sz="2000">
                          <a:effectLst/>
                          <a:latin typeface="Times New Roman" panose="02020603050405020304" pitchFamily="18" charset="0"/>
                          <a:cs typeface="Times New Roman" panose="02020603050405020304" pitchFamily="18" charset="0"/>
                        </a:rPr>
                        <a:t>4</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Bef>
                          <a:spcPts val="0"/>
                        </a:spcBef>
                        <a:spcAft>
                          <a:spcPts val="0"/>
                        </a:spcAft>
                      </a:pPr>
                      <a:r>
                        <a:rPr lang="en-US" sz="2000">
                          <a:effectLst/>
                          <a:latin typeface="Times New Roman" panose="02020603050405020304" pitchFamily="18" charset="0"/>
                          <a:cs typeface="Times New Roman" panose="02020603050405020304" pitchFamily="18" charset="0"/>
                        </a:rPr>
                        <a:t>10</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2000">
                          <a:effectLst/>
                          <a:latin typeface="Times New Roman" panose="02020603050405020304" pitchFamily="18" charset="0"/>
                          <a:cs typeface="Times New Roman" panose="02020603050405020304" pitchFamily="18" charset="0"/>
                        </a:rPr>
                        <a:t>0.22</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2000" dirty="0">
                          <a:effectLst/>
                          <a:latin typeface="Times New Roman" panose="02020603050405020304" pitchFamily="18" charset="0"/>
                          <a:cs typeface="Times New Roman" panose="02020603050405020304" pitchFamily="18" charset="0"/>
                        </a:rPr>
                        <a:t>19</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2000">
                          <a:effectLst/>
                          <a:latin typeface="Times New Roman" panose="02020603050405020304" pitchFamily="18" charset="0"/>
                          <a:cs typeface="Times New Roman" panose="02020603050405020304" pitchFamily="18" charset="0"/>
                        </a:rPr>
                        <a:t>1.554175</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2000" dirty="0">
                          <a:effectLst/>
                          <a:latin typeface="Times New Roman" panose="02020603050405020304" pitchFamily="18" charset="0"/>
                          <a:cs typeface="Times New Roman" panose="02020603050405020304" pitchFamily="18" charset="0"/>
                        </a:rPr>
                        <a:t>22.49689</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3147681379"/>
                  </a:ext>
                </a:extLst>
              </a:tr>
              <a:tr h="540898">
                <a:tc>
                  <a:txBody>
                    <a:bodyPr/>
                    <a:lstStyle/>
                    <a:p>
                      <a:pPr marL="0" marR="0" algn="ctr">
                        <a:lnSpc>
                          <a:spcPct val="107000"/>
                        </a:lnSpc>
                        <a:spcBef>
                          <a:spcPts val="0"/>
                        </a:spcBef>
                        <a:spcAft>
                          <a:spcPts val="0"/>
                        </a:spcAft>
                      </a:pPr>
                      <a:r>
                        <a:rPr lang="en-US" sz="2000">
                          <a:effectLst/>
                          <a:latin typeface="Times New Roman" panose="02020603050405020304" pitchFamily="18" charset="0"/>
                          <a:cs typeface="Times New Roman" panose="02020603050405020304" pitchFamily="18" charset="0"/>
                        </a:rPr>
                        <a:t>5</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Bef>
                          <a:spcPts val="0"/>
                        </a:spcBef>
                        <a:spcAft>
                          <a:spcPts val="0"/>
                        </a:spcAft>
                      </a:pPr>
                      <a:r>
                        <a:rPr lang="en-US" sz="2000">
                          <a:effectLst/>
                          <a:latin typeface="Times New Roman" panose="02020603050405020304" pitchFamily="18" charset="0"/>
                          <a:cs typeface="Times New Roman" panose="02020603050405020304" pitchFamily="18" charset="0"/>
                        </a:rPr>
                        <a:t>12</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2000">
                          <a:effectLst/>
                          <a:latin typeface="Times New Roman" panose="02020603050405020304" pitchFamily="18" charset="0"/>
                          <a:cs typeface="Times New Roman" panose="02020603050405020304" pitchFamily="18" charset="0"/>
                        </a:rPr>
                        <a:t>0.18</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2000" dirty="0">
                          <a:effectLst/>
                          <a:latin typeface="Times New Roman" panose="02020603050405020304" pitchFamily="18" charset="0"/>
                          <a:cs typeface="Times New Roman" panose="02020603050405020304" pitchFamily="18" charset="0"/>
                        </a:rPr>
                        <a:t>20.5</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2000" dirty="0">
                          <a:effectLst/>
                          <a:latin typeface="Times New Roman" panose="02020603050405020304" pitchFamily="18" charset="0"/>
                          <a:cs typeface="Times New Roman" panose="02020603050405020304" pitchFamily="18" charset="0"/>
                        </a:rPr>
                        <a:t>1.703525</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2000" dirty="0">
                          <a:effectLst/>
                          <a:latin typeface="Times New Roman" panose="02020603050405020304" pitchFamily="18" charset="0"/>
                          <a:cs typeface="Times New Roman" panose="02020603050405020304" pitchFamily="18" charset="0"/>
                        </a:rPr>
                        <a:t>24.33293</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766208626"/>
                  </a:ext>
                </a:extLst>
              </a:tr>
              <a:tr h="540898">
                <a:tc>
                  <a:txBody>
                    <a:bodyPr/>
                    <a:lstStyle/>
                    <a:p>
                      <a:pPr marL="0" marR="0" algn="ctr">
                        <a:lnSpc>
                          <a:spcPct val="107000"/>
                        </a:lnSpc>
                        <a:spcBef>
                          <a:spcPts val="0"/>
                        </a:spcBef>
                        <a:spcAft>
                          <a:spcPts val="0"/>
                        </a:spcAft>
                      </a:pPr>
                      <a:r>
                        <a:rPr lang="en-US" sz="2000">
                          <a:effectLst/>
                          <a:latin typeface="Times New Roman" panose="02020603050405020304" pitchFamily="18" charset="0"/>
                          <a:cs typeface="Times New Roman" panose="02020603050405020304" pitchFamily="18" charset="0"/>
                        </a:rPr>
                        <a:t>6</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Bef>
                          <a:spcPts val="0"/>
                        </a:spcBef>
                        <a:spcAft>
                          <a:spcPts val="0"/>
                        </a:spcAft>
                      </a:pPr>
                      <a:r>
                        <a:rPr lang="en-US" sz="2000">
                          <a:effectLst/>
                          <a:latin typeface="Times New Roman" panose="02020603050405020304" pitchFamily="18" charset="0"/>
                          <a:cs typeface="Times New Roman" panose="02020603050405020304" pitchFamily="18" charset="0"/>
                        </a:rPr>
                        <a:t>14</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2000">
                          <a:effectLst/>
                          <a:latin typeface="Times New Roman" panose="02020603050405020304" pitchFamily="18" charset="0"/>
                          <a:cs typeface="Times New Roman" panose="02020603050405020304" pitchFamily="18" charset="0"/>
                        </a:rPr>
                        <a:t>0.16</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2000">
                          <a:effectLst/>
                          <a:latin typeface="Times New Roman" panose="02020603050405020304" pitchFamily="18" charset="0"/>
                          <a:cs typeface="Times New Roman" panose="02020603050405020304" pitchFamily="18" charset="0"/>
                        </a:rPr>
                        <a:t>20.5</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2000" dirty="0">
                          <a:effectLst/>
                          <a:latin typeface="Times New Roman" panose="02020603050405020304" pitchFamily="18" charset="0"/>
                          <a:cs typeface="Times New Roman" panose="02020603050405020304" pitchFamily="18" charset="0"/>
                        </a:rPr>
                        <a:t>1.8022</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ctr">
                        <a:lnSpc>
                          <a:spcPct val="107000"/>
                        </a:lnSpc>
                        <a:spcBef>
                          <a:spcPts val="0"/>
                        </a:spcBef>
                        <a:spcAft>
                          <a:spcPts val="0"/>
                        </a:spcAft>
                      </a:pPr>
                      <a:r>
                        <a:rPr lang="en-US" sz="2000" dirty="0">
                          <a:effectLst/>
                          <a:latin typeface="Times New Roman" panose="02020603050405020304" pitchFamily="18" charset="0"/>
                          <a:cs typeface="Times New Roman" panose="02020603050405020304" pitchFamily="18" charset="0"/>
                        </a:rPr>
                        <a:t>24.55495</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extLst>
                  <a:ext uri="{0D108BD9-81ED-4DB2-BD59-A6C34878D82A}">
                    <a16:rowId xmlns:a16="http://schemas.microsoft.com/office/drawing/2014/main" val="2120611915"/>
                  </a:ext>
                </a:extLst>
              </a:tr>
            </a:tbl>
          </a:graphicData>
        </a:graphic>
      </p:graphicFrame>
    </p:spTree>
    <p:extLst>
      <p:ext uri="{BB962C8B-B14F-4D97-AF65-F5344CB8AC3E}">
        <p14:creationId xmlns:p14="http://schemas.microsoft.com/office/powerpoint/2010/main" val="191778801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166BF9EE-F7AC-4FA5-AC7E-001B3A642F7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 y="228600"/>
            <a:ext cx="2851523" cy="6638625"/>
            <a:chOff x="2487613" y="285750"/>
            <a:chExt cx="2428875" cy="5654676"/>
          </a:xfrm>
        </p:grpSpPr>
        <p:sp>
          <p:nvSpPr>
            <p:cNvPr id="11" name="Freeform 11">
              <a:extLst>
                <a:ext uri="{FF2B5EF4-FFF2-40B4-BE49-F238E27FC236}">
                  <a16:creationId xmlns:a16="http://schemas.microsoft.com/office/drawing/2014/main" id="{3B48D182-44E3-4D8B-ACEF-F1A900BE44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12" name="Freeform 12">
              <a:extLst>
                <a:ext uri="{FF2B5EF4-FFF2-40B4-BE49-F238E27FC236}">
                  <a16:creationId xmlns:a16="http://schemas.microsoft.com/office/drawing/2014/main" id="{355A535A-A489-477F-A314-593AA8CAFB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13" name="Freeform 13">
              <a:extLst>
                <a:ext uri="{FF2B5EF4-FFF2-40B4-BE49-F238E27FC236}">
                  <a16:creationId xmlns:a16="http://schemas.microsoft.com/office/drawing/2014/main" id="{954C2D4C-FD83-4EF4-9312-04442ABD66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14" name="Freeform 14">
              <a:extLst>
                <a:ext uri="{FF2B5EF4-FFF2-40B4-BE49-F238E27FC236}">
                  <a16:creationId xmlns:a16="http://schemas.microsoft.com/office/drawing/2014/main" id="{C20701C2-CD9A-4698-BC97-E1085820C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15" name="Freeform 15">
              <a:extLst>
                <a:ext uri="{FF2B5EF4-FFF2-40B4-BE49-F238E27FC236}">
                  <a16:creationId xmlns:a16="http://schemas.microsoft.com/office/drawing/2014/main" id="{62575C35-466F-42AE-87A1-D691849AB8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16" name="Freeform 16">
              <a:extLst>
                <a:ext uri="{FF2B5EF4-FFF2-40B4-BE49-F238E27FC236}">
                  <a16:creationId xmlns:a16="http://schemas.microsoft.com/office/drawing/2014/main" id="{58236F37-6119-45AC-80A0-CD2C311B50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17" name="Freeform 17">
              <a:extLst>
                <a:ext uri="{FF2B5EF4-FFF2-40B4-BE49-F238E27FC236}">
                  <a16:creationId xmlns:a16="http://schemas.microsoft.com/office/drawing/2014/main" id="{F3FDD799-39FE-4D6F-9A64-2F472B2150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18" name="Freeform 18">
              <a:extLst>
                <a:ext uri="{FF2B5EF4-FFF2-40B4-BE49-F238E27FC236}">
                  <a16:creationId xmlns:a16="http://schemas.microsoft.com/office/drawing/2014/main" id="{9820D241-1D49-442C-A95A-00BC1BF9E2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19" name="Freeform 19">
              <a:extLst>
                <a:ext uri="{FF2B5EF4-FFF2-40B4-BE49-F238E27FC236}">
                  <a16:creationId xmlns:a16="http://schemas.microsoft.com/office/drawing/2014/main" id="{EBC2197C-B383-4866-8ABD-74222400BE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20" name="Freeform 20">
              <a:extLst>
                <a:ext uri="{FF2B5EF4-FFF2-40B4-BE49-F238E27FC236}">
                  <a16:creationId xmlns:a16="http://schemas.microsoft.com/office/drawing/2014/main" id="{404B06AA-FC93-4471-9DE4-56A401E70A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21" name="Freeform 21">
              <a:extLst>
                <a:ext uri="{FF2B5EF4-FFF2-40B4-BE49-F238E27FC236}">
                  <a16:creationId xmlns:a16="http://schemas.microsoft.com/office/drawing/2014/main" id="{E580600C-013F-4FAF-8FB7-4CC0FA80A9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22" name="Freeform 22">
              <a:extLst>
                <a:ext uri="{FF2B5EF4-FFF2-40B4-BE49-F238E27FC236}">
                  <a16:creationId xmlns:a16="http://schemas.microsoft.com/office/drawing/2014/main" id="{9BFCF199-64B2-4AEE-88C4-E954ABF362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24" name="Group 23">
            <a:extLst>
              <a:ext uri="{FF2B5EF4-FFF2-40B4-BE49-F238E27FC236}">
                <a16:creationId xmlns:a16="http://schemas.microsoft.com/office/drawing/2014/main" id="{E312DBA5-56D8-42B2-BA94-28168C2A670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7224" y="-786"/>
            <a:ext cx="2356675" cy="6854040"/>
            <a:chOff x="6627813" y="194833"/>
            <a:chExt cx="1952625" cy="5678918"/>
          </a:xfrm>
        </p:grpSpPr>
        <p:sp>
          <p:nvSpPr>
            <p:cNvPr id="25" name="Freeform 27">
              <a:extLst>
                <a:ext uri="{FF2B5EF4-FFF2-40B4-BE49-F238E27FC236}">
                  <a16:creationId xmlns:a16="http://schemas.microsoft.com/office/drawing/2014/main" id="{7AD46C74-3117-46B0-B267-0F61B57CAC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26" name="Freeform 28">
              <a:extLst>
                <a:ext uri="{FF2B5EF4-FFF2-40B4-BE49-F238E27FC236}">
                  <a16:creationId xmlns:a16="http://schemas.microsoft.com/office/drawing/2014/main" id="{8C13B810-9664-45D8-8510-D6ED0ADD72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27" name="Freeform 29">
              <a:extLst>
                <a:ext uri="{FF2B5EF4-FFF2-40B4-BE49-F238E27FC236}">
                  <a16:creationId xmlns:a16="http://schemas.microsoft.com/office/drawing/2014/main" id="{10306E52-A922-4458-BCCE-C3C840CC75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28" name="Freeform 30">
              <a:extLst>
                <a:ext uri="{FF2B5EF4-FFF2-40B4-BE49-F238E27FC236}">
                  <a16:creationId xmlns:a16="http://schemas.microsoft.com/office/drawing/2014/main" id="{CB578819-B7E7-4250-932F-52AE2A2A9A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29" name="Freeform 31">
              <a:extLst>
                <a:ext uri="{FF2B5EF4-FFF2-40B4-BE49-F238E27FC236}">
                  <a16:creationId xmlns:a16="http://schemas.microsoft.com/office/drawing/2014/main" id="{454B9C91-B623-424A-B16E-F764F189D3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30" name="Freeform 32">
              <a:extLst>
                <a:ext uri="{FF2B5EF4-FFF2-40B4-BE49-F238E27FC236}">
                  <a16:creationId xmlns:a16="http://schemas.microsoft.com/office/drawing/2014/main" id="{EFD03C4A-8484-41E6-B458-032F1DCA70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31" name="Freeform 33">
              <a:extLst>
                <a:ext uri="{FF2B5EF4-FFF2-40B4-BE49-F238E27FC236}">
                  <a16:creationId xmlns:a16="http://schemas.microsoft.com/office/drawing/2014/main" id="{DDC2F3C3-1D4E-4913-9C5C-F9A65B47E5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32" name="Freeform 34">
              <a:extLst>
                <a:ext uri="{FF2B5EF4-FFF2-40B4-BE49-F238E27FC236}">
                  <a16:creationId xmlns:a16="http://schemas.microsoft.com/office/drawing/2014/main" id="{1E15BCA2-2420-4C53-ADE9-40FBAC2384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33" name="Freeform 35">
              <a:extLst>
                <a:ext uri="{FF2B5EF4-FFF2-40B4-BE49-F238E27FC236}">
                  <a16:creationId xmlns:a16="http://schemas.microsoft.com/office/drawing/2014/main" id="{73D5FBF4-7129-4C51-B603-E3BC334195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34" name="Freeform 36">
              <a:extLst>
                <a:ext uri="{FF2B5EF4-FFF2-40B4-BE49-F238E27FC236}">
                  <a16:creationId xmlns:a16="http://schemas.microsoft.com/office/drawing/2014/main" id="{0165B164-CE2A-494C-88FC-507232B37C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35" name="Freeform 37">
              <a:extLst>
                <a:ext uri="{FF2B5EF4-FFF2-40B4-BE49-F238E27FC236}">
                  <a16:creationId xmlns:a16="http://schemas.microsoft.com/office/drawing/2014/main" id="{87F127E5-B10B-4D18-BCF0-E7C3C7F401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36" name="Freeform 38">
              <a:extLst>
                <a:ext uri="{FF2B5EF4-FFF2-40B4-BE49-F238E27FC236}">
                  <a16:creationId xmlns:a16="http://schemas.microsoft.com/office/drawing/2014/main" id="{FC692D59-F28D-4E42-B435-225F2C6CFA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38" name="Rectangle 37">
            <a:extLst>
              <a:ext uri="{FF2B5EF4-FFF2-40B4-BE49-F238E27FC236}">
                <a16:creationId xmlns:a16="http://schemas.microsoft.com/office/drawing/2014/main" id="{1996130F-9AB5-4DE9-8574-3AF891C5C1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40" name="Freeform 11">
            <a:extLst>
              <a:ext uri="{FF2B5EF4-FFF2-40B4-BE49-F238E27FC236}">
                <a16:creationId xmlns:a16="http://schemas.microsoft.com/office/drawing/2014/main" id="{7326F4E6-9131-42DA-97B2-0BA8D1E258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useBgFill="1">
        <p:nvSpPr>
          <p:cNvPr id="42" name="Rectangle 41">
            <a:extLst>
              <a:ext uri="{FF2B5EF4-FFF2-40B4-BE49-F238E27FC236}">
                <a16:creationId xmlns:a16="http://schemas.microsoft.com/office/drawing/2014/main" id="{1EDD21E1-BAF0-4314-AB31-82ECB8AC9E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4" name="Rectangle 43">
            <a:extLst>
              <a:ext uri="{FF2B5EF4-FFF2-40B4-BE49-F238E27FC236}">
                <a16:creationId xmlns:a16="http://schemas.microsoft.com/office/drawing/2014/main" id="{FDC8619C-F25D-468E-95FA-2A2151D7DDD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43C40888-49ED-871F-E3AF-702E528D4816}"/>
                  </a:ext>
                </a:extLst>
              </p:cNvPr>
              <p:cNvSpPr txBox="1"/>
              <p:nvPr/>
            </p:nvSpPr>
            <p:spPr>
              <a:xfrm>
                <a:off x="649225" y="2133600"/>
                <a:ext cx="5122652" cy="3759253"/>
              </a:xfrm>
              <a:prstGeom prst="rect">
                <a:avLst/>
              </a:prstGeom>
            </p:spPr>
            <p:txBody>
              <a:bodyPr vert="horz" lIns="91440" tIns="45720" rIns="91440" bIns="45720" rtlCol="0">
                <a:normAutofit/>
              </a:bodyPr>
              <a:lstStyle/>
              <a:p>
                <a:pPr>
                  <a:spcBef>
                    <a:spcPts val="1000"/>
                  </a:spcBef>
                  <a:buClr>
                    <a:schemeClr val="accent1"/>
                  </a:buClr>
                  <a:buFont typeface="Wingdings 3" charset="2"/>
                  <a:buChar char=""/>
                </a:pPr>
                <a:r>
                  <a:rPr lang="en-US" sz="2200" dirty="0">
                    <a:solidFill>
                      <a:schemeClr val="tx1">
                        <a:lumMod val="75000"/>
                        <a:lumOff val="25000"/>
                      </a:schemeClr>
                    </a:solidFill>
                    <a:latin typeface="Times New Roman" panose="02020603050405020304" pitchFamily="18" charset="0"/>
                    <a:cs typeface="Times New Roman" panose="02020603050405020304" pitchFamily="18" charset="0"/>
                  </a:rPr>
                  <a:t>The energy removed by the ceiling </a:t>
                </a:r>
                <a14:m>
                  <m:oMath xmlns:m="http://schemas.openxmlformats.org/officeDocument/2006/math">
                    <m:sSub>
                      <m:sSubPr>
                        <m:ctrlPr>
                          <a:rPr lang="en-US" sz="2200" i="1">
                            <a:solidFill>
                              <a:schemeClr val="tx1">
                                <a:lumMod val="75000"/>
                                <a:lumOff val="25000"/>
                              </a:schemeClr>
                            </a:solidFill>
                            <a:effectLst/>
                            <a:latin typeface="Cambria Math" panose="02040503050406030204" pitchFamily="18" charset="0"/>
                          </a:rPr>
                        </m:ctrlPr>
                      </m:sSubPr>
                      <m:e>
                        <m:r>
                          <a:rPr lang="en-US" sz="2200" i="1">
                            <a:solidFill>
                              <a:schemeClr val="tx1">
                                <a:lumMod val="75000"/>
                                <a:lumOff val="25000"/>
                              </a:schemeClr>
                            </a:solidFill>
                            <a:effectLst/>
                            <a:latin typeface="Cambria Math" panose="02040503050406030204" pitchFamily="18" charset="0"/>
                          </a:rPr>
                          <m:t>𝑄</m:t>
                        </m:r>
                      </m:e>
                      <m:sub>
                        <m:r>
                          <a:rPr lang="en-US" sz="2200" i="1">
                            <a:solidFill>
                              <a:schemeClr val="tx1">
                                <a:lumMod val="75000"/>
                                <a:lumOff val="25000"/>
                              </a:schemeClr>
                            </a:solidFill>
                            <a:effectLst/>
                            <a:latin typeface="Cambria Math" panose="02040503050406030204" pitchFamily="18" charset="0"/>
                          </a:rPr>
                          <m:t>𝑐𝑐</m:t>
                        </m:r>
                      </m:sub>
                    </m:sSub>
                  </m:oMath>
                </a14:m>
                <a:r>
                  <a:rPr lang="en-US" sz="2200" dirty="0">
                    <a:solidFill>
                      <a:schemeClr val="tx1">
                        <a:lumMod val="75000"/>
                        <a:lumOff val="25000"/>
                      </a:schemeClr>
                    </a:solidFill>
                    <a:latin typeface="Times New Roman" panose="02020603050405020304" pitchFamily="18" charset="0"/>
                    <a:cs typeface="Times New Roman" panose="02020603050405020304" pitchFamily="18" charset="0"/>
                  </a:rPr>
                  <a:t> and that removed by the displacement ventilation </a:t>
                </a:r>
                <a14:m>
                  <m:oMath xmlns:m="http://schemas.openxmlformats.org/officeDocument/2006/math">
                    <m:sSub>
                      <m:sSubPr>
                        <m:ctrlPr>
                          <a:rPr lang="en-US" sz="2200" i="1">
                            <a:solidFill>
                              <a:schemeClr val="tx1">
                                <a:lumMod val="75000"/>
                                <a:lumOff val="25000"/>
                              </a:schemeClr>
                            </a:solidFill>
                            <a:latin typeface="Cambria Math" panose="02040503050406030204" pitchFamily="18" charset="0"/>
                          </a:rPr>
                        </m:ctrlPr>
                      </m:sSubPr>
                      <m:e>
                        <m:r>
                          <a:rPr lang="en-US" sz="2200" i="1">
                            <a:solidFill>
                              <a:schemeClr val="tx1">
                                <a:lumMod val="75000"/>
                                <a:lumOff val="25000"/>
                              </a:schemeClr>
                            </a:solidFill>
                            <a:latin typeface="Cambria Math" panose="02040503050406030204" pitchFamily="18" charset="0"/>
                          </a:rPr>
                          <m:t>𝑄</m:t>
                        </m:r>
                      </m:e>
                      <m:sub>
                        <m:r>
                          <a:rPr lang="en-US" sz="2200" i="1">
                            <a:solidFill>
                              <a:schemeClr val="tx1">
                                <a:lumMod val="75000"/>
                                <a:lumOff val="25000"/>
                              </a:schemeClr>
                            </a:solidFill>
                            <a:latin typeface="Cambria Math" panose="02040503050406030204" pitchFamily="18" charset="0"/>
                          </a:rPr>
                          <m:t>𝑆𝐷𝑉</m:t>
                        </m:r>
                      </m:sub>
                    </m:sSub>
                  </m:oMath>
                </a14:m>
                <a:r>
                  <a:rPr lang="en-US" sz="2200" dirty="0">
                    <a:solidFill>
                      <a:schemeClr val="tx1">
                        <a:lumMod val="75000"/>
                        <a:lumOff val="25000"/>
                      </a:schemeClr>
                    </a:solidFill>
                    <a:latin typeface="Times New Roman" panose="02020603050405020304" pitchFamily="18" charset="0"/>
                    <a:cs typeface="Times New Roman" panose="02020603050405020304" pitchFamily="18" charset="0"/>
                  </a:rPr>
                  <a:t> are added up sensible load generated in the room. They can be determined by the following relations: </a:t>
                </a:r>
              </a:p>
              <a:p>
                <a:pPr>
                  <a:spcBef>
                    <a:spcPts val="1000"/>
                  </a:spcBef>
                  <a:buClr>
                    <a:schemeClr val="accent1"/>
                  </a:buClr>
                  <a:buFont typeface="Wingdings 3" charset="2"/>
                  <a:buChar char=""/>
                </a:pPr>
                <a14:m>
                  <m:oMath xmlns:m="http://schemas.openxmlformats.org/officeDocument/2006/math">
                    <m:sSub>
                      <m:sSubPr>
                        <m:ctrlPr>
                          <a:rPr lang="en-US" sz="2200" i="1">
                            <a:solidFill>
                              <a:schemeClr val="tx1">
                                <a:lumMod val="75000"/>
                                <a:lumOff val="25000"/>
                              </a:schemeClr>
                            </a:solidFill>
                            <a:effectLst/>
                            <a:latin typeface="Cambria Math" panose="02040503050406030204" pitchFamily="18" charset="0"/>
                          </a:rPr>
                        </m:ctrlPr>
                      </m:sSubPr>
                      <m:e>
                        <m:r>
                          <a:rPr lang="en-US" sz="2200" i="1">
                            <a:solidFill>
                              <a:schemeClr val="tx1">
                                <a:lumMod val="75000"/>
                                <a:lumOff val="25000"/>
                              </a:schemeClr>
                            </a:solidFill>
                            <a:effectLst/>
                            <a:latin typeface="Cambria Math" panose="02040503050406030204" pitchFamily="18" charset="0"/>
                          </a:rPr>
                          <m:t>𝑄</m:t>
                        </m:r>
                      </m:e>
                      <m:sub>
                        <m:r>
                          <a:rPr lang="en-US" sz="2200" i="1">
                            <a:solidFill>
                              <a:schemeClr val="tx1">
                                <a:lumMod val="75000"/>
                                <a:lumOff val="25000"/>
                              </a:schemeClr>
                            </a:solidFill>
                            <a:effectLst/>
                            <a:latin typeface="Cambria Math" panose="02040503050406030204" pitchFamily="18" charset="0"/>
                          </a:rPr>
                          <m:t>𝑐𝑐</m:t>
                        </m:r>
                      </m:sub>
                    </m:sSub>
                    <m:r>
                      <a:rPr lang="en-US" sz="2200" i="1">
                        <a:solidFill>
                          <a:schemeClr val="tx1">
                            <a:lumMod val="75000"/>
                            <a:lumOff val="25000"/>
                          </a:schemeClr>
                        </a:solidFill>
                        <a:effectLst/>
                        <a:latin typeface="Cambria Math" panose="02040503050406030204" pitchFamily="18" charset="0"/>
                      </a:rPr>
                      <m:t>=</m:t>
                    </m:r>
                    <m:r>
                      <a:rPr lang="en-US" sz="2200" i="1">
                        <a:solidFill>
                          <a:schemeClr val="tx1">
                            <a:lumMod val="75000"/>
                            <a:lumOff val="25000"/>
                          </a:schemeClr>
                        </a:solidFill>
                        <a:effectLst/>
                        <a:latin typeface="Cambria Math" panose="02040503050406030204" pitchFamily="18" charset="0"/>
                      </a:rPr>
                      <m:t>𝑅</m:t>
                    </m:r>
                    <m:r>
                      <a:rPr lang="en-US" sz="2200" i="1">
                        <a:solidFill>
                          <a:schemeClr val="tx1">
                            <a:lumMod val="75000"/>
                            <a:lumOff val="25000"/>
                          </a:schemeClr>
                        </a:solidFill>
                        <a:effectLst/>
                        <a:latin typeface="Cambria Math" panose="02040503050406030204" pitchFamily="18" charset="0"/>
                      </a:rPr>
                      <m:t>∗</m:t>
                    </m:r>
                    <m:sSub>
                      <m:sSubPr>
                        <m:ctrlPr>
                          <a:rPr lang="en-US" sz="2200" i="1">
                            <a:solidFill>
                              <a:schemeClr val="tx1">
                                <a:lumMod val="75000"/>
                                <a:lumOff val="25000"/>
                              </a:schemeClr>
                            </a:solidFill>
                            <a:effectLst/>
                            <a:latin typeface="Cambria Math" panose="02040503050406030204" pitchFamily="18" charset="0"/>
                          </a:rPr>
                        </m:ctrlPr>
                      </m:sSubPr>
                      <m:e>
                        <m:r>
                          <a:rPr lang="en-US" sz="2200" i="1">
                            <a:solidFill>
                              <a:schemeClr val="tx1">
                                <a:lumMod val="75000"/>
                                <a:lumOff val="25000"/>
                              </a:schemeClr>
                            </a:solidFill>
                            <a:effectLst/>
                            <a:latin typeface="Cambria Math" panose="02040503050406030204" pitchFamily="18" charset="0"/>
                          </a:rPr>
                          <m:t>𝑄</m:t>
                        </m:r>
                      </m:e>
                      <m:sub>
                        <m:r>
                          <a:rPr lang="en-US" sz="2200" i="1">
                            <a:solidFill>
                              <a:schemeClr val="tx1">
                                <a:lumMod val="75000"/>
                                <a:lumOff val="25000"/>
                              </a:schemeClr>
                            </a:solidFill>
                            <a:effectLst/>
                            <a:latin typeface="Cambria Math" panose="02040503050406030204" pitchFamily="18" charset="0"/>
                          </a:rPr>
                          <m:t>𝑠</m:t>
                        </m:r>
                      </m:sub>
                    </m:sSub>
                    <m:r>
                      <a:rPr lang="en-US" sz="2200" i="1">
                        <a:solidFill>
                          <a:schemeClr val="tx1">
                            <a:lumMod val="75000"/>
                            <a:lumOff val="25000"/>
                          </a:schemeClr>
                        </a:solidFill>
                        <a:effectLst/>
                        <a:latin typeface="Cambria Math" panose="02040503050406030204" pitchFamily="18" charset="0"/>
                      </a:rPr>
                      <m:t>∗</m:t>
                    </m:r>
                    <m:sSub>
                      <m:sSubPr>
                        <m:ctrlPr>
                          <a:rPr lang="en-US" sz="2200" i="1">
                            <a:solidFill>
                              <a:schemeClr val="tx1">
                                <a:lumMod val="75000"/>
                                <a:lumOff val="25000"/>
                              </a:schemeClr>
                            </a:solidFill>
                            <a:effectLst/>
                            <a:latin typeface="Cambria Math" panose="02040503050406030204" pitchFamily="18" charset="0"/>
                          </a:rPr>
                        </m:ctrlPr>
                      </m:sSubPr>
                      <m:e>
                        <m:r>
                          <a:rPr lang="en-US" sz="2200" i="1">
                            <a:solidFill>
                              <a:schemeClr val="tx1">
                                <a:lumMod val="75000"/>
                                <a:lumOff val="25000"/>
                              </a:schemeClr>
                            </a:solidFill>
                            <a:effectLst/>
                            <a:latin typeface="Cambria Math" panose="02040503050406030204" pitchFamily="18" charset="0"/>
                          </a:rPr>
                          <m:t>𝐴</m:t>
                        </m:r>
                      </m:e>
                      <m:sub>
                        <m:r>
                          <a:rPr lang="en-US" sz="2200" i="1">
                            <a:solidFill>
                              <a:schemeClr val="tx1">
                                <a:lumMod val="75000"/>
                                <a:lumOff val="25000"/>
                              </a:schemeClr>
                            </a:solidFill>
                            <a:effectLst/>
                            <a:latin typeface="Cambria Math" panose="02040503050406030204" pitchFamily="18" charset="0"/>
                          </a:rPr>
                          <m:t>𝑟𝑜𝑜𝑚</m:t>
                        </m:r>
                      </m:sub>
                    </m:sSub>
                  </m:oMath>
                </a14:m>
                <a:endParaRPr lang="en-US" sz="2200" dirty="0">
                  <a:solidFill>
                    <a:schemeClr val="tx1">
                      <a:lumMod val="75000"/>
                      <a:lumOff val="25000"/>
                    </a:schemeClr>
                  </a:solidFill>
                  <a:latin typeface="Times New Roman" panose="02020603050405020304" pitchFamily="18" charset="0"/>
                  <a:cs typeface="Times New Roman" panose="02020603050405020304" pitchFamily="18" charset="0"/>
                </a:endParaRPr>
              </a:p>
              <a:p>
                <a:pPr>
                  <a:spcBef>
                    <a:spcPts val="1000"/>
                  </a:spcBef>
                  <a:buClr>
                    <a:schemeClr val="accent1"/>
                  </a:buClr>
                  <a:buFont typeface="Wingdings 3" charset="2"/>
                  <a:buChar char=""/>
                </a:pPr>
                <a14:m>
                  <m:oMath xmlns:m="http://schemas.openxmlformats.org/officeDocument/2006/math">
                    <m:sSub>
                      <m:sSubPr>
                        <m:ctrlPr>
                          <a:rPr lang="en-US" sz="2200" i="1">
                            <a:solidFill>
                              <a:schemeClr val="tx1">
                                <a:lumMod val="75000"/>
                                <a:lumOff val="25000"/>
                              </a:schemeClr>
                            </a:solidFill>
                            <a:effectLst/>
                            <a:latin typeface="Cambria Math" panose="02040503050406030204" pitchFamily="18" charset="0"/>
                          </a:rPr>
                        </m:ctrlPr>
                      </m:sSubPr>
                      <m:e>
                        <m:r>
                          <a:rPr lang="en-US" sz="2200" i="1">
                            <a:solidFill>
                              <a:schemeClr val="tx1">
                                <a:lumMod val="75000"/>
                                <a:lumOff val="25000"/>
                              </a:schemeClr>
                            </a:solidFill>
                            <a:effectLst/>
                            <a:latin typeface="Cambria Math" panose="02040503050406030204" pitchFamily="18" charset="0"/>
                          </a:rPr>
                          <m:t>𝑄</m:t>
                        </m:r>
                      </m:e>
                      <m:sub>
                        <m:r>
                          <a:rPr lang="en-US" sz="2200" i="1">
                            <a:solidFill>
                              <a:schemeClr val="tx1">
                                <a:lumMod val="75000"/>
                                <a:lumOff val="25000"/>
                              </a:schemeClr>
                            </a:solidFill>
                            <a:effectLst/>
                            <a:latin typeface="Cambria Math" panose="02040503050406030204" pitchFamily="18" charset="0"/>
                          </a:rPr>
                          <m:t>𝑆𝐷𝑉</m:t>
                        </m:r>
                      </m:sub>
                    </m:sSub>
                    <m:r>
                      <a:rPr lang="en-US" sz="2200" i="1">
                        <a:solidFill>
                          <a:schemeClr val="tx1">
                            <a:lumMod val="75000"/>
                            <a:lumOff val="25000"/>
                          </a:schemeClr>
                        </a:solidFill>
                        <a:effectLst/>
                        <a:latin typeface="Cambria Math" panose="02040503050406030204" pitchFamily="18" charset="0"/>
                      </a:rPr>
                      <m:t>=</m:t>
                    </m:r>
                    <m:sSub>
                      <m:sSubPr>
                        <m:ctrlPr>
                          <a:rPr lang="en-US" sz="2200" i="1">
                            <a:solidFill>
                              <a:schemeClr val="tx1">
                                <a:lumMod val="75000"/>
                                <a:lumOff val="25000"/>
                              </a:schemeClr>
                            </a:solidFill>
                            <a:effectLst/>
                            <a:latin typeface="Cambria Math" panose="02040503050406030204" pitchFamily="18" charset="0"/>
                          </a:rPr>
                        </m:ctrlPr>
                      </m:sSubPr>
                      <m:e>
                        <m:r>
                          <a:rPr lang="en-US" sz="2200" i="1">
                            <a:solidFill>
                              <a:schemeClr val="tx1">
                                <a:lumMod val="75000"/>
                                <a:lumOff val="25000"/>
                              </a:schemeClr>
                            </a:solidFill>
                            <a:effectLst/>
                            <a:latin typeface="Cambria Math" panose="02040503050406030204" pitchFamily="18" charset="0"/>
                          </a:rPr>
                          <m:t>𝑄</m:t>
                        </m:r>
                      </m:e>
                      <m:sub>
                        <m:r>
                          <a:rPr lang="en-US" sz="2200" i="1">
                            <a:solidFill>
                              <a:schemeClr val="tx1">
                                <a:lumMod val="75000"/>
                                <a:lumOff val="25000"/>
                              </a:schemeClr>
                            </a:solidFill>
                            <a:effectLst/>
                            <a:latin typeface="Cambria Math" panose="02040503050406030204" pitchFamily="18" charset="0"/>
                          </a:rPr>
                          <m:t>𝑠</m:t>
                        </m:r>
                      </m:sub>
                    </m:sSub>
                    <m:sSub>
                      <m:sSubPr>
                        <m:ctrlPr>
                          <a:rPr lang="en-US" sz="2200" i="1">
                            <a:solidFill>
                              <a:schemeClr val="tx1">
                                <a:lumMod val="75000"/>
                                <a:lumOff val="25000"/>
                              </a:schemeClr>
                            </a:solidFill>
                            <a:effectLst/>
                            <a:latin typeface="Cambria Math" panose="02040503050406030204" pitchFamily="18" charset="0"/>
                          </a:rPr>
                        </m:ctrlPr>
                      </m:sSubPr>
                      <m:e>
                        <m:r>
                          <a:rPr lang="en-US" sz="2200" i="1">
                            <a:solidFill>
                              <a:schemeClr val="tx1">
                                <a:lumMod val="75000"/>
                                <a:lumOff val="25000"/>
                              </a:schemeClr>
                            </a:solidFill>
                            <a:effectLst/>
                            <a:latin typeface="Cambria Math" panose="02040503050406030204" pitchFamily="18" charset="0"/>
                          </a:rPr>
                          <m:t>𝐴</m:t>
                        </m:r>
                      </m:e>
                      <m:sub>
                        <m:r>
                          <a:rPr lang="en-US" sz="2200" i="1">
                            <a:solidFill>
                              <a:schemeClr val="tx1">
                                <a:lumMod val="75000"/>
                                <a:lumOff val="25000"/>
                              </a:schemeClr>
                            </a:solidFill>
                            <a:effectLst/>
                            <a:latin typeface="Cambria Math" panose="02040503050406030204" pitchFamily="18" charset="0"/>
                          </a:rPr>
                          <m:t>𝑟𝑜𝑜𝑚</m:t>
                        </m:r>
                      </m:sub>
                    </m:sSub>
                  </m:oMath>
                </a14:m>
                <a:r>
                  <a:rPr lang="en-US" sz="2200" dirty="0">
                    <a:solidFill>
                      <a:schemeClr val="tx1">
                        <a:lumMod val="75000"/>
                        <a:lumOff val="25000"/>
                      </a:schemeClr>
                    </a:solidFill>
                    <a:effectLst/>
                    <a:latin typeface="Times New Roman" panose="02020603050405020304" pitchFamily="18" charset="0"/>
                    <a:cs typeface="Times New Roman" panose="02020603050405020304" pitchFamily="18" charset="0"/>
                  </a:rPr>
                  <a:t>-</a:t>
                </a:r>
                <a:r>
                  <a:rPr lang="en-US" sz="2200" dirty="0">
                    <a:solidFill>
                      <a:schemeClr val="tx1">
                        <a:lumMod val="75000"/>
                        <a:lumOff val="25000"/>
                      </a:schemeClr>
                    </a:solidFill>
                    <a:latin typeface="Times New Roman" panose="02020603050405020304" pitchFamily="18" charset="0"/>
                    <a:cs typeface="Times New Roman" panose="02020603050405020304" pitchFamily="18" charset="0"/>
                  </a:rPr>
                  <a:t> </a:t>
                </a:r>
                <a14:m>
                  <m:oMath xmlns:m="http://schemas.openxmlformats.org/officeDocument/2006/math">
                    <m:sSub>
                      <m:sSubPr>
                        <m:ctrlPr>
                          <a:rPr lang="en-US" sz="2200" i="1">
                            <a:solidFill>
                              <a:schemeClr val="tx1">
                                <a:lumMod val="75000"/>
                                <a:lumOff val="25000"/>
                              </a:schemeClr>
                            </a:solidFill>
                            <a:latin typeface="Cambria Math" panose="02040503050406030204" pitchFamily="18" charset="0"/>
                          </a:rPr>
                        </m:ctrlPr>
                      </m:sSubPr>
                      <m:e>
                        <m:r>
                          <a:rPr lang="en-US" sz="2200" i="1">
                            <a:solidFill>
                              <a:schemeClr val="tx1">
                                <a:lumMod val="75000"/>
                                <a:lumOff val="25000"/>
                              </a:schemeClr>
                            </a:solidFill>
                            <a:latin typeface="Cambria Math" panose="02040503050406030204" pitchFamily="18" charset="0"/>
                          </a:rPr>
                          <m:t>𝑄</m:t>
                        </m:r>
                      </m:e>
                      <m:sub>
                        <m:r>
                          <a:rPr lang="en-US" sz="2200" i="1">
                            <a:solidFill>
                              <a:schemeClr val="tx1">
                                <a:lumMod val="75000"/>
                                <a:lumOff val="25000"/>
                              </a:schemeClr>
                            </a:solidFill>
                            <a:latin typeface="Cambria Math" panose="02040503050406030204" pitchFamily="18" charset="0"/>
                          </a:rPr>
                          <m:t>𝑐𝑐</m:t>
                        </m:r>
                      </m:sub>
                    </m:sSub>
                  </m:oMath>
                </a14:m>
                <a:endParaRPr lang="en-US" sz="2200" dirty="0">
                  <a:solidFill>
                    <a:schemeClr val="tx1">
                      <a:lumMod val="75000"/>
                      <a:lumOff val="25000"/>
                    </a:schemeClr>
                  </a:solidFill>
                  <a:effectLst/>
                  <a:latin typeface="Times New Roman" panose="02020603050405020304" pitchFamily="18" charset="0"/>
                  <a:cs typeface="Times New Roman" panose="02020603050405020304" pitchFamily="18" charset="0"/>
                </a:endParaRPr>
              </a:p>
              <a:p>
                <a:pPr>
                  <a:spcBef>
                    <a:spcPts val="1000"/>
                  </a:spcBef>
                  <a:buClr>
                    <a:schemeClr val="accent1"/>
                  </a:buClr>
                  <a:buFont typeface="Wingdings 3" charset="2"/>
                  <a:buChar char=""/>
                </a:pPr>
                <a:endParaRPr lang="en-US" sz="2200" dirty="0">
                  <a:solidFill>
                    <a:schemeClr val="tx1">
                      <a:lumMod val="75000"/>
                      <a:lumOff val="25000"/>
                    </a:schemeClr>
                  </a:solidFill>
                  <a:latin typeface="Times New Roman" panose="02020603050405020304" pitchFamily="18" charset="0"/>
                  <a:cs typeface="Times New Roman" panose="02020603050405020304" pitchFamily="18" charset="0"/>
                </a:endParaRPr>
              </a:p>
              <a:p>
                <a:pPr>
                  <a:spcBef>
                    <a:spcPts val="1000"/>
                  </a:spcBef>
                  <a:buClr>
                    <a:schemeClr val="accent1"/>
                  </a:buClr>
                  <a:buFont typeface="Wingdings 3" charset="2"/>
                  <a:buChar char=""/>
                </a:pPr>
                <a:endParaRPr lang="en-US" dirty="0">
                  <a:solidFill>
                    <a:schemeClr val="tx1">
                      <a:lumMod val="75000"/>
                      <a:lumOff val="25000"/>
                    </a:schemeClr>
                  </a:solidFill>
                  <a:effectLst/>
                </a:endParaRPr>
              </a:p>
              <a:p>
                <a:pPr>
                  <a:spcBef>
                    <a:spcPts val="1000"/>
                  </a:spcBef>
                  <a:buClr>
                    <a:schemeClr val="accent1"/>
                  </a:buClr>
                  <a:buFont typeface="Wingdings 3" charset="2"/>
                  <a:buChar char=""/>
                </a:pPr>
                <a:endParaRPr lang="en-US" dirty="0">
                  <a:solidFill>
                    <a:schemeClr val="tx1">
                      <a:lumMod val="75000"/>
                      <a:lumOff val="25000"/>
                    </a:schemeClr>
                  </a:solidFill>
                  <a:effectLst/>
                </a:endParaRPr>
              </a:p>
              <a:p>
                <a:pPr>
                  <a:spcBef>
                    <a:spcPts val="1000"/>
                  </a:spcBef>
                  <a:buClr>
                    <a:schemeClr val="accent1"/>
                  </a:buClr>
                  <a:buFont typeface="Wingdings 3" charset="2"/>
                  <a:buChar char=""/>
                </a:pPr>
                <a:endParaRPr lang="en-US" dirty="0">
                  <a:solidFill>
                    <a:schemeClr val="tx1">
                      <a:lumMod val="75000"/>
                      <a:lumOff val="25000"/>
                    </a:schemeClr>
                  </a:solidFill>
                </a:endParaRPr>
              </a:p>
            </p:txBody>
          </p:sp>
        </mc:Choice>
        <mc:Fallback xmlns="">
          <p:sp>
            <p:nvSpPr>
              <p:cNvPr id="3" name="TextBox 2">
                <a:extLst>
                  <a:ext uri="{FF2B5EF4-FFF2-40B4-BE49-F238E27FC236}">
                    <a16:creationId xmlns:a16="http://schemas.microsoft.com/office/drawing/2014/main" id="{43C40888-49ED-871F-E3AF-702E528D4816}"/>
                  </a:ext>
                </a:extLst>
              </p:cNvPr>
              <p:cNvSpPr txBox="1">
                <a:spLocks noRot="1" noChangeAspect="1" noMove="1" noResize="1" noEditPoints="1" noAdjustHandles="1" noChangeArrowheads="1" noChangeShapeType="1" noTextEdit="1"/>
              </p:cNvSpPr>
              <p:nvPr/>
            </p:nvSpPr>
            <p:spPr>
              <a:xfrm>
                <a:off x="649225" y="2133600"/>
                <a:ext cx="5122652" cy="3759253"/>
              </a:xfrm>
              <a:prstGeom prst="rect">
                <a:avLst/>
              </a:prstGeom>
              <a:blipFill>
                <a:blip r:embed="rId2"/>
                <a:stretch>
                  <a:fillRect l="-1548" t="-1135" r="-1548"/>
                </a:stretch>
              </a:blipFill>
            </p:spPr>
            <p:txBody>
              <a:bodyPr/>
              <a:lstStyle/>
              <a:p>
                <a:r>
                  <a:rPr lang="en-US">
                    <a:noFill/>
                  </a:rPr>
                  <a:t> </a:t>
                </a:r>
              </a:p>
            </p:txBody>
          </p:sp>
        </mc:Fallback>
      </mc:AlternateContent>
      <p:sp>
        <p:nvSpPr>
          <p:cNvPr id="46" name="Freeform 12">
            <a:extLst>
              <a:ext uri="{FF2B5EF4-FFF2-40B4-BE49-F238E27FC236}">
                <a16:creationId xmlns:a16="http://schemas.microsoft.com/office/drawing/2014/main" id="{7D9439D6-DEAD-4CEB-A61B-BE3D64D1B5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061223"/>
            <a:ext cx="1038036" cy="506277"/>
          </a:xfrm>
          <a:custGeom>
            <a:avLst/>
            <a:gdLst>
              <a:gd name="connsiteX0" fmla="*/ 0 w 1038036"/>
              <a:gd name="connsiteY0" fmla="*/ 0 h 506277"/>
              <a:gd name="connsiteX1" fmla="*/ 182880 w 1038036"/>
              <a:gd name="connsiteY1" fmla="*/ 0 h 506277"/>
              <a:gd name="connsiteX2" fmla="*/ 291705 w 1038036"/>
              <a:gd name="connsiteY2" fmla="*/ 0 h 506277"/>
              <a:gd name="connsiteX3" fmla="*/ 291705 w 1038036"/>
              <a:gd name="connsiteY3" fmla="*/ 151 h 506277"/>
              <a:gd name="connsiteX4" fmla="*/ 692049 w 1038036"/>
              <a:gd name="connsiteY4" fmla="*/ 705 h 506277"/>
              <a:gd name="connsiteX5" fmla="*/ 782744 w 1038036"/>
              <a:gd name="connsiteY5" fmla="*/ 705 h 506277"/>
              <a:gd name="connsiteX6" fmla="*/ 797001 w 1038036"/>
              <a:gd name="connsiteY6" fmla="*/ 5473 h 506277"/>
              <a:gd name="connsiteX7" fmla="*/ 801982 w 1038036"/>
              <a:gd name="connsiteY7" fmla="*/ 10242 h 506277"/>
              <a:gd name="connsiteX8" fmla="*/ 1030951 w 1038036"/>
              <a:gd name="connsiteY8" fmla="*/ 239185 h 506277"/>
              <a:gd name="connsiteX9" fmla="*/ 1030951 w 1038036"/>
              <a:gd name="connsiteY9" fmla="*/ 267797 h 506277"/>
              <a:gd name="connsiteX10" fmla="*/ 801982 w 1038036"/>
              <a:gd name="connsiteY10" fmla="*/ 496740 h 506277"/>
              <a:gd name="connsiteX11" fmla="*/ 797001 w 1038036"/>
              <a:gd name="connsiteY11" fmla="*/ 501508 h 506277"/>
              <a:gd name="connsiteX12" fmla="*/ 782744 w 1038036"/>
              <a:gd name="connsiteY12" fmla="*/ 506277 h 506277"/>
              <a:gd name="connsiteX13" fmla="*/ 692049 w 1038036"/>
              <a:gd name="connsiteY13" fmla="*/ 506277 h 506277"/>
              <a:gd name="connsiteX14" fmla="*/ 291705 w 1038036"/>
              <a:gd name="connsiteY14" fmla="*/ 505140 h 506277"/>
              <a:gd name="connsiteX15" fmla="*/ 291705 w 1038036"/>
              <a:gd name="connsiteY15" fmla="*/ 506277 h 506277"/>
              <a:gd name="connsiteX16" fmla="*/ 0 w 1038036"/>
              <a:gd name="connsiteY16" fmla="*/ 506277 h 5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8036" h="506277">
                <a:moveTo>
                  <a:pt x="0" y="0"/>
                </a:moveTo>
                <a:lnTo>
                  <a:pt x="182880" y="0"/>
                </a:lnTo>
                <a:lnTo>
                  <a:pt x="291705" y="0"/>
                </a:lnTo>
                <a:lnTo>
                  <a:pt x="291705" y="151"/>
                </a:lnTo>
                <a:lnTo>
                  <a:pt x="692049" y="705"/>
                </a:lnTo>
                <a:lnTo>
                  <a:pt x="782744" y="705"/>
                </a:lnTo>
                <a:cubicBezTo>
                  <a:pt x="787553" y="705"/>
                  <a:pt x="792363" y="5473"/>
                  <a:pt x="797001" y="5473"/>
                </a:cubicBezTo>
                <a:cubicBezTo>
                  <a:pt x="797001" y="10242"/>
                  <a:pt x="801982" y="10242"/>
                  <a:pt x="801982" y="10242"/>
                </a:cubicBezTo>
                <a:lnTo>
                  <a:pt x="1030951" y="239185"/>
                </a:lnTo>
                <a:cubicBezTo>
                  <a:pt x="1040398" y="248722"/>
                  <a:pt x="1040398" y="258259"/>
                  <a:pt x="1030951" y="267797"/>
                </a:cubicBezTo>
                <a:lnTo>
                  <a:pt x="801982" y="496740"/>
                </a:lnTo>
                <a:cubicBezTo>
                  <a:pt x="800436" y="498363"/>
                  <a:pt x="798547" y="499885"/>
                  <a:pt x="797001" y="501508"/>
                </a:cubicBezTo>
                <a:cubicBezTo>
                  <a:pt x="792363" y="506277"/>
                  <a:pt x="787553" y="506277"/>
                  <a:pt x="782744" y="506277"/>
                </a:cubicBezTo>
                <a:lnTo>
                  <a:pt x="692049" y="506277"/>
                </a:lnTo>
                <a:lnTo>
                  <a:pt x="291705" y="505140"/>
                </a:lnTo>
                <a:lnTo>
                  <a:pt x="291705" y="506277"/>
                </a:lnTo>
                <a:lnTo>
                  <a:pt x="0" y="50627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Table 4">
            <a:extLst>
              <a:ext uri="{FF2B5EF4-FFF2-40B4-BE49-F238E27FC236}">
                <a16:creationId xmlns:a16="http://schemas.microsoft.com/office/drawing/2014/main" id="{2E8AF72B-C16F-15C3-A4F5-9C6AB79CB663}"/>
              </a:ext>
            </a:extLst>
          </p:cNvPr>
          <p:cNvGraphicFramePr>
            <a:graphicFrameLocks noGrp="1"/>
          </p:cNvGraphicFramePr>
          <p:nvPr>
            <p:extLst>
              <p:ext uri="{D42A27DB-BD31-4B8C-83A1-F6EECF244321}">
                <p14:modId xmlns:p14="http://schemas.microsoft.com/office/powerpoint/2010/main" val="1410058962"/>
              </p:ext>
            </p:extLst>
          </p:nvPr>
        </p:nvGraphicFramePr>
        <p:xfrm>
          <a:off x="6426911" y="1996494"/>
          <a:ext cx="4958080" cy="3754695"/>
        </p:xfrm>
        <a:graphic>
          <a:graphicData uri="http://schemas.openxmlformats.org/drawingml/2006/table">
            <a:tbl>
              <a:tblPr/>
              <a:tblGrid>
                <a:gridCol w="1214625">
                  <a:extLst>
                    <a:ext uri="{9D8B030D-6E8A-4147-A177-3AD203B41FA5}">
                      <a16:colId xmlns:a16="http://schemas.microsoft.com/office/drawing/2014/main" val="1309509372"/>
                    </a:ext>
                  </a:extLst>
                </a:gridCol>
                <a:gridCol w="1078900">
                  <a:extLst>
                    <a:ext uri="{9D8B030D-6E8A-4147-A177-3AD203B41FA5}">
                      <a16:colId xmlns:a16="http://schemas.microsoft.com/office/drawing/2014/main" val="3600843890"/>
                    </a:ext>
                  </a:extLst>
                </a:gridCol>
                <a:gridCol w="662441">
                  <a:extLst>
                    <a:ext uri="{9D8B030D-6E8A-4147-A177-3AD203B41FA5}">
                      <a16:colId xmlns:a16="http://schemas.microsoft.com/office/drawing/2014/main" val="1584730411"/>
                    </a:ext>
                  </a:extLst>
                </a:gridCol>
                <a:gridCol w="993273">
                  <a:extLst>
                    <a:ext uri="{9D8B030D-6E8A-4147-A177-3AD203B41FA5}">
                      <a16:colId xmlns:a16="http://schemas.microsoft.com/office/drawing/2014/main" val="1199459564"/>
                    </a:ext>
                  </a:extLst>
                </a:gridCol>
                <a:gridCol w="1008841">
                  <a:extLst>
                    <a:ext uri="{9D8B030D-6E8A-4147-A177-3AD203B41FA5}">
                      <a16:colId xmlns:a16="http://schemas.microsoft.com/office/drawing/2014/main" val="3272917909"/>
                    </a:ext>
                  </a:extLst>
                </a:gridCol>
              </a:tblGrid>
              <a:tr h="536385">
                <a:tc>
                  <a:txBody>
                    <a:bodyPr/>
                    <a:lstStyle/>
                    <a:p>
                      <a:pPr algn="ctr" fontAlgn="ctr">
                        <a:spcBef>
                          <a:spcPts val="0"/>
                        </a:spcBef>
                        <a:spcAft>
                          <a:spcPts val="0"/>
                        </a:spcAft>
                      </a:pPr>
                      <a:r>
                        <a:rPr lang="en-US" sz="2000" b="1" i="0" u="none" strike="noStrike" dirty="0">
                          <a:solidFill>
                            <a:srgbClr val="FFFFFF"/>
                          </a:solidFill>
                          <a:effectLst/>
                          <a:latin typeface="Times New Roman" panose="02020603050405020304" pitchFamily="18" charset="0"/>
                          <a:cs typeface="Times New Roman" panose="02020603050405020304" pitchFamily="18" charset="0"/>
                        </a:rPr>
                        <a:t>Design</a:t>
                      </a:r>
                      <a:endParaRPr lang="en-US" sz="2000" b="0" i="0" u="none" strike="noStrike" dirty="0">
                        <a:effectLst/>
                        <a:latin typeface="Times New Roman" panose="02020603050405020304" pitchFamily="18" charset="0"/>
                        <a:cs typeface="Times New Roman" panose="02020603050405020304" pitchFamily="18" charset="0"/>
                      </a:endParaRPr>
                    </a:p>
                  </a:txBody>
                  <a:tcPr marL="17010" marR="17010" marT="1701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472C4"/>
                    </a:solidFill>
                  </a:tcPr>
                </a:tc>
                <a:tc>
                  <a:txBody>
                    <a:bodyPr/>
                    <a:lstStyle/>
                    <a:p>
                      <a:pPr algn="ctr" fontAlgn="ctr">
                        <a:spcBef>
                          <a:spcPts val="0"/>
                        </a:spcBef>
                        <a:spcAft>
                          <a:spcPts val="0"/>
                        </a:spcAft>
                      </a:pPr>
                      <a:r>
                        <a:rPr lang="en-US" sz="2000" b="1" i="0" u="none" strike="noStrike">
                          <a:solidFill>
                            <a:srgbClr val="FFFFFF"/>
                          </a:solidFill>
                          <a:effectLst/>
                          <a:latin typeface="Times New Roman" panose="02020603050405020304" pitchFamily="18" charset="0"/>
                          <a:cs typeface="Times New Roman" panose="02020603050405020304" pitchFamily="18" charset="0"/>
                        </a:rPr>
                        <a:t>R</a:t>
                      </a:r>
                      <a:endParaRPr lang="en-US" sz="2000" b="0" i="0" u="none" strike="noStrike">
                        <a:effectLst/>
                        <a:latin typeface="Times New Roman" panose="02020603050405020304" pitchFamily="18" charset="0"/>
                        <a:cs typeface="Times New Roman" panose="02020603050405020304" pitchFamily="18" charset="0"/>
                      </a:endParaRPr>
                    </a:p>
                  </a:txBody>
                  <a:tcPr marL="17010" marR="17010" marT="1701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472C4"/>
                    </a:solidFill>
                  </a:tcPr>
                </a:tc>
                <a:tc>
                  <a:txBody>
                    <a:bodyPr/>
                    <a:lstStyle/>
                    <a:p>
                      <a:pPr algn="ctr" fontAlgn="ctr">
                        <a:spcBef>
                          <a:spcPts val="0"/>
                        </a:spcBef>
                        <a:spcAft>
                          <a:spcPts val="0"/>
                        </a:spcAft>
                      </a:pPr>
                      <a:r>
                        <a:rPr lang="en-US" sz="2000" b="1" i="0" u="none" strike="noStrike">
                          <a:solidFill>
                            <a:srgbClr val="FFFFFF"/>
                          </a:solidFill>
                          <a:effectLst/>
                          <a:latin typeface="Times New Roman" panose="02020603050405020304" pitchFamily="18" charset="0"/>
                          <a:cs typeface="Times New Roman" panose="02020603050405020304" pitchFamily="18" charset="0"/>
                        </a:rPr>
                        <a:t>Qs</a:t>
                      </a:r>
                      <a:endParaRPr lang="en-US" sz="2000" b="0" i="0" u="none" strike="noStrike">
                        <a:effectLst/>
                        <a:latin typeface="Times New Roman" panose="02020603050405020304" pitchFamily="18" charset="0"/>
                        <a:cs typeface="Times New Roman" panose="02020603050405020304" pitchFamily="18" charset="0"/>
                      </a:endParaRPr>
                    </a:p>
                  </a:txBody>
                  <a:tcPr marL="17010" marR="17010" marT="1701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472C4"/>
                    </a:solidFill>
                  </a:tcPr>
                </a:tc>
                <a:tc>
                  <a:txBody>
                    <a:bodyPr/>
                    <a:lstStyle/>
                    <a:p>
                      <a:pPr algn="ctr" fontAlgn="ctr">
                        <a:spcBef>
                          <a:spcPts val="0"/>
                        </a:spcBef>
                        <a:spcAft>
                          <a:spcPts val="0"/>
                        </a:spcAft>
                      </a:pPr>
                      <a:r>
                        <a:rPr lang="en-US" sz="2000" b="1" i="0" u="none" strike="noStrike">
                          <a:solidFill>
                            <a:srgbClr val="FFFFFF"/>
                          </a:solidFill>
                          <a:effectLst/>
                          <a:latin typeface="Times New Roman" panose="02020603050405020304" pitchFamily="18" charset="0"/>
                          <a:cs typeface="Times New Roman" panose="02020603050405020304" pitchFamily="18" charset="0"/>
                        </a:rPr>
                        <a:t>Qcc</a:t>
                      </a:r>
                      <a:endParaRPr lang="en-US" sz="2000" b="0" i="0" u="none" strike="noStrike">
                        <a:effectLst/>
                        <a:latin typeface="Times New Roman" panose="02020603050405020304" pitchFamily="18" charset="0"/>
                        <a:cs typeface="Times New Roman" panose="02020603050405020304" pitchFamily="18" charset="0"/>
                      </a:endParaRPr>
                    </a:p>
                  </a:txBody>
                  <a:tcPr marL="17010" marR="17010" marT="1701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472C4"/>
                    </a:solidFill>
                  </a:tcPr>
                </a:tc>
                <a:tc>
                  <a:txBody>
                    <a:bodyPr/>
                    <a:lstStyle/>
                    <a:p>
                      <a:pPr algn="ctr" fontAlgn="ctr">
                        <a:spcBef>
                          <a:spcPts val="0"/>
                        </a:spcBef>
                        <a:spcAft>
                          <a:spcPts val="0"/>
                        </a:spcAft>
                      </a:pPr>
                      <a:r>
                        <a:rPr lang="en-US" sz="2000" b="1" i="0" u="none" strike="noStrike">
                          <a:solidFill>
                            <a:srgbClr val="FFFFFF"/>
                          </a:solidFill>
                          <a:effectLst/>
                          <a:latin typeface="Times New Roman" panose="02020603050405020304" pitchFamily="18" charset="0"/>
                          <a:cs typeface="Times New Roman" panose="02020603050405020304" pitchFamily="18" charset="0"/>
                        </a:rPr>
                        <a:t>Qsdv</a:t>
                      </a:r>
                      <a:endParaRPr lang="en-US" sz="2000" b="0" i="0" u="none" strike="noStrike">
                        <a:effectLst/>
                        <a:latin typeface="Times New Roman" panose="02020603050405020304" pitchFamily="18" charset="0"/>
                        <a:cs typeface="Times New Roman" panose="02020603050405020304" pitchFamily="18" charset="0"/>
                      </a:endParaRPr>
                    </a:p>
                  </a:txBody>
                  <a:tcPr marL="17010" marR="17010" marT="1701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4472C4"/>
                    </a:solidFill>
                  </a:tcPr>
                </a:tc>
                <a:extLst>
                  <a:ext uri="{0D108BD9-81ED-4DB2-BD59-A6C34878D82A}">
                    <a16:rowId xmlns:a16="http://schemas.microsoft.com/office/drawing/2014/main" val="296838783"/>
                  </a:ext>
                </a:extLst>
              </a:tr>
              <a:tr h="536385">
                <a:tc>
                  <a:txBody>
                    <a:bodyPr/>
                    <a:lstStyle/>
                    <a:p>
                      <a:pPr algn="ctr" fontAlgn="ctr">
                        <a:spcBef>
                          <a:spcPts val="0"/>
                        </a:spcBef>
                        <a:spcAft>
                          <a:spcPts val="0"/>
                        </a:spcAft>
                      </a:pPr>
                      <a:r>
                        <a:rPr lang="en-US" sz="2000" b="0" i="0" u="none" strike="noStrike">
                          <a:solidFill>
                            <a:srgbClr val="000000"/>
                          </a:solidFill>
                          <a:effectLst/>
                          <a:latin typeface="Times New Roman" panose="02020603050405020304" pitchFamily="18" charset="0"/>
                          <a:cs typeface="Times New Roman" panose="02020603050405020304" pitchFamily="18" charset="0"/>
                        </a:rPr>
                        <a:t>1</a:t>
                      </a:r>
                      <a:endParaRPr lang="en-US" sz="2000" b="0" i="0" u="none" strike="noStrike">
                        <a:effectLst/>
                        <a:latin typeface="Times New Roman" panose="02020603050405020304" pitchFamily="18" charset="0"/>
                        <a:cs typeface="Times New Roman" panose="02020603050405020304" pitchFamily="18" charset="0"/>
                      </a:endParaRPr>
                    </a:p>
                  </a:txBody>
                  <a:tcPr marL="17010" marR="17010" marT="1701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Bef>
                          <a:spcPts val="0"/>
                        </a:spcBef>
                        <a:spcAft>
                          <a:spcPts val="0"/>
                        </a:spcAft>
                      </a:pPr>
                      <a:r>
                        <a:rPr lang="en-US" sz="2000" b="0" i="0" u="none" strike="noStrike" dirty="0">
                          <a:solidFill>
                            <a:srgbClr val="000000"/>
                          </a:solidFill>
                          <a:effectLst/>
                          <a:latin typeface="Times New Roman" panose="02020603050405020304" pitchFamily="18" charset="0"/>
                          <a:cs typeface="Times New Roman" panose="02020603050405020304" pitchFamily="18" charset="0"/>
                        </a:rPr>
                        <a:t>0.3</a:t>
                      </a:r>
                      <a:endParaRPr lang="en-US" sz="2000" b="0" i="0" u="none" strike="noStrike" dirty="0">
                        <a:effectLst/>
                        <a:latin typeface="Times New Roman" panose="02020603050405020304" pitchFamily="18" charset="0"/>
                        <a:cs typeface="Times New Roman" panose="02020603050405020304" pitchFamily="18" charset="0"/>
                      </a:endParaRPr>
                    </a:p>
                  </a:txBody>
                  <a:tcPr marL="17010" marR="17010" marT="1701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Bef>
                          <a:spcPts val="0"/>
                        </a:spcBef>
                        <a:spcAft>
                          <a:spcPts val="0"/>
                        </a:spcAft>
                      </a:pPr>
                      <a:r>
                        <a:rPr lang="en-US" sz="2000" b="0" i="0" u="none" strike="noStrike">
                          <a:solidFill>
                            <a:srgbClr val="000000"/>
                          </a:solidFill>
                          <a:effectLst/>
                          <a:latin typeface="Times New Roman" panose="02020603050405020304" pitchFamily="18" charset="0"/>
                          <a:cs typeface="Times New Roman" panose="02020603050405020304" pitchFamily="18" charset="0"/>
                        </a:rPr>
                        <a:t>88</a:t>
                      </a:r>
                      <a:endParaRPr lang="en-US" sz="2000" b="0" i="0" u="none" strike="noStrike">
                        <a:effectLst/>
                        <a:latin typeface="Times New Roman" panose="02020603050405020304" pitchFamily="18" charset="0"/>
                        <a:cs typeface="Times New Roman" panose="02020603050405020304" pitchFamily="18" charset="0"/>
                      </a:endParaRPr>
                    </a:p>
                  </a:txBody>
                  <a:tcPr marL="17010" marR="17010" marT="1701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Bef>
                          <a:spcPts val="0"/>
                        </a:spcBef>
                        <a:spcAft>
                          <a:spcPts val="0"/>
                        </a:spcAft>
                      </a:pPr>
                      <a:r>
                        <a:rPr lang="en-US" sz="2000" b="0" i="0" u="none" strike="noStrike">
                          <a:solidFill>
                            <a:srgbClr val="000000"/>
                          </a:solidFill>
                          <a:effectLst/>
                          <a:latin typeface="Times New Roman" panose="02020603050405020304" pitchFamily="18" charset="0"/>
                          <a:cs typeface="Times New Roman" panose="02020603050405020304" pitchFamily="18" charset="0"/>
                        </a:rPr>
                        <a:t>660</a:t>
                      </a:r>
                      <a:endParaRPr lang="en-US" sz="2000" b="0" i="0" u="none" strike="noStrike">
                        <a:effectLst/>
                        <a:latin typeface="Times New Roman" panose="02020603050405020304" pitchFamily="18" charset="0"/>
                        <a:cs typeface="Times New Roman" panose="02020603050405020304" pitchFamily="18" charset="0"/>
                      </a:endParaRPr>
                    </a:p>
                  </a:txBody>
                  <a:tcPr marL="17010" marR="17010" marT="1701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Bef>
                          <a:spcPts val="0"/>
                        </a:spcBef>
                        <a:spcAft>
                          <a:spcPts val="0"/>
                        </a:spcAft>
                      </a:pPr>
                      <a:r>
                        <a:rPr lang="en-US" sz="2000" b="0" i="0" u="none" strike="noStrike">
                          <a:solidFill>
                            <a:srgbClr val="000000"/>
                          </a:solidFill>
                          <a:effectLst/>
                          <a:latin typeface="Times New Roman" panose="02020603050405020304" pitchFamily="18" charset="0"/>
                          <a:cs typeface="Times New Roman" panose="02020603050405020304" pitchFamily="18" charset="0"/>
                        </a:rPr>
                        <a:t>1540</a:t>
                      </a:r>
                      <a:endParaRPr lang="en-US" sz="2000" b="0" i="0" u="none" strike="noStrike">
                        <a:effectLst/>
                        <a:latin typeface="Times New Roman" panose="02020603050405020304" pitchFamily="18" charset="0"/>
                        <a:cs typeface="Times New Roman" panose="02020603050405020304" pitchFamily="18" charset="0"/>
                      </a:endParaRPr>
                    </a:p>
                  </a:txBody>
                  <a:tcPr marL="17010" marR="17010" marT="1701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66030817"/>
                  </a:ext>
                </a:extLst>
              </a:tr>
              <a:tr h="536385">
                <a:tc>
                  <a:txBody>
                    <a:bodyPr/>
                    <a:lstStyle/>
                    <a:p>
                      <a:pPr algn="ctr" fontAlgn="ctr">
                        <a:spcBef>
                          <a:spcPts val="0"/>
                        </a:spcBef>
                        <a:spcAft>
                          <a:spcPts val="0"/>
                        </a:spcAft>
                      </a:pPr>
                      <a:r>
                        <a:rPr lang="en-US" sz="2000" b="0" i="0" u="none" strike="noStrike">
                          <a:solidFill>
                            <a:srgbClr val="000000"/>
                          </a:solidFill>
                          <a:effectLst/>
                          <a:latin typeface="Times New Roman" panose="02020603050405020304" pitchFamily="18" charset="0"/>
                          <a:cs typeface="Times New Roman" panose="02020603050405020304" pitchFamily="18" charset="0"/>
                        </a:rPr>
                        <a:t>2</a:t>
                      </a:r>
                      <a:endParaRPr lang="en-US" sz="2000" b="0" i="0" u="none" strike="noStrike">
                        <a:effectLst/>
                        <a:latin typeface="Times New Roman" panose="02020603050405020304" pitchFamily="18" charset="0"/>
                        <a:cs typeface="Times New Roman" panose="02020603050405020304" pitchFamily="18" charset="0"/>
                      </a:endParaRPr>
                    </a:p>
                  </a:txBody>
                  <a:tcPr marL="17010" marR="17010" marT="1701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Bef>
                          <a:spcPts val="0"/>
                        </a:spcBef>
                        <a:spcAft>
                          <a:spcPts val="0"/>
                        </a:spcAft>
                      </a:pPr>
                      <a:r>
                        <a:rPr lang="en-US" sz="2000" b="0" i="0" u="none" strike="noStrike">
                          <a:solidFill>
                            <a:srgbClr val="000000"/>
                          </a:solidFill>
                          <a:effectLst/>
                          <a:latin typeface="Times New Roman" panose="02020603050405020304" pitchFamily="18" charset="0"/>
                          <a:cs typeface="Times New Roman" panose="02020603050405020304" pitchFamily="18" charset="0"/>
                        </a:rPr>
                        <a:t>0.35</a:t>
                      </a:r>
                      <a:endParaRPr lang="en-US" sz="2000" b="0" i="0" u="none" strike="noStrike">
                        <a:effectLst/>
                        <a:latin typeface="Times New Roman" panose="02020603050405020304" pitchFamily="18" charset="0"/>
                        <a:cs typeface="Times New Roman" panose="02020603050405020304" pitchFamily="18" charset="0"/>
                      </a:endParaRPr>
                    </a:p>
                  </a:txBody>
                  <a:tcPr marL="17010" marR="17010" marT="1701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Bef>
                          <a:spcPts val="0"/>
                        </a:spcBef>
                        <a:spcAft>
                          <a:spcPts val="0"/>
                        </a:spcAft>
                      </a:pPr>
                      <a:r>
                        <a:rPr lang="en-US" sz="2000" b="0" i="0" u="none" strike="noStrike" dirty="0">
                          <a:solidFill>
                            <a:srgbClr val="000000"/>
                          </a:solidFill>
                          <a:effectLst/>
                          <a:latin typeface="Times New Roman" panose="02020603050405020304" pitchFamily="18" charset="0"/>
                          <a:cs typeface="Times New Roman" panose="02020603050405020304" pitchFamily="18" charset="0"/>
                        </a:rPr>
                        <a:t>88</a:t>
                      </a:r>
                      <a:endParaRPr lang="en-US" sz="2000" b="0" i="0" u="none" strike="noStrike" dirty="0">
                        <a:effectLst/>
                        <a:latin typeface="Times New Roman" panose="02020603050405020304" pitchFamily="18" charset="0"/>
                        <a:cs typeface="Times New Roman" panose="02020603050405020304" pitchFamily="18" charset="0"/>
                      </a:endParaRPr>
                    </a:p>
                  </a:txBody>
                  <a:tcPr marL="17010" marR="17010" marT="1701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Bef>
                          <a:spcPts val="0"/>
                        </a:spcBef>
                        <a:spcAft>
                          <a:spcPts val="0"/>
                        </a:spcAft>
                      </a:pPr>
                      <a:r>
                        <a:rPr lang="en-US" sz="2000" b="0" i="0" u="none" strike="noStrike">
                          <a:solidFill>
                            <a:srgbClr val="000000"/>
                          </a:solidFill>
                          <a:effectLst/>
                          <a:latin typeface="Times New Roman" panose="02020603050405020304" pitchFamily="18" charset="0"/>
                          <a:cs typeface="Times New Roman" panose="02020603050405020304" pitchFamily="18" charset="0"/>
                        </a:rPr>
                        <a:t>770</a:t>
                      </a:r>
                      <a:endParaRPr lang="en-US" sz="2000" b="0" i="0" u="none" strike="noStrike">
                        <a:effectLst/>
                        <a:latin typeface="Times New Roman" panose="02020603050405020304" pitchFamily="18" charset="0"/>
                        <a:cs typeface="Times New Roman" panose="02020603050405020304" pitchFamily="18" charset="0"/>
                      </a:endParaRPr>
                    </a:p>
                  </a:txBody>
                  <a:tcPr marL="17010" marR="17010" marT="1701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Bef>
                          <a:spcPts val="0"/>
                        </a:spcBef>
                        <a:spcAft>
                          <a:spcPts val="0"/>
                        </a:spcAft>
                      </a:pPr>
                      <a:r>
                        <a:rPr lang="en-US" sz="2000" b="0" i="0" u="none" strike="noStrike">
                          <a:solidFill>
                            <a:srgbClr val="000000"/>
                          </a:solidFill>
                          <a:effectLst/>
                          <a:latin typeface="Times New Roman" panose="02020603050405020304" pitchFamily="18" charset="0"/>
                          <a:cs typeface="Times New Roman" panose="02020603050405020304" pitchFamily="18" charset="0"/>
                        </a:rPr>
                        <a:t>1430</a:t>
                      </a:r>
                      <a:endParaRPr lang="en-US" sz="2000" b="0" i="0" u="none" strike="noStrike">
                        <a:effectLst/>
                        <a:latin typeface="Times New Roman" panose="02020603050405020304" pitchFamily="18" charset="0"/>
                        <a:cs typeface="Times New Roman" panose="02020603050405020304" pitchFamily="18" charset="0"/>
                      </a:endParaRPr>
                    </a:p>
                  </a:txBody>
                  <a:tcPr marL="17010" marR="17010" marT="1701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72467936"/>
                  </a:ext>
                </a:extLst>
              </a:tr>
              <a:tr h="536385">
                <a:tc>
                  <a:txBody>
                    <a:bodyPr/>
                    <a:lstStyle/>
                    <a:p>
                      <a:pPr algn="ctr" fontAlgn="ctr">
                        <a:spcBef>
                          <a:spcPts val="0"/>
                        </a:spcBef>
                        <a:spcAft>
                          <a:spcPts val="0"/>
                        </a:spcAft>
                      </a:pPr>
                      <a:r>
                        <a:rPr lang="en-US" sz="2000" b="0" i="0" u="none" strike="noStrike">
                          <a:solidFill>
                            <a:srgbClr val="000000"/>
                          </a:solidFill>
                          <a:effectLst/>
                          <a:latin typeface="Times New Roman" panose="02020603050405020304" pitchFamily="18" charset="0"/>
                          <a:cs typeface="Times New Roman" panose="02020603050405020304" pitchFamily="18" charset="0"/>
                        </a:rPr>
                        <a:t>3</a:t>
                      </a:r>
                      <a:endParaRPr lang="en-US" sz="2000" b="0" i="0" u="none" strike="noStrike">
                        <a:effectLst/>
                        <a:latin typeface="Times New Roman" panose="02020603050405020304" pitchFamily="18" charset="0"/>
                        <a:cs typeface="Times New Roman" panose="02020603050405020304" pitchFamily="18" charset="0"/>
                      </a:endParaRPr>
                    </a:p>
                  </a:txBody>
                  <a:tcPr marL="17010" marR="17010" marT="1701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Bef>
                          <a:spcPts val="0"/>
                        </a:spcBef>
                        <a:spcAft>
                          <a:spcPts val="0"/>
                        </a:spcAft>
                      </a:pPr>
                      <a:r>
                        <a:rPr lang="en-US" sz="2000" b="0" i="0" u="none" strike="noStrike">
                          <a:solidFill>
                            <a:srgbClr val="000000"/>
                          </a:solidFill>
                          <a:effectLst/>
                          <a:latin typeface="Times New Roman" panose="02020603050405020304" pitchFamily="18" charset="0"/>
                          <a:cs typeface="Times New Roman" panose="02020603050405020304" pitchFamily="18" charset="0"/>
                        </a:rPr>
                        <a:t>0.475</a:t>
                      </a:r>
                      <a:endParaRPr lang="en-US" sz="2000" b="0" i="0" u="none" strike="noStrike">
                        <a:effectLst/>
                        <a:latin typeface="Times New Roman" panose="02020603050405020304" pitchFamily="18" charset="0"/>
                        <a:cs typeface="Times New Roman" panose="02020603050405020304" pitchFamily="18" charset="0"/>
                      </a:endParaRPr>
                    </a:p>
                  </a:txBody>
                  <a:tcPr marL="17010" marR="17010" marT="1701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Bef>
                          <a:spcPts val="0"/>
                        </a:spcBef>
                        <a:spcAft>
                          <a:spcPts val="0"/>
                        </a:spcAft>
                      </a:pPr>
                      <a:r>
                        <a:rPr lang="en-US" sz="2000" b="0" i="0" u="none" strike="noStrike" dirty="0">
                          <a:solidFill>
                            <a:srgbClr val="000000"/>
                          </a:solidFill>
                          <a:effectLst/>
                          <a:latin typeface="Times New Roman" panose="02020603050405020304" pitchFamily="18" charset="0"/>
                          <a:cs typeface="Times New Roman" panose="02020603050405020304" pitchFamily="18" charset="0"/>
                        </a:rPr>
                        <a:t>88</a:t>
                      </a:r>
                      <a:endParaRPr lang="en-US" sz="2000" b="0" i="0" u="none" strike="noStrike" dirty="0">
                        <a:effectLst/>
                        <a:latin typeface="Times New Roman" panose="02020603050405020304" pitchFamily="18" charset="0"/>
                        <a:cs typeface="Times New Roman" panose="02020603050405020304" pitchFamily="18" charset="0"/>
                      </a:endParaRPr>
                    </a:p>
                  </a:txBody>
                  <a:tcPr marL="17010" marR="17010" marT="1701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Bef>
                          <a:spcPts val="0"/>
                        </a:spcBef>
                        <a:spcAft>
                          <a:spcPts val="0"/>
                        </a:spcAft>
                      </a:pPr>
                      <a:r>
                        <a:rPr lang="en-US" sz="2000" b="0" i="0" u="none" strike="noStrike" dirty="0">
                          <a:solidFill>
                            <a:srgbClr val="000000"/>
                          </a:solidFill>
                          <a:effectLst/>
                          <a:latin typeface="Times New Roman" panose="02020603050405020304" pitchFamily="18" charset="0"/>
                          <a:cs typeface="Times New Roman" panose="02020603050405020304" pitchFamily="18" charset="0"/>
                        </a:rPr>
                        <a:t>1045</a:t>
                      </a:r>
                      <a:endParaRPr lang="en-US" sz="2000" b="0" i="0" u="none" strike="noStrike" dirty="0">
                        <a:effectLst/>
                        <a:latin typeface="Times New Roman" panose="02020603050405020304" pitchFamily="18" charset="0"/>
                        <a:cs typeface="Times New Roman" panose="02020603050405020304" pitchFamily="18" charset="0"/>
                      </a:endParaRPr>
                    </a:p>
                  </a:txBody>
                  <a:tcPr marL="17010" marR="17010" marT="1701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Bef>
                          <a:spcPts val="0"/>
                        </a:spcBef>
                        <a:spcAft>
                          <a:spcPts val="0"/>
                        </a:spcAft>
                      </a:pPr>
                      <a:r>
                        <a:rPr lang="en-US" sz="2000" b="0" i="0" u="none" strike="noStrike">
                          <a:solidFill>
                            <a:srgbClr val="000000"/>
                          </a:solidFill>
                          <a:effectLst/>
                          <a:latin typeface="Times New Roman" panose="02020603050405020304" pitchFamily="18" charset="0"/>
                          <a:cs typeface="Times New Roman" panose="02020603050405020304" pitchFamily="18" charset="0"/>
                        </a:rPr>
                        <a:t>1155</a:t>
                      </a:r>
                      <a:endParaRPr lang="en-US" sz="2000" b="0" i="0" u="none" strike="noStrike">
                        <a:effectLst/>
                        <a:latin typeface="Times New Roman" panose="02020603050405020304" pitchFamily="18" charset="0"/>
                        <a:cs typeface="Times New Roman" panose="02020603050405020304" pitchFamily="18" charset="0"/>
                      </a:endParaRPr>
                    </a:p>
                  </a:txBody>
                  <a:tcPr marL="17010" marR="17010" marT="1701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600513191"/>
                  </a:ext>
                </a:extLst>
              </a:tr>
              <a:tr h="536385">
                <a:tc>
                  <a:txBody>
                    <a:bodyPr/>
                    <a:lstStyle/>
                    <a:p>
                      <a:pPr algn="ctr" fontAlgn="ctr">
                        <a:spcBef>
                          <a:spcPts val="0"/>
                        </a:spcBef>
                        <a:spcAft>
                          <a:spcPts val="0"/>
                        </a:spcAft>
                      </a:pPr>
                      <a:r>
                        <a:rPr lang="en-US" sz="2000" b="0" i="0" u="none" strike="noStrike">
                          <a:solidFill>
                            <a:srgbClr val="000000"/>
                          </a:solidFill>
                          <a:effectLst/>
                          <a:latin typeface="Times New Roman" panose="02020603050405020304" pitchFamily="18" charset="0"/>
                          <a:cs typeface="Times New Roman" panose="02020603050405020304" pitchFamily="18" charset="0"/>
                        </a:rPr>
                        <a:t>4</a:t>
                      </a:r>
                      <a:endParaRPr lang="en-US" sz="2000" b="0" i="0" u="none" strike="noStrike">
                        <a:effectLst/>
                        <a:latin typeface="Times New Roman" panose="02020603050405020304" pitchFamily="18" charset="0"/>
                        <a:cs typeface="Times New Roman" panose="02020603050405020304" pitchFamily="18" charset="0"/>
                      </a:endParaRPr>
                    </a:p>
                  </a:txBody>
                  <a:tcPr marL="17010" marR="17010" marT="1701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Bef>
                          <a:spcPts val="0"/>
                        </a:spcBef>
                        <a:spcAft>
                          <a:spcPts val="0"/>
                        </a:spcAft>
                      </a:pPr>
                      <a:r>
                        <a:rPr lang="en-US" sz="2000" b="0" i="0" u="none" strike="noStrike">
                          <a:solidFill>
                            <a:srgbClr val="000000"/>
                          </a:solidFill>
                          <a:effectLst/>
                          <a:latin typeface="Times New Roman" panose="02020603050405020304" pitchFamily="18" charset="0"/>
                          <a:cs typeface="Times New Roman" panose="02020603050405020304" pitchFamily="18" charset="0"/>
                        </a:rPr>
                        <a:t>0.525</a:t>
                      </a:r>
                      <a:endParaRPr lang="en-US" sz="2000" b="0" i="0" u="none" strike="noStrike">
                        <a:effectLst/>
                        <a:latin typeface="Times New Roman" panose="02020603050405020304" pitchFamily="18" charset="0"/>
                        <a:cs typeface="Times New Roman" panose="02020603050405020304" pitchFamily="18" charset="0"/>
                      </a:endParaRPr>
                    </a:p>
                  </a:txBody>
                  <a:tcPr marL="17010" marR="17010" marT="1701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Bef>
                          <a:spcPts val="0"/>
                        </a:spcBef>
                        <a:spcAft>
                          <a:spcPts val="0"/>
                        </a:spcAft>
                      </a:pPr>
                      <a:r>
                        <a:rPr lang="en-US" sz="2000" b="0" i="0" u="none" strike="noStrike">
                          <a:solidFill>
                            <a:srgbClr val="000000"/>
                          </a:solidFill>
                          <a:effectLst/>
                          <a:latin typeface="Times New Roman" panose="02020603050405020304" pitchFamily="18" charset="0"/>
                          <a:cs typeface="Times New Roman" panose="02020603050405020304" pitchFamily="18" charset="0"/>
                        </a:rPr>
                        <a:t>88</a:t>
                      </a:r>
                      <a:endParaRPr lang="en-US" sz="2000" b="0" i="0" u="none" strike="noStrike">
                        <a:effectLst/>
                        <a:latin typeface="Times New Roman" panose="02020603050405020304" pitchFamily="18" charset="0"/>
                        <a:cs typeface="Times New Roman" panose="02020603050405020304" pitchFamily="18" charset="0"/>
                      </a:endParaRPr>
                    </a:p>
                  </a:txBody>
                  <a:tcPr marL="17010" marR="17010" marT="1701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Bef>
                          <a:spcPts val="0"/>
                        </a:spcBef>
                        <a:spcAft>
                          <a:spcPts val="0"/>
                        </a:spcAft>
                      </a:pPr>
                      <a:r>
                        <a:rPr lang="en-US" sz="2000" b="0" i="0" u="none" strike="noStrike" dirty="0">
                          <a:solidFill>
                            <a:srgbClr val="000000"/>
                          </a:solidFill>
                          <a:effectLst/>
                          <a:latin typeface="Times New Roman" panose="02020603050405020304" pitchFamily="18" charset="0"/>
                          <a:cs typeface="Times New Roman" panose="02020603050405020304" pitchFamily="18" charset="0"/>
                        </a:rPr>
                        <a:t>1155</a:t>
                      </a:r>
                      <a:endParaRPr lang="en-US" sz="2000" b="0" i="0" u="none" strike="noStrike" dirty="0">
                        <a:effectLst/>
                        <a:latin typeface="Times New Roman" panose="02020603050405020304" pitchFamily="18" charset="0"/>
                        <a:cs typeface="Times New Roman" panose="02020603050405020304" pitchFamily="18" charset="0"/>
                      </a:endParaRPr>
                    </a:p>
                  </a:txBody>
                  <a:tcPr marL="17010" marR="17010" marT="1701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Bef>
                          <a:spcPts val="0"/>
                        </a:spcBef>
                        <a:spcAft>
                          <a:spcPts val="0"/>
                        </a:spcAft>
                      </a:pPr>
                      <a:r>
                        <a:rPr lang="en-US" sz="2000" b="0" i="0" u="none" strike="noStrike">
                          <a:solidFill>
                            <a:srgbClr val="000000"/>
                          </a:solidFill>
                          <a:effectLst/>
                          <a:latin typeface="Times New Roman" panose="02020603050405020304" pitchFamily="18" charset="0"/>
                          <a:cs typeface="Times New Roman" panose="02020603050405020304" pitchFamily="18" charset="0"/>
                        </a:rPr>
                        <a:t>1045</a:t>
                      </a:r>
                      <a:endParaRPr lang="en-US" sz="2000" b="0" i="0" u="none" strike="noStrike">
                        <a:effectLst/>
                        <a:latin typeface="Times New Roman" panose="02020603050405020304" pitchFamily="18" charset="0"/>
                        <a:cs typeface="Times New Roman" panose="02020603050405020304" pitchFamily="18" charset="0"/>
                      </a:endParaRPr>
                    </a:p>
                  </a:txBody>
                  <a:tcPr marL="17010" marR="17010" marT="1701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15614950"/>
                  </a:ext>
                </a:extLst>
              </a:tr>
              <a:tr h="536385">
                <a:tc>
                  <a:txBody>
                    <a:bodyPr/>
                    <a:lstStyle/>
                    <a:p>
                      <a:pPr algn="ctr" fontAlgn="ctr">
                        <a:spcBef>
                          <a:spcPts val="0"/>
                        </a:spcBef>
                        <a:spcAft>
                          <a:spcPts val="0"/>
                        </a:spcAft>
                      </a:pPr>
                      <a:r>
                        <a:rPr lang="en-US" sz="2000" b="0" i="0" u="none" strike="noStrike">
                          <a:solidFill>
                            <a:srgbClr val="000000"/>
                          </a:solidFill>
                          <a:effectLst/>
                          <a:latin typeface="Times New Roman" panose="02020603050405020304" pitchFamily="18" charset="0"/>
                          <a:cs typeface="Times New Roman" panose="02020603050405020304" pitchFamily="18" charset="0"/>
                        </a:rPr>
                        <a:t>5</a:t>
                      </a:r>
                      <a:endParaRPr lang="en-US" sz="2000" b="0" i="0" u="none" strike="noStrike">
                        <a:effectLst/>
                        <a:latin typeface="Times New Roman" panose="02020603050405020304" pitchFamily="18" charset="0"/>
                        <a:cs typeface="Times New Roman" panose="02020603050405020304" pitchFamily="18" charset="0"/>
                      </a:endParaRPr>
                    </a:p>
                  </a:txBody>
                  <a:tcPr marL="17010" marR="17010" marT="1701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Bef>
                          <a:spcPts val="0"/>
                        </a:spcBef>
                        <a:spcAft>
                          <a:spcPts val="0"/>
                        </a:spcAft>
                      </a:pPr>
                      <a:r>
                        <a:rPr lang="en-US" sz="2000" b="0" i="0" u="none" strike="noStrike">
                          <a:solidFill>
                            <a:srgbClr val="000000"/>
                          </a:solidFill>
                          <a:effectLst/>
                          <a:latin typeface="Times New Roman" panose="02020603050405020304" pitchFamily="18" charset="0"/>
                          <a:cs typeface="Times New Roman" panose="02020603050405020304" pitchFamily="18" charset="0"/>
                        </a:rPr>
                        <a:t>0.575</a:t>
                      </a:r>
                      <a:endParaRPr lang="en-US" sz="2000" b="0" i="0" u="none" strike="noStrike">
                        <a:effectLst/>
                        <a:latin typeface="Times New Roman" panose="02020603050405020304" pitchFamily="18" charset="0"/>
                        <a:cs typeface="Times New Roman" panose="02020603050405020304" pitchFamily="18" charset="0"/>
                      </a:endParaRPr>
                    </a:p>
                  </a:txBody>
                  <a:tcPr marL="17010" marR="17010" marT="1701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Bef>
                          <a:spcPts val="0"/>
                        </a:spcBef>
                        <a:spcAft>
                          <a:spcPts val="0"/>
                        </a:spcAft>
                      </a:pPr>
                      <a:r>
                        <a:rPr lang="en-US" sz="2000" b="0" i="0" u="none" strike="noStrike">
                          <a:solidFill>
                            <a:srgbClr val="000000"/>
                          </a:solidFill>
                          <a:effectLst/>
                          <a:latin typeface="Times New Roman" panose="02020603050405020304" pitchFamily="18" charset="0"/>
                          <a:cs typeface="Times New Roman" panose="02020603050405020304" pitchFamily="18" charset="0"/>
                        </a:rPr>
                        <a:t>88</a:t>
                      </a:r>
                      <a:endParaRPr lang="en-US" sz="2000" b="0" i="0" u="none" strike="noStrike">
                        <a:effectLst/>
                        <a:latin typeface="Times New Roman" panose="02020603050405020304" pitchFamily="18" charset="0"/>
                        <a:cs typeface="Times New Roman" panose="02020603050405020304" pitchFamily="18" charset="0"/>
                      </a:endParaRPr>
                    </a:p>
                  </a:txBody>
                  <a:tcPr marL="17010" marR="17010" marT="1701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Bef>
                          <a:spcPts val="0"/>
                        </a:spcBef>
                        <a:spcAft>
                          <a:spcPts val="0"/>
                        </a:spcAft>
                      </a:pPr>
                      <a:r>
                        <a:rPr lang="en-US" sz="2000" b="0" i="0" u="none" strike="noStrike" dirty="0">
                          <a:solidFill>
                            <a:srgbClr val="000000"/>
                          </a:solidFill>
                          <a:effectLst/>
                          <a:latin typeface="Times New Roman" panose="02020603050405020304" pitchFamily="18" charset="0"/>
                          <a:cs typeface="Times New Roman" panose="02020603050405020304" pitchFamily="18" charset="0"/>
                        </a:rPr>
                        <a:t>1265</a:t>
                      </a:r>
                      <a:endParaRPr lang="en-US" sz="2000" b="0" i="0" u="none" strike="noStrike" dirty="0">
                        <a:effectLst/>
                        <a:latin typeface="Times New Roman" panose="02020603050405020304" pitchFamily="18" charset="0"/>
                        <a:cs typeface="Times New Roman" panose="02020603050405020304" pitchFamily="18" charset="0"/>
                      </a:endParaRPr>
                    </a:p>
                  </a:txBody>
                  <a:tcPr marL="17010" marR="17010" marT="1701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Bef>
                          <a:spcPts val="0"/>
                        </a:spcBef>
                        <a:spcAft>
                          <a:spcPts val="0"/>
                        </a:spcAft>
                      </a:pPr>
                      <a:r>
                        <a:rPr lang="en-US" sz="2000" b="0" i="0" u="none" strike="noStrike" dirty="0">
                          <a:solidFill>
                            <a:srgbClr val="000000"/>
                          </a:solidFill>
                          <a:effectLst/>
                          <a:latin typeface="Times New Roman" panose="02020603050405020304" pitchFamily="18" charset="0"/>
                          <a:cs typeface="Times New Roman" panose="02020603050405020304" pitchFamily="18" charset="0"/>
                        </a:rPr>
                        <a:t>935</a:t>
                      </a:r>
                      <a:endParaRPr lang="en-US" sz="2000" b="0" i="0" u="none" strike="noStrike" dirty="0">
                        <a:effectLst/>
                        <a:latin typeface="Times New Roman" panose="02020603050405020304" pitchFamily="18" charset="0"/>
                        <a:cs typeface="Times New Roman" panose="02020603050405020304" pitchFamily="18" charset="0"/>
                      </a:endParaRPr>
                    </a:p>
                  </a:txBody>
                  <a:tcPr marL="17010" marR="17010" marT="1701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78038822"/>
                  </a:ext>
                </a:extLst>
              </a:tr>
              <a:tr h="536385">
                <a:tc>
                  <a:txBody>
                    <a:bodyPr/>
                    <a:lstStyle/>
                    <a:p>
                      <a:pPr algn="ctr" fontAlgn="ctr">
                        <a:spcBef>
                          <a:spcPts val="0"/>
                        </a:spcBef>
                        <a:spcAft>
                          <a:spcPts val="0"/>
                        </a:spcAft>
                      </a:pPr>
                      <a:r>
                        <a:rPr lang="en-US" sz="2000" b="0" i="0" u="none" strike="noStrike">
                          <a:solidFill>
                            <a:srgbClr val="000000"/>
                          </a:solidFill>
                          <a:effectLst/>
                          <a:latin typeface="Times New Roman" panose="02020603050405020304" pitchFamily="18" charset="0"/>
                          <a:cs typeface="Times New Roman" panose="02020603050405020304" pitchFamily="18" charset="0"/>
                        </a:rPr>
                        <a:t>6</a:t>
                      </a:r>
                      <a:endParaRPr lang="en-US" sz="2000" b="0" i="0" u="none" strike="noStrike">
                        <a:effectLst/>
                        <a:latin typeface="Times New Roman" panose="02020603050405020304" pitchFamily="18" charset="0"/>
                        <a:cs typeface="Times New Roman" panose="02020603050405020304" pitchFamily="18" charset="0"/>
                      </a:endParaRPr>
                    </a:p>
                  </a:txBody>
                  <a:tcPr marL="17010" marR="17010" marT="1701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Bef>
                          <a:spcPts val="0"/>
                        </a:spcBef>
                        <a:spcAft>
                          <a:spcPts val="0"/>
                        </a:spcAft>
                      </a:pPr>
                      <a:r>
                        <a:rPr lang="en-US" sz="2000" b="0" i="0" u="none" strike="noStrike">
                          <a:solidFill>
                            <a:srgbClr val="000000"/>
                          </a:solidFill>
                          <a:effectLst/>
                          <a:latin typeface="Times New Roman" panose="02020603050405020304" pitchFamily="18" charset="0"/>
                          <a:cs typeface="Times New Roman" panose="02020603050405020304" pitchFamily="18" charset="0"/>
                        </a:rPr>
                        <a:t>0.6</a:t>
                      </a:r>
                      <a:endParaRPr lang="en-US" sz="2000" b="0" i="0" u="none" strike="noStrike">
                        <a:effectLst/>
                        <a:latin typeface="Times New Roman" panose="02020603050405020304" pitchFamily="18" charset="0"/>
                        <a:cs typeface="Times New Roman" panose="02020603050405020304" pitchFamily="18" charset="0"/>
                      </a:endParaRPr>
                    </a:p>
                  </a:txBody>
                  <a:tcPr marL="17010" marR="17010" marT="1701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Bef>
                          <a:spcPts val="0"/>
                        </a:spcBef>
                        <a:spcAft>
                          <a:spcPts val="0"/>
                        </a:spcAft>
                      </a:pPr>
                      <a:r>
                        <a:rPr lang="en-US" sz="2000" b="0" i="0" u="none" strike="noStrike">
                          <a:solidFill>
                            <a:srgbClr val="000000"/>
                          </a:solidFill>
                          <a:effectLst/>
                          <a:latin typeface="Times New Roman" panose="02020603050405020304" pitchFamily="18" charset="0"/>
                          <a:cs typeface="Times New Roman" panose="02020603050405020304" pitchFamily="18" charset="0"/>
                        </a:rPr>
                        <a:t>88</a:t>
                      </a:r>
                      <a:endParaRPr lang="en-US" sz="2000" b="0" i="0" u="none" strike="noStrike">
                        <a:effectLst/>
                        <a:latin typeface="Times New Roman" panose="02020603050405020304" pitchFamily="18" charset="0"/>
                        <a:cs typeface="Times New Roman" panose="02020603050405020304" pitchFamily="18" charset="0"/>
                      </a:endParaRPr>
                    </a:p>
                  </a:txBody>
                  <a:tcPr marL="17010" marR="17010" marT="1701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Bef>
                          <a:spcPts val="0"/>
                        </a:spcBef>
                        <a:spcAft>
                          <a:spcPts val="0"/>
                        </a:spcAft>
                      </a:pPr>
                      <a:r>
                        <a:rPr lang="en-US" sz="2000" b="0" i="0" u="none" strike="noStrike">
                          <a:solidFill>
                            <a:srgbClr val="000000"/>
                          </a:solidFill>
                          <a:effectLst/>
                          <a:latin typeface="Times New Roman" panose="02020603050405020304" pitchFamily="18" charset="0"/>
                          <a:cs typeface="Times New Roman" panose="02020603050405020304" pitchFamily="18" charset="0"/>
                        </a:rPr>
                        <a:t>1320</a:t>
                      </a:r>
                      <a:endParaRPr lang="en-US" sz="2000" b="0" i="0" u="none" strike="noStrike">
                        <a:effectLst/>
                        <a:latin typeface="Times New Roman" panose="02020603050405020304" pitchFamily="18" charset="0"/>
                        <a:cs typeface="Times New Roman" panose="02020603050405020304" pitchFamily="18" charset="0"/>
                      </a:endParaRPr>
                    </a:p>
                  </a:txBody>
                  <a:tcPr marL="17010" marR="17010" marT="1701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ctr" fontAlgn="ctr">
                        <a:spcBef>
                          <a:spcPts val="0"/>
                        </a:spcBef>
                        <a:spcAft>
                          <a:spcPts val="0"/>
                        </a:spcAft>
                      </a:pPr>
                      <a:r>
                        <a:rPr lang="en-US" sz="2000" b="0" i="0" u="none" strike="noStrike" dirty="0">
                          <a:solidFill>
                            <a:srgbClr val="000000"/>
                          </a:solidFill>
                          <a:effectLst/>
                          <a:latin typeface="Times New Roman" panose="02020603050405020304" pitchFamily="18" charset="0"/>
                          <a:cs typeface="Times New Roman" panose="02020603050405020304" pitchFamily="18" charset="0"/>
                        </a:rPr>
                        <a:t>880</a:t>
                      </a:r>
                      <a:endParaRPr lang="en-US" sz="2000" b="0" i="0" u="none" strike="noStrike" dirty="0">
                        <a:effectLst/>
                        <a:latin typeface="Times New Roman" panose="02020603050405020304" pitchFamily="18" charset="0"/>
                        <a:cs typeface="Times New Roman" panose="02020603050405020304" pitchFamily="18" charset="0"/>
                      </a:endParaRPr>
                    </a:p>
                  </a:txBody>
                  <a:tcPr marL="17010" marR="17010" marT="1701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3316354"/>
                  </a:ext>
                </a:extLst>
              </a:tr>
            </a:tbl>
          </a:graphicData>
        </a:graphic>
      </p:graphicFrame>
    </p:spTree>
    <p:extLst>
      <p:ext uri="{BB962C8B-B14F-4D97-AF65-F5344CB8AC3E}">
        <p14:creationId xmlns:p14="http://schemas.microsoft.com/office/powerpoint/2010/main" val="8473870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166BF9EE-F7AC-4FA5-AC7E-001B3A642F7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 y="228600"/>
            <a:ext cx="2851523" cy="6638625"/>
            <a:chOff x="2487613" y="285750"/>
            <a:chExt cx="2428875" cy="5654676"/>
          </a:xfrm>
        </p:grpSpPr>
        <p:sp>
          <p:nvSpPr>
            <p:cNvPr id="9" name="Freeform 11">
              <a:extLst>
                <a:ext uri="{FF2B5EF4-FFF2-40B4-BE49-F238E27FC236}">
                  <a16:creationId xmlns:a16="http://schemas.microsoft.com/office/drawing/2014/main" id="{3B48D182-44E3-4D8B-ACEF-F1A900BE44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10" name="Freeform 12">
              <a:extLst>
                <a:ext uri="{FF2B5EF4-FFF2-40B4-BE49-F238E27FC236}">
                  <a16:creationId xmlns:a16="http://schemas.microsoft.com/office/drawing/2014/main" id="{355A535A-A489-477F-A314-593AA8CAFB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11" name="Freeform 13">
              <a:extLst>
                <a:ext uri="{FF2B5EF4-FFF2-40B4-BE49-F238E27FC236}">
                  <a16:creationId xmlns:a16="http://schemas.microsoft.com/office/drawing/2014/main" id="{954C2D4C-FD83-4EF4-9312-04442ABD66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12" name="Freeform 14">
              <a:extLst>
                <a:ext uri="{FF2B5EF4-FFF2-40B4-BE49-F238E27FC236}">
                  <a16:creationId xmlns:a16="http://schemas.microsoft.com/office/drawing/2014/main" id="{C20701C2-CD9A-4698-BC97-E1085820C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13" name="Freeform 15">
              <a:extLst>
                <a:ext uri="{FF2B5EF4-FFF2-40B4-BE49-F238E27FC236}">
                  <a16:creationId xmlns:a16="http://schemas.microsoft.com/office/drawing/2014/main" id="{62575C35-466F-42AE-87A1-D691849AB8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14" name="Freeform 16">
              <a:extLst>
                <a:ext uri="{FF2B5EF4-FFF2-40B4-BE49-F238E27FC236}">
                  <a16:creationId xmlns:a16="http://schemas.microsoft.com/office/drawing/2014/main" id="{58236F37-6119-45AC-80A0-CD2C311B50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15" name="Freeform 17">
              <a:extLst>
                <a:ext uri="{FF2B5EF4-FFF2-40B4-BE49-F238E27FC236}">
                  <a16:creationId xmlns:a16="http://schemas.microsoft.com/office/drawing/2014/main" id="{F3FDD799-39FE-4D6F-9A64-2F472B2150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16" name="Freeform 18">
              <a:extLst>
                <a:ext uri="{FF2B5EF4-FFF2-40B4-BE49-F238E27FC236}">
                  <a16:creationId xmlns:a16="http://schemas.microsoft.com/office/drawing/2014/main" id="{9820D241-1D49-442C-A95A-00BC1BF9E2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17" name="Freeform 19">
              <a:extLst>
                <a:ext uri="{FF2B5EF4-FFF2-40B4-BE49-F238E27FC236}">
                  <a16:creationId xmlns:a16="http://schemas.microsoft.com/office/drawing/2014/main" id="{EBC2197C-B383-4866-8ABD-74222400BE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18" name="Freeform 20">
              <a:extLst>
                <a:ext uri="{FF2B5EF4-FFF2-40B4-BE49-F238E27FC236}">
                  <a16:creationId xmlns:a16="http://schemas.microsoft.com/office/drawing/2014/main" id="{404B06AA-FC93-4471-9DE4-56A401E70A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19" name="Freeform 21">
              <a:extLst>
                <a:ext uri="{FF2B5EF4-FFF2-40B4-BE49-F238E27FC236}">
                  <a16:creationId xmlns:a16="http://schemas.microsoft.com/office/drawing/2014/main" id="{E580600C-013F-4FAF-8FB7-4CC0FA80A9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20" name="Freeform 22">
              <a:extLst>
                <a:ext uri="{FF2B5EF4-FFF2-40B4-BE49-F238E27FC236}">
                  <a16:creationId xmlns:a16="http://schemas.microsoft.com/office/drawing/2014/main" id="{9BFCF199-64B2-4AEE-88C4-E954ABF362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22" name="Group 21">
            <a:extLst>
              <a:ext uri="{FF2B5EF4-FFF2-40B4-BE49-F238E27FC236}">
                <a16:creationId xmlns:a16="http://schemas.microsoft.com/office/drawing/2014/main" id="{E312DBA5-56D8-42B2-BA94-28168C2A670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7224" y="-786"/>
            <a:ext cx="2356675" cy="6854040"/>
            <a:chOff x="6627813" y="194833"/>
            <a:chExt cx="1952625" cy="5678918"/>
          </a:xfrm>
        </p:grpSpPr>
        <p:sp>
          <p:nvSpPr>
            <p:cNvPr id="23" name="Freeform 27">
              <a:extLst>
                <a:ext uri="{FF2B5EF4-FFF2-40B4-BE49-F238E27FC236}">
                  <a16:creationId xmlns:a16="http://schemas.microsoft.com/office/drawing/2014/main" id="{7AD46C74-3117-46B0-B267-0F61B57CAC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24" name="Freeform 28">
              <a:extLst>
                <a:ext uri="{FF2B5EF4-FFF2-40B4-BE49-F238E27FC236}">
                  <a16:creationId xmlns:a16="http://schemas.microsoft.com/office/drawing/2014/main" id="{8C13B810-9664-45D8-8510-D6ED0ADD72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25" name="Freeform 29">
              <a:extLst>
                <a:ext uri="{FF2B5EF4-FFF2-40B4-BE49-F238E27FC236}">
                  <a16:creationId xmlns:a16="http://schemas.microsoft.com/office/drawing/2014/main" id="{10306E52-A922-4458-BCCE-C3C840CC75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26" name="Freeform 30">
              <a:extLst>
                <a:ext uri="{FF2B5EF4-FFF2-40B4-BE49-F238E27FC236}">
                  <a16:creationId xmlns:a16="http://schemas.microsoft.com/office/drawing/2014/main" id="{CB578819-B7E7-4250-932F-52AE2A2A9A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27" name="Freeform 31">
              <a:extLst>
                <a:ext uri="{FF2B5EF4-FFF2-40B4-BE49-F238E27FC236}">
                  <a16:creationId xmlns:a16="http://schemas.microsoft.com/office/drawing/2014/main" id="{454B9C91-B623-424A-B16E-F764F189D3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28" name="Freeform 32">
              <a:extLst>
                <a:ext uri="{FF2B5EF4-FFF2-40B4-BE49-F238E27FC236}">
                  <a16:creationId xmlns:a16="http://schemas.microsoft.com/office/drawing/2014/main" id="{EFD03C4A-8484-41E6-B458-032F1DCA70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29" name="Freeform 33">
              <a:extLst>
                <a:ext uri="{FF2B5EF4-FFF2-40B4-BE49-F238E27FC236}">
                  <a16:creationId xmlns:a16="http://schemas.microsoft.com/office/drawing/2014/main" id="{DDC2F3C3-1D4E-4913-9C5C-F9A65B47E5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30" name="Freeform 34">
              <a:extLst>
                <a:ext uri="{FF2B5EF4-FFF2-40B4-BE49-F238E27FC236}">
                  <a16:creationId xmlns:a16="http://schemas.microsoft.com/office/drawing/2014/main" id="{1E15BCA2-2420-4C53-ADE9-40FBAC2384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31" name="Freeform 35">
              <a:extLst>
                <a:ext uri="{FF2B5EF4-FFF2-40B4-BE49-F238E27FC236}">
                  <a16:creationId xmlns:a16="http://schemas.microsoft.com/office/drawing/2014/main" id="{73D5FBF4-7129-4C51-B603-E3BC334195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32" name="Freeform 36">
              <a:extLst>
                <a:ext uri="{FF2B5EF4-FFF2-40B4-BE49-F238E27FC236}">
                  <a16:creationId xmlns:a16="http://schemas.microsoft.com/office/drawing/2014/main" id="{0165B164-CE2A-494C-88FC-507232B37C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33" name="Freeform 37">
              <a:extLst>
                <a:ext uri="{FF2B5EF4-FFF2-40B4-BE49-F238E27FC236}">
                  <a16:creationId xmlns:a16="http://schemas.microsoft.com/office/drawing/2014/main" id="{87F127E5-B10B-4D18-BCF0-E7C3C7F401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34" name="Freeform 38">
              <a:extLst>
                <a:ext uri="{FF2B5EF4-FFF2-40B4-BE49-F238E27FC236}">
                  <a16:creationId xmlns:a16="http://schemas.microsoft.com/office/drawing/2014/main" id="{FC692D59-F28D-4E42-B435-225F2C6CFA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36" name="Rectangle 35">
            <a:extLst>
              <a:ext uri="{FF2B5EF4-FFF2-40B4-BE49-F238E27FC236}">
                <a16:creationId xmlns:a16="http://schemas.microsoft.com/office/drawing/2014/main" id="{1996130F-9AB5-4DE9-8574-3AF891C5C1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38" name="Freeform 11">
            <a:extLst>
              <a:ext uri="{FF2B5EF4-FFF2-40B4-BE49-F238E27FC236}">
                <a16:creationId xmlns:a16="http://schemas.microsoft.com/office/drawing/2014/main" id="{7326F4E6-9131-42DA-97B2-0BA8D1E258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useBgFill="1">
        <p:nvSpPr>
          <p:cNvPr id="40" name="Rectangle 39">
            <a:extLst>
              <a:ext uri="{FF2B5EF4-FFF2-40B4-BE49-F238E27FC236}">
                <a16:creationId xmlns:a16="http://schemas.microsoft.com/office/drawing/2014/main" id="{E491B121-12B5-4977-A064-636AB0B9B0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2ED05F70-AB3E-4472-B26B-EFE6A5A59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76B27F95-FD0B-C034-4295-642E9373EBC2}"/>
                  </a:ext>
                </a:extLst>
              </p:cNvPr>
              <p:cNvSpPr txBox="1"/>
              <p:nvPr/>
            </p:nvSpPr>
            <p:spPr>
              <a:xfrm>
                <a:off x="649224" y="2133600"/>
                <a:ext cx="6574535" cy="3759253"/>
              </a:xfrm>
              <a:prstGeom prst="rect">
                <a:avLst/>
              </a:prstGeom>
            </p:spPr>
            <p:txBody>
              <a:bodyPr vert="horz" lIns="91440" tIns="45720" rIns="91440" bIns="45720" rtlCol="0">
                <a:normAutofit/>
              </a:bodyPr>
              <a:lstStyle/>
              <a:p>
                <a:pPr>
                  <a:spcBef>
                    <a:spcPts val="1000"/>
                  </a:spcBef>
                  <a:buClr>
                    <a:schemeClr val="accent1"/>
                  </a:buClr>
                  <a:buFont typeface="Wingdings 3" charset="2"/>
                  <a:buChar char=""/>
                </a:pPr>
                <a:r>
                  <a:rPr lang="en-US" sz="2000" dirty="0">
                    <a:solidFill>
                      <a:schemeClr val="tx1">
                        <a:lumMod val="75000"/>
                        <a:lumOff val="25000"/>
                      </a:schemeClr>
                    </a:solidFill>
                    <a:latin typeface="Times New Roman" panose="02020603050405020304" pitchFamily="18" charset="0"/>
                    <a:cs typeface="Times New Roman" panose="02020603050405020304" pitchFamily="18" charset="0"/>
                  </a:rPr>
                  <a:t>The humidity ratio due to water vapor generated by the occupants is given by:</a:t>
                </a:r>
              </a:p>
              <a:p>
                <a:pPr>
                  <a:spcBef>
                    <a:spcPts val="1000"/>
                  </a:spcBef>
                  <a:buClr>
                    <a:schemeClr val="accent1"/>
                  </a:buClr>
                  <a:buFont typeface="Wingdings 3" charset="2"/>
                  <a:buChar char=""/>
                </a:pPr>
                <a:endParaRPr lang="en-US" sz="2000" dirty="0">
                  <a:solidFill>
                    <a:schemeClr val="tx1">
                      <a:lumMod val="75000"/>
                      <a:lumOff val="25000"/>
                    </a:schemeClr>
                  </a:solidFill>
                  <a:latin typeface="Times New Roman" panose="02020603050405020304" pitchFamily="18" charset="0"/>
                  <a:cs typeface="Times New Roman" panose="02020603050405020304" pitchFamily="18" charset="0"/>
                </a:endParaRPr>
              </a:p>
              <a:p>
                <a:pPr>
                  <a:spcBef>
                    <a:spcPts val="1000"/>
                  </a:spcBef>
                  <a:buClr>
                    <a:schemeClr val="accent1"/>
                  </a:buClr>
                </a:pPr>
                <a14:m>
                  <m:oMathPara xmlns:m="http://schemas.openxmlformats.org/officeDocument/2006/math">
                    <m:oMathParaPr>
                      <m:jc m:val="centerGroup"/>
                    </m:oMathParaPr>
                    <m:oMath xmlns:m="http://schemas.openxmlformats.org/officeDocument/2006/math">
                      <m:sSub>
                        <m:sSubPr>
                          <m:ctrlPr>
                            <a:rPr lang="en-US" sz="2000" i="1">
                              <a:solidFill>
                                <a:schemeClr val="tx1">
                                  <a:lumMod val="75000"/>
                                  <a:lumOff val="25000"/>
                                </a:schemeClr>
                              </a:solidFill>
                              <a:effectLst/>
                              <a:latin typeface="Cambria Math" panose="02040503050406030204" pitchFamily="18" charset="0"/>
                            </a:rPr>
                          </m:ctrlPr>
                        </m:sSubPr>
                        <m:e>
                          <m:r>
                            <a:rPr lang="en-US" sz="2000" i="1">
                              <a:solidFill>
                                <a:schemeClr val="tx1">
                                  <a:lumMod val="75000"/>
                                  <a:lumOff val="25000"/>
                                </a:schemeClr>
                              </a:solidFill>
                              <a:effectLst/>
                              <a:latin typeface="Cambria Math" panose="02040503050406030204" pitchFamily="18" charset="0"/>
                            </a:rPr>
                            <m:t>𝑊</m:t>
                          </m:r>
                        </m:e>
                        <m:sub>
                          <m:r>
                            <a:rPr lang="en-US" sz="2000" i="1">
                              <a:solidFill>
                                <a:schemeClr val="tx1">
                                  <a:lumMod val="75000"/>
                                  <a:lumOff val="25000"/>
                                </a:schemeClr>
                              </a:solidFill>
                              <a:effectLst/>
                              <a:latin typeface="Cambria Math" panose="02040503050406030204" pitchFamily="18" charset="0"/>
                            </a:rPr>
                            <m:t>𝑣</m:t>
                          </m:r>
                        </m:sub>
                      </m:sSub>
                      <m:r>
                        <a:rPr lang="en-US" sz="2000" i="1">
                          <a:solidFill>
                            <a:schemeClr val="tx1">
                              <a:lumMod val="75000"/>
                              <a:lumOff val="25000"/>
                            </a:schemeClr>
                          </a:solidFill>
                          <a:effectLst/>
                          <a:latin typeface="Cambria Math" panose="02040503050406030204" pitchFamily="18" charset="0"/>
                        </a:rPr>
                        <m:t>=</m:t>
                      </m:r>
                      <m:f>
                        <m:fPr>
                          <m:ctrlPr>
                            <a:rPr lang="en-US" sz="2000" i="1">
                              <a:solidFill>
                                <a:schemeClr val="tx1">
                                  <a:lumMod val="75000"/>
                                  <a:lumOff val="25000"/>
                                </a:schemeClr>
                              </a:solidFill>
                              <a:effectLst/>
                              <a:latin typeface="Cambria Math" panose="02040503050406030204" pitchFamily="18" charset="0"/>
                            </a:rPr>
                          </m:ctrlPr>
                        </m:fPr>
                        <m:num>
                          <m:sSub>
                            <m:sSubPr>
                              <m:ctrlPr>
                                <a:rPr lang="en-US" sz="2000" i="1">
                                  <a:solidFill>
                                    <a:schemeClr val="tx1">
                                      <a:lumMod val="75000"/>
                                      <a:lumOff val="25000"/>
                                    </a:schemeClr>
                                  </a:solidFill>
                                  <a:effectLst/>
                                  <a:latin typeface="Cambria Math" panose="02040503050406030204" pitchFamily="18" charset="0"/>
                                </a:rPr>
                              </m:ctrlPr>
                            </m:sSubPr>
                            <m:e>
                              <m:r>
                                <a:rPr lang="en-US" sz="2000" i="1">
                                  <a:solidFill>
                                    <a:schemeClr val="tx1">
                                      <a:lumMod val="75000"/>
                                      <a:lumOff val="25000"/>
                                    </a:schemeClr>
                                  </a:solidFill>
                                  <a:effectLst/>
                                  <a:latin typeface="Cambria Math" panose="02040503050406030204" pitchFamily="18" charset="0"/>
                                </a:rPr>
                                <m:t>𝑁</m:t>
                              </m:r>
                            </m:e>
                            <m:sub>
                              <m:r>
                                <a:rPr lang="en-US" sz="2000" i="1">
                                  <a:solidFill>
                                    <a:schemeClr val="tx1">
                                      <a:lumMod val="75000"/>
                                      <a:lumOff val="25000"/>
                                    </a:schemeClr>
                                  </a:solidFill>
                                  <a:effectLst/>
                                  <a:latin typeface="Cambria Math" panose="02040503050406030204" pitchFamily="18" charset="0"/>
                                </a:rPr>
                                <m:t>𝑝</m:t>
                              </m:r>
                            </m:sub>
                          </m:sSub>
                          <m:sSub>
                            <m:sSubPr>
                              <m:ctrlPr>
                                <a:rPr lang="en-US" sz="2000" i="1">
                                  <a:solidFill>
                                    <a:schemeClr val="tx1">
                                      <a:lumMod val="75000"/>
                                      <a:lumOff val="25000"/>
                                    </a:schemeClr>
                                  </a:solidFill>
                                  <a:effectLst/>
                                  <a:latin typeface="Cambria Math" panose="02040503050406030204" pitchFamily="18" charset="0"/>
                                </a:rPr>
                              </m:ctrlPr>
                            </m:sSubPr>
                            <m:e>
                              <m:acc>
                                <m:accPr>
                                  <m:chr m:val="̇"/>
                                  <m:ctrlPr>
                                    <a:rPr lang="en-US" sz="2000" i="1">
                                      <a:solidFill>
                                        <a:schemeClr val="tx1">
                                          <a:lumMod val="75000"/>
                                          <a:lumOff val="25000"/>
                                        </a:schemeClr>
                                      </a:solidFill>
                                      <a:effectLst/>
                                      <a:latin typeface="Cambria Math" panose="02040503050406030204" pitchFamily="18" charset="0"/>
                                    </a:rPr>
                                  </m:ctrlPr>
                                </m:accPr>
                                <m:e>
                                  <m:r>
                                    <a:rPr lang="en-US" sz="2000" i="1">
                                      <a:solidFill>
                                        <a:schemeClr val="tx1">
                                          <a:lumMod val="75000"/>
                                          <a:lumOff val="25000"/>
                                        </a:schemeClr>
                                      </a:solidFill>
                                      <a:effectLst/>
                                      <a:latin typeface="Cambria Math" panose="02040503050406030204" pitchFamily="18" charset="0"/>
                                    </a:rPr>
                                    <m:t>𝑤</m:t>
                                  </m:r>
                                </m:e>
                              </m:acc>
                            </m:e>
                            <m:sub>
                              <m:r>
                                <a:rPr lang="en-US" sz="2000" i="1">
                                  <a:solidFill>
                                    <a:schemeClr val="tx1">
                                      <a:lumMod val="75000"/>
                                      <a:lumOff val="25000"/>
                                    </a:schemeClr>
                                  </a:solidFill>
                                  <a:effectLst/>
                                  <a:latin typeface="Cambria Math" panose="02040503050406030204" pitchFamily="18" charset="0"/>
                                </a:rPr>
                                <m:t>𝑝</m:t>
                              </m:r>
                            </m:sub>
                          </m:sSub>
                        </m:num>
                        <m:den>
                          <m:sSub>
                            <m:sSubPr>
                              <m:ctrlPr>
                                <a:rPr lang="en-US" sz="2000" i="1">
                                  <a:solidFill>
                                    <a:schemeClr val="tx1">
                                      <a:lumMod val="75000"/>
                                      <a:lumOff val="25000"/>
                                    </a:schemeClr>
                                  </a:solidFill>
                                  <a:effectLst/>
                                  <a:latin typeface="Cambria Math" panose="02040503050406030204" pitchFamily="18" charset="0"/>
                                </a:rPr>
                              </m:ctrlPr>
                            </m:sSubPr>
                            <m:e>
                              <m:acc>
                                <m:accPr>
                                  <m:chr m:val="̇"/>
                                  <m:ctrlPr>
                                    <a:rPr lang="en-US" sz="2000" i="1">
                                      <a:solidFill>
                                        <a:schemeClr val="tx1">
                                          <a:lumMod val="75000"/>
                                          <a:lumOff val="25000"/>
                                        </a:schemeClr>
                                      </a:solidFill>
                                      <a:effectLst/>
                                      <a:latin typeface="Cambria Math" panose="02040503050406030204" pitchFamily="18" charset="0"/>
                                    </a:rPr>
                                  </m:ctrlPr>
                                </m:accPr>
                                <m:e>
                                  <m:r>
                                    <a:rPr lang="en-US" sz="2000" i="1">
                                      <a:solidFill>
                                        <a:schemeClr val="tx1">
                                          <a:lumMod val="75000"/>
                                          <a:lumOff val="25000"/>
                                        </a:schemeClr>
                                      </a:solidFill>
                                      <a:effectLst/>
                                      <a:latin typeface="Cambria Math" panose="02040503050406030204" pitchFamily="18" charset="0"/>
                                    </a:rPr>
                                    <m:t>𝑚</m:t>
                                  </m:r>
                                </m:e>
                              </m:acc>
                            </m:e>
                            <m:sub>
                              <m:r>
                                <a:rPr lang="en-US" sz="2000" i="1">
                                  <a:solidFill>
                                    <a:schemeClr val="tx1">
                                      <a:lumMod val="75000"/>
                                      <a:lumOff val="25000"/>
                                    </a:schemeClr>
                                  </a:solidFill>
                                  <a:effectLst/>
                                  <a:latin typeface="Cambria Math" panose="02040503050406030204" pitchFamily="18" charset="0"/>
                                </a:rPr>
                                <m:t>𝑠</m:t>
                              </m:r>
                            </m:sub>
                          </m:sSub>
                        </m:den>
                      </m:f>
                    </m:oMath>
                  </m:oMathPara>
                </a14:m>
                <a:endParaRPr lang="en-US" sz="2000" dirty="0">
                  <a:solidFill>
                    <a:schemeClr val="tx1">
                      <a:lumMod val="75000"/>
                      <a:lumOff val="25000"/>
                    </a:schemeClr>
                  </a:solidFill>
                  <a:effectLst/>
                  <a:latin typeface="Times New Roman" panose="02020603050405020304" pitchFamily="18" charset="0"/>
                  <a:cs typeface="Times New Roman" panose="02020603050405020304" pitchFamily="18" charset="0"/>
                </a:endParaRPr>
              </a:p>
              <a:p>
                <a:pPr>
                  <a:spcBef>
                    <a:spcPts val="1000"/>
                  </a:spcBef>
                  <a:buClr>
                    <a:schemeClr val="accent1"/>
                  </a:buClr>
                  <a:buFont typeface="Wingdings 3" charset="2"/>
                  <a:buChar char=""/>
                </a:pPr>
                <a:endParaRPr lang="en-US" sz="2000" dirty="0">
                  <a:solidFill>
                    <a:schemeClr val="tx1">
                      <a:lumMod val="75000"/>
                      <a:lumOff val="25000"/>
                    </a:schemeClr>
                  </a:solidFill>
                  <a:latin typeface="Times New Roman" panose="02020603050405020304" pitchFamily="18" charset="0"/>
                  <a:cs typeface="Times New Roman" panose="02020603050405020304" pitchFamily="18" charset="0"/>
                </a:endParaRPr>
              </a:p>
              <a:p>
                <a:pPr>
                  <a:spcBef>
                    <a:spcPts val="1000"/>
                  </a:spcBef>
                  <a:buClr>
                    <a:schemeClr val="accent1"/>
                  </a:buClr>
                  <a:buFont typeface="Wingdings 3" charset="2"/>
                  <a:buChar char=""/>
                </a:pPr>
                <a:r>
                  <a:rPr lang="en-US" sz="2000" dirty="0">
                    <a:solidFill>
                      <a:schemeClr val="tx1">
                        <a:lumMod val="75000"/>
                        <a:lumOff val="25000"/>
                      </a:schemeClr>
                    </a:solidFill>
                    <a:latin typeface="Times New Roman" panose="02020603050405020304" pitchFamily="18" charset="0"/>
                    <a:cs typeface="Times New Roman" panose="02020603050405020304" pitchFamily="18" charset="0"/>
                  </a:rPr>
                  <a:t>Where </a:t>
                </a:r>
                <a14:m>
                  <m:oMath xmlns:m="http://schemas.openxmlformats.org/officeDocument/2006/math">
                    <m:sSub>
                      <m:sSubPr>
                        <m:ctrlPr>
                          <a:rPr lang="en-US" sz="2000" i="1">
                            <a:solidFill>
                              <a:schemeClr val="tx1">
                                <a:lumMod val="75000"/>
                                <a:lumOff val="25000"/>
                              </a:schemeClr>
                            </a:solidFill>
                            <a:effectLst/>
                            <a:latin typeface="Cambria Math" panose="02040503050406030204" pitchFamily="18" charset="0"/>
                          </a:rPr>
                        </m:ctrlPr>
                      </m:sSubPr>
                      <m:e>
                        <m:acc>
                          <m:accPr>
                            <m:chr m:val="̇"/>
                            <m:ctrlPr>
                              <a:rPr lang="en-US" sz="2000" i="1">
                                <a:solidFill>
                                  <a:schemeClr val="tx1">
                                    <a:lumMod val="75000"/>
                                    <a:lumOff val="25000"/>
                                  </a:schemeClr>
                                </a:solidFill>
                                <a:effectLst/>
                                <a:latin typeface="Cambria Math" panose="02040503050406030204" pitchFamily="18" charset="0"/>
                              </a:rPr>
                            </m:ctrlPr>
                          </m:accPr>
                          <m:e>
                            <m:r>
                              <a:rPr lang="en-US" sz="2000" i="1">
                                <a:solidFill>
                                  <a:schemeClr val="tx1">
                                    <a:lumMod val="75000"/>
                                    <a:lumOff val="25000"/>
                                  </a:schemeClr>
                                </a:solidFill>
                                <a:effectLst/>
                                <a:latin typeface="Cambria Math" panose="02040503050406030204" pitchFamily="18" charset="0"/>
                              </a:rPr>
                              <m:t>𝑤</m:t>
                            </m:r>
                          </m:e>
                        </m:acc>
                      </m:e>
                      <m:sub>
                        <m:r>
                          <a:rPr lang="en-US" sz="2000" i="1">
                            <a:solidFill>
                              <a:schemeClr val="tx1">
                                <a:lumMod val="75000"/>
                                <a:lumOff val="25000"/>
                              </a:schemeClr>
                            </a:solidFill>
                            <a:effectLst/>
                            <a:latin typeface="Cambria Math" panose="02040503050406030204" pitchFamily="18" charset="0"/>
                          </a:rPr>
                          <m:t>𝑝</m:t>
                        </m:r>
                      </m:sub>
                    </m:sSub>
                  </m:oMath>
                </a14:m>
                <a:r>
                  <a:rPr lang="en-US" sz="2000" dirty="0">
                    <a:solidFill>
                      <a:schemeClr val="tx1">
                        <a:lumMod val="75000"/>
                        <a:lumOff val="25000"/>
                      </a:schemeClr>
                    </a:solidFill>
                    <a:latin typeface="Times New Roman" panose="02020603050405020304" pitchFamily="18" charset="0"/>
                    <a:cs typeface="Times New Roman" panose="02020603050405020304" pitchFamily="18" charset="0"/>
                  </a:rPr>
                  <a:t> is the water vapor rate generated by each person equals to </a:t>
                </a:r>
                <a14:m>
                  <m:oMath xmlns:m="http://schemas.openxmlformats.org/officeDocument/2006/math">
                    <m:r>
                      <a:rPr lang="en-US" sz="2000" i="1">
                        <a:solidFill>
                          <a:schemeClr val="tx1">
                            <a:lumMod val="75000"/>
                            <a:lumOff val="25000"/>
                          </a:schemeClr>
                        </a:solidFill>
                        <a:latin typeface="Cambria Math" panose="02040503050406030204" pitchFamily="18" charset="0"/>
                      </a:rPr>
                      <m:t>1.4∗</m:t>
                    </m:r>
                    <m:sSup>
                      <m:sSupPr>
                        <m:ctrlPr>
                          <a:rPr lang="en-US" sz="2000" i="1">
                            <a:solidFill>
                              <a:schemeClr val="tx1">
                                <a:lumMod val="75000"/>
                                <a:lumOff val="25000"/>
                              </a:schemeClr>
                            </a:solidFill>
                            <a:latin typeface="Cambria Math" panose="02040503050406030204" pitchFamily="18" charset="0"/>
                          </a:rPr>
                        </m:ctrlPr>
                      </m:sSupPr>
                      <m:e>
                        <m:r>
                          <a:rPr lang="en-US" sz="2000" i="1">
                            <a:solidFill>
                              <a:schemeClr val="tx1">
                                <a:lumMod val="75000"/>
                                <a:lumOff val="25000"/>
                              </a:schemeClr>
                            </a:solidFill>
                            <a:latin typeface="Cambria Math" panose="02040503050406030204" pitchFamily="18" charset="0"/>
                          </a:rPr>
                          <m:t>10</m:t>
                        </m:r>
                      </m:e>
                      <m:sup>
                        <m:r>
                          <a:rPr lang="en-US" sz="2000" i="1">
                            <a:solidFill>
                              <a:schemeClr val="tx1">
                                <a:lumMod val="75000"/>
                                <a:lumOff val="25000"/>
                              </a:schemeClr>
                            </a:solidFill>
                            <a:latin typeface="Cambria Math" panose="02040503050406030204" pitchFamily="18" charset="0"/>
                          </a:rPr>
                          <m:t>−5</m:t>
                        </m:r>
                      </m:sup>
                    </m:sSup>
                    <m:r>
                      <a:rPr lang="en-US" sz="2000" i="1">
                        <a:solidFill>
                          <a:schemeClr val="tx1">
                            <a:lumMod val="75000"/>
                            <a:lumOff val="25000"/>
                          </a:schemeClr>
                        </a:solidFill>
                        <a:latin typeface="Cambria Math" panose="02040503050406030204" pitchFamily="18" charset="0"/>
                      </a:rPr>
                      <m:t> </m:t>
                    </m:r>
                    <m:f>
                      <m:fPr>
                        <m:ctrlPr>
                          <a:rPr lang="en-US" sz="2000" i="1">
                            <a:solidFill>
                              <a:schemeClr val="tx1">
                                <a:lumMod val="75000"/>
                                <a:lumOff val="25000"/>
                              </a:schemeClr>
                            </a:solidFill>
                            <a:latin typeface="Cambria Math" panose="02040503050406030204" pitchFamily="18" charset="0"/>
                          </a:rPr>
                        </m:ctrlPr>
                      </m:fPr>
                      <m:num>
                        <m:r>
                          <a:rPr lang="en-US" sz="2000" i="1">
                            <a:solidFill>
                              <a:schemeClr val="tx1">
                                <a:lumMod val="75000"/>
                                <a:lumOff val="25000"/>
                              </a:schemeClr>
                            </a:solidFill>
                            <a:latin typeface="Cambria Math" panose="02040503050406030204" pitchFamily="18" charset="0"/>
                          </a:rPr>
                          <m:t>𝑘𝑔</m:t>
                        </m:r>
                        <m:r>
                          <a:rPr lang="en-US" sz="2000" i="1">
                            <a:solidFill>
                              <a:schemeClr val="tx1">
                                <a:lumMod val="75000"/>
                                <a:lumOff val="25000"/>
                              </a:schemeClr>
                            </a:solidFill>
                            <a:latin typeface="Cambria Math" panose="02040503050406030204" pitchFamily="18" charset="0"/>
                          </a:rPr>
                          <m:t> </m:t>
                        </m:r>
                        <m:r>
                          <a:rPr lang="en-US" sz="2000" i="1">
                            <a:solidFill>
                              <a:schemeClr val="tx1">
                                <a:lumMod val="75000"/>
                                <a:lumOff val="25000"/>
                              </a:schemeClr>
                            </a:solidFill>
                            <a:latin typeface="Cambria Math" panose="02040503050406030204" pitchFamily="18" charset="0"/>
                          </a:rPr>
                          <m:t>𝑜𝑓</m:t>
                        </m:r>
                        <m:r>
                          <a:rPr lang="en-US" sz="2000" i="1">
                            <a:solidFill>
                              <a:schemeClr val="tx1">
                                <a:lumMod val="75000"/>
                                <a:lumOff val="25000"/>
                              </a:schemeClr>
                            </a:solidFill>
                            <a:latin typeface="Cambria Math" panose="02040503050406030204" pitchFamily="18" charset="0"/>
                          </a:rPr>
                          <m:t> </m:t>
                        </m:r>
                        <m:r>
                          <a:rPr lang="en-US" sz="2000" i="1">
                            <a:solidFill>
                              <a:schemeClr val="tx1">
                                <a:lumMod val="75000"/>
                                <a:lumOff val="25000"/>
                              </a:schemeClr>
                            </a:solidFill>
                            <a:latin typeface="Cambria Math" panose="02040503050406030204" pitchFamily="18" charset="0"/>
                          </a:rPr>
                          <m:t>𝐻</m:t>
                        </m:r>
                        <m:r>
                          <a:rPr lang="en-US" sz="2000" i="1">
                            <a:solidFill>
                              <a:schemeClr val="tx1">
                                <a:lumMod val="75000"/>
                                <a:lumOff val="25000"/>
                              </a:schemeClr>
                            </a:solidFill>
                            <a:latin typeface="Cambria Math" panose="02040503050406030204" pitchFamily="18" charset="0"/>
                          </a:rPr>
                          <m:t>2</m:t>
                        </m:r>
                        <m:r>
                          <a:rPr lang="en-US" sz="2000" i="1">
                            <a:solidFill>
                              <a:schemeClr val="tx1">
                                <a:lumMod val="75000"/>
                                <a:lumOff val="25000"/>
                              </a:schemeClr>
                            </a:solidFill>
                            <a:latin typeface="Cambria Math" panose="02040503050406030204" pitchFamily="18" charset="0"/>
                          </a:rPr>
                          <m:t>𝑂</m:t>
                        </m:r>
                      </m:num>
                      <m:den>
                        <m:r>
                          <a:rPr lang="en-US" sz="2000" i="1">
                            <a:solidFill>
                              <a:schemeClr val="tx1">
                                <a:lumMod val="75000"/>
                                <a:lumOff val="25000"/>
                              </a:schemeClr>
                            </a:solidFill>
                            <a:latin typeface="Cambria Math" panose="02040503050406030204" pitchFamily="18" charset="0"/>
                          </a:rPr>
                          <m:t>𝑘𝑔</m:t>
                        </m:r>
                        <m:r>
                          <a:rPr lang="en-US" sz="2000" i="1">
                            <a:solidFill>
                              <a:schemeClr val="tx1">
                                <a:lumMod val="75000"/>
                                <a:lumOff val="25000"/>
                              </a:schemeClr>
                            </a:solidFill>
                            <a:latin typeface="Cambria Math" panose="02040503050406030204" pitchFamily="18" charset="0"/>
                          </a:rPr>
                          <m:t> </m:t>
                        </m:r>
                        <m:r>
                          <a:rPr lang="en-US" sz="2000" i="1">
                            <a:solidFill>
                              <a:schemeClr val="tx1">
                                <a:lumMod val="75000"/>
                                <a:lumOff val="25000"/>
                              </a:schemeClr>
                            </a:solidFill>
                            <a:latin typeface="Cambria Math" panose="02040503050406030204" pitchFamily="18" charset="0"/>
                          </a:rPr>
                          <m:t>𝑜𝑓</m:t>
                        </m:r>
                        <m:r>
                          <a:rPr lang="en-US" sz="2000" i="1">
                            <a:solidFill>
                              <a:schemeClr val="tx1">
                                <a:lumMod val="75000"/>
                                <a:lumOff val="25000"/>
                              </a:schemeClr>
                            </a:solidFill>
                            <a:latin typeface="Cambria Math" panose="02040503050406030204" pitchFamily="18" charset="0"/>
                          </a:rPr>
                          <m:t> </m:t>
                        </m:r>
                        <m:r>
                          <a:rPr lang="en-US" sz="2000" i="1">
                            <a:solidFill>
                              <a:schemeClr val="tx1">
                                <a:lumMod val="75000"/>
                                <a:lumOff val="25000"/>
                              </a:schemeClr>
                            </a:solidFill>
                            <a:latin typeface="Cambria Math" panose="02040503050406030204" pitchFamily="18" charset="0"/>
                          </a:rPr>
                          <m:t>𝑎𝑖𝑟</m:t>
                        </m:r>
                      </m:den>
                    </m:f>
                    <m:r>
                      <a:rPr lang="en-US" sz="2000" i="1">
                        <a:solidFill>
                          <a:schemeClr val="tx1">
                            <a:lumMod val="75000"/>
                            <a:lumOff val="25000"/>
                          </a:schemeClr>
                        </a:solidFill>
                        <a:latin typeface="Cambria Math" panose="02040503050406030204" pitchFamily="18" charset="0"/>
                      </a:rPr>
                      <m:t> </m:t>
                    </m:r>
                    <m:r>
                      <a:rPr lang="en-US" sz="2000" i="1">
                        <a:solidFill>
                          <a:schemeClr val="tx1">
                            <a:lumMod val="75000"/>
                            <a:lumOff val="25000"/>
                          </a:schemeClr>
                        </a:solidFill>
                        <a:latin typeface="Cambria Math" panose="02040503050406030204" pitchFamily="18" charset="0"/>
                      </a:rPr>
                      <m:t>𝑝𝑒𝑟</m:t>
                    </m:r>
                    <m:r>
                      <a:rPr lang="en-US" sz="2000" i="1">
                        <a:solidFill>
                          <a:schemeClr val="tx1">
                            <a:lumMod val="75000"/>
                            <a:lumOff val="25000"/>
                          </a:schemeClr>
                        </a:solidFill>
                        <a:latin typeface="Cambria Math" panose="02040503050406030204" pitchFamily="18" charset="0"/>
                      </a:rPr>
                      <m:t> </m:t>
                    </m:r>
                    <m:r>
                      <a:rPr lang="en-US" sz="2000" i="1">
                        <a:solidFill>
                          <a:schemeClr val="tx1">
                            <a:lumMod val="75000"/>
                            <a:lumOff val="25000"/>
                          </a:schemeClr>
                        </a:solidFill>
                        <a:latin typeface="Cambria Math" panose="02040503050406030204" pitchFamily="18" charset="0"/>
                      </a:rPr>
                      <m:t>𝑠𝑒𝑐𝑜𝑛𝑑</m:t>
                    </m:r>
                  </m:oMath>
                </a14:m>
                <a:endParaRPr lang="en-US" sz="2000" dirty="0">
                  <a:solidFill>
                    <a:schemeClr val="tx1">
                      <a:lumMod val="75000"/>
                      <a:lumOff val="25000"/>
                    </a:schemeClr>
                  </a:solidFill>
                  <a:latin typeface="Times New Roman" panose="02020603050405020304" pitchFamily="18" charset="0"/>
                  <a:cs typeface="Times New Roman" panose="02020603050405020304" pitchFamily="18" charset="0"/>
                </a:endParaRPr>
              </a:p>
              <a:p>
                <a:pPr>
                  <a:spcBef>
                    <a:spcPts val="1000"/>
                  </a:spcBef>
                  <a:buClr>
                    <a:schemeClr val="accent1"/>
                  </a:buClr>
                  <a:buFont typeface="Wingdings 3" charset="2"/>
                  <a:buChar char=""/>
                </a:pPr>
                <a:endParaRPr lang="en-US" dirty="0">
                  <a:solidFill>
                    <a:schemeClr val="tx1">
                      <a:lumMod val="75000"/>
                      <a:lumOff val="25000"/>
                    </a:schemeClr>
                  </a:solidFill>
                </a:endParaRPr>
              </a:p>
              <a:p>
                <a:pPr>
                  <a:spcBef>
                    <a:spcPts val="1000"/>
                  </a:spcBef>
                  <a:buClr>
                    <a:schemeClr val="accent1"/>
                  </a:buClr>
                  <a:buFont typeface="Wingdings 3" charset="2"/>
                  <a:buChar char=""/>
                </a:pPr>
                <a:endParaRPr lang="en-US" dirty="0">
                  <a:solidFill>
                    <a:schemeClr val="tx1">
                      <a:lumMod val="75000"/>
                      <a:lumOff val="25000"/>
                    </a:schemeClr>
                  </a:solidFill>
                </a:endParaRPr>
              </a:p>
              <a:p>
                <a:pPr>
                  <a:spcBef>
                    <a:spcPts val="1000"/>
                  </a:spcBef>
                  <a:buClr>
                    <a:schemeClr val="accent1"/>
                  </a:buClr>
                  <a:buFont typeface="Wingdings 3" charset="2"/>
                  <a:buChar char=""/>
                </a:pPr>
                <a:endParaRPr lang="en-US" dirty="0">
                  <a:solidFill>
                    <a:schemeClr val="tx1">
                      <a:lumMod val="75000"/>
                      <a:lumOff val="25000"/>
                    </a:schemeClr>
                  </a:solidFill>
                </a:endParaRPr>
              </a:p>
            </p:txBody>
          </p:sp>
        </mc:Choice>
        <mc:Fallback xmlns="">
          <p:sp>
            <p:nvSpPr>
              <p:cNvPr id="2" name="TextBox 1">
                <a:extLst>
                  <a:ext uri="{FF2B5EF4-FFF2-40B4-BE49-F238E27FC236}">
                    <a16:creationId xmlns:a16="http://schemas.microsoft.com/office/drawing/2014/main" id="{76B27F95-FD0B-C034-4295-642E9373EBC2}"/>
                  </a:ext>
                </a:extLst>
              </p:cNvPr>
              <p:cNvSpPr txBox="1">
                <a:spLocks noRot="1" noChangeAspect="1" noMove="1" noResize="1" noEditPoints="1" noAdjustHandles="1" noChangeArrowheads="1" noChangeShapeType="1" noTextEdit="1"/>
              </p:cNvSpPr>
              <p:nvPr/>
            </p:nvSpPr>
            <p:spPr>
              <a:xfrm>
                <a:off x="649224" y="2133600"/>
                <a:ext cx="6574535" cy="3759253"/>
              </a:xfrm>
              <a:prstGeom prst="rect">
                <a:avLst/>
              </a:prstGeom>
              <a:blipFill>
                <a:blip r:embed="rId2"/>
                <a:stretch>
                  <a:fillRect l="-1020" t="-810"/>
                </a:stretch>
              </a:blipFill>
            </p:spPr>
            <p:txBody>
              <a:bodyPr/>
              <a:lstStyle/>
              <a:p>
                <a:r>
                  <a:rPr lang="en-US">
                    <a:noFill/>
                  </a:rPr>
                  <a:t> </a:t>
                </a:r>
              </a:p>
            </p:txBody>
          </p:sp>
        </mc:Fallback>
      </mc:AlternateContent>
      <p:sp>
        <p:nvSpPr>
          <p:cNvPr id="44" name="Freeform 11">
            <a:extLst>
              <a:ext uri="{FF2B5EF4-FFF2-40B4-BE49-F238E27FC236}">
                <a16:creationId xmlns:a16="http://schemas.microsoft.com/office/drawing/2014/main" id="{21F6BE39-9E37-45F0-B10C-92305CFB7C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061223"/>
            <a:ext cx="1038036" cy="506277"/>
          </a:xfrm>
          <a:custGeom>
            <a:avLst/>
            <a:gdLst>
              <a:gd name="connsiteX0" fmla="*/ 0 w 1038036"/>
              <a:gd name="connsiteY0" fmla="*/ 0 h 506277"/>
              <a:gd name="connsiteX1" fmla="*/ 182880 w 1038036"/>
              <a:gd name="connsiteY1" fmla="*/ 0 h 506277"/>
              <a:gd name="connsiteX2" fmla="*/ 291705 w 1038036"/>
              <a:gd name="connsiteY2" fmla="*/ 0 h 506277"/>
              <a:gd name="connsiteX3" fmla="*/ 291705 w 1038036"/>
              <a:gd name="connsiteY3" fmla="*/ 151 h 506277"/>
              <a:gd name="connsiteX4" fmla="*/ 692049 w 1038036"/>
              <a:gd name="connsiteY4" fmla="*/ 705 h 506277"/>
              <a:gd name="connsiteX5" fmla="*/ 782744 w 1038036"/>
              <a:gd name="connsiteY5" fmla="*/ 705 h 506277"/>
              <a:gd name="connsiteX6" fmla="*/ 797001 w 1038036"/>
              <a:gd name="connsiteY6" fmla="*/ 5473 h 506277"/>
              <a:gd name="connsiteX7" fmla="*/ 801982 w 1038036"/>
              <a:gd name="connsiteY7" fmla="*/ 10242 h 506277"/>
              <a:gd name="connsiteX8" fmla="*/ 1030951 w 1038036"/>
              <a:gd name="connsiteY8" fmla="*/ 239185 h 506277"/>
              <a:gd name="connsiteX9" fmla="*/ 1030951 w 1038036"/>
              <a:gd name="connsiteY9" fmla="*/ 267797 h 506277"/>
              <a:gd name="connsiteX10" fmla="*/ 801982 w 1038036"/>
              <a:gd name="connsiteY10" fmla="*/ 496740 h 506277"/>
              <a:gd name="connsiteX11" fmla="*/ 797001 w 1038036"/>
              <a:gd name="connsiteY11" fmla="*/ 501508 h 506277"/>
              <a:gd name="connsiteX12" fmla="*/ 782744 w 1038036"/>
              <a:gd name="connsiteY12" fmla="*/ 506277 h 506277"/>
              <a:gd name="connsiteX13" fmla="*/ 692049 w 1038036"/>
              <a:gd name="connsiteY13" fmla="*/ 506277 h 506277"/>
              <a:gd name="connsiteX14" fmla="*/ 291705 w 1038036"/>
              <a:gd name="connsiteY14" fmla="*/ 505140 h 506277"/>
              <a:gd name="connsiteX15" fmla="*/ 291705 w 1038036"/>
              <a:gd name="connsiteY15" fmla="*/ 506277 h 506277"/>
              <a:gd name="connsiteX16" fmla="*/ 0 w 1038036"/>
              <a:gd name="connsiteY16" fmla="*/ 506277 h 5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8036" h="506277">
                <a:moveTo>
                  <a:pt x="0" y="0"/>
                </a:moveTo>
                <a:lnTo>
                  <a:pt x="182880" y="0"/>
                </a:lnTo>
                <a:lnTo>
                  <a:pt x="291705" y="0"/>
                </a:lnTo>
                <a:lnTo>
                  <a:pt x="291705" y="151"/>
                </a:lnTo>
                <a:lnTo>
                  <a:pt x="692049" y="705"/>
                </a:lnTo>
                <a:lnTo>
                  <a:pt x="782744" y="705"/>
                </a:lnTo>
                <a:cubicBezTo>
                  <a:pt x="787553" y="705"/>
                  <a:pt x="792363" y="5473"/>
                  <a:pt x="797001" y="5473"/>
                </a:cubicBezTo>
                <a:cubicBezTo>
                  <a:pt x="797001" y="10242"/>
                  <a:pt x="801982" y="10242"/>
                  <a:pt x="801982" y="10242"/>
                </a:cubicBezTo>
                <a:lnTo>
                  <a:pt x="1030951" y="239185"/>
                </a:lnTo>
                <a:cubicBezTo>
                  <a:pt x="1040398" y="248722"/>
                  <a:pt x="1040398" y="258259"/>
                  <a:pt x="1030951" y="267797"/>
                </a:cubicBezTo>
                <a:lnTo>
                  <a:pt x="801982" y="496740"/>
                </a:lnTo>
                <a:cubicBezTo>
                  <a:pt x="800436" y="498363"/>
                  <a:pt x="798547" y="499885"/>
                  <a:pt x="797001" y="501508"/>
                </a:cubicBezTo>
                <a:cubicBezTo>
                  <a:pt x="792363" y="506277"/>
                  <a:pt x="787553" y="506277"/>
                  <a:pt x="782744" y="506277"/>
                </a:cubicBezTo>
                <a:lnTo>
                  <a:pt x="692049" y="506277"/>
                </a:lnTo>
                <a:lnTo>
                  <a:pt x="291705" y="505140"/>
                </a:lnTo>
                <a:lnTo>
                  <a:pt x="291705" y="506277"/>
                </a:lnTo>
                <a:lnTo>
                  <a:pt x="0" y="50627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 name="Table 2">
            <a:extLst>
              <a:ext uri="{FF2B5EF4-FFF2-40B4-BE49-F238E27FC236}">
                <a16:creationId xmlns:a16="http://schemas.microsoft.com/office/drawing/2014/main" id="{ABABE95B-E462-4B66-B997-0028F22FAA29}"/>
              </a:ext>
            </a:extLst>
          </p:cNvPr>
          <p:cNvGraphicFramePr>
            <a:graphicFrameLocks noGrp="1"/>
          </p:cNvGraphicFramePr>
          <p:nvPr>
            <p:extLst>
              <p:ext uri="{D42A27DB-BD31-4B8C-83A1-F6EECF244321}">
                <p14:modId xmlns:p14="http://schemas.microsoft.com/office/powerpoint/2010/main" val="97457687"/>
              </p:ext>
            </p:extLst>
          </p:nvPr>
        </p:nvGraphicFramePr>
        <p:xfrm>
          <a:off x="7795769" y="1993198"/>
          <a:ext cx="3542791" cy="3275706"/>
        </p:xfrm>
        <a:graphic>
          <a:graphicData uri="http://schemas.openxmlformats.org/drawingml/2006/table">
            <a:tbl>
              <a:tblPr firstRow="1" bandRow="1">
                <a:tableStyleId>{5C22544A-7EE6-4342-B048-85BDC9FD1C3A}</a:tableStyleId>
              </a:tblPr>
              <a:tblGrid>
                <a:gridCol w="1167442">
                  <a:extLst>
                    <a:ext uri="{9D8B030D-6E8A-4147-A177-3AD203B41FA5}">
                      <a16:colId xmlns:a16="http://schemas.microsoft.com/office/drawing/2014/main" val="923129988"/>
                    </a:ext>
                  </a:extLst>
                </a:gridCol>
                <a:gridCol w="897670">
                  <a:extLst>
                    <a:ext uri="{9D8B030D-6E8A-4147-A177-3AD203B41FA5}">
                      <a16:colId xmlns:a16="http://schemas.microsoft.com/office/drawing/2014/main" val="4090697982"/>
                    </a:ext>
                  </a:extLst>
                </a:gridCol>
                <a:gridCol w="1477679">
                  <a:extLst>
                    <a:ext uri="{9D8B030D-6E8A-4147-A177-3AD203B41FA5}">
                      <a16:colId xmlns:a16="http://schemas.microsoft.com/office/drawing/2014/main" val="1597653742"/>
                    </a:ext>
                  </a:extLst>
                </a:gridCol>
              </a:tblGrid>
              <a:tr h="467958">
                <a:tc>
                  <a:txBody>
                    <a:bodyPr/>
                    <a:lstStyle/>
                    <a:p>
                      <a:pPr algn="ctr" fontAlgn="ctr"/>
                      <a:r>
                        <a:rPr lang="en-US" sz="2000" u="none" strike="noStrike" dirty="0">
                          <a:effectLst/>
                          <a:latin typeface="Times New Roman" panose="02020603050405020304" pitchFamily="18" charset="0"/>
                          <a:cs typeface="Times New Roman" panose="02020603050405020304" pitchFamily="18" charset="0"/>
                        </a:rPr>
                        <a:t>Design</a:t>
                      </a:r>
                      <a:endParaRPr lang="en-US" sz="20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15159" marR="15159" marT="15159" marB="0" anchor="ctr"/>
                </a:tc>
                <a:tc>
                  <a:txBody>
                    <a:bodyPr/>
                    <a:lstStyle/>
                    <a:p>
                      <a:pPr algn="l" fontAlgn="ctr"/>
                      <a:r>
                        <a:rPr lang="en-US" sz="2000" u="none" strike="noStrike">
                          <a:effectLst/>
                          <a:latin typeface="Times New Roman" panose="02020603050405020304" pitchFamily="18" charset="0"/>
                          <a:cs typeface="Times New Roman" panose="02020603050405020304" pitchFamily="18" charset="0"/>
                        </a:rPr>
                        <a:t>mdot</a:t>
                      </a:r>
                      <a:endParaRPr lang="en-US" sz="2000" b="1" i="0" u="none" strike="noStrike">
                        <a:solidFill>
                          <a:srgbClr val="FFFFFF"/>
                        </a:solidFill>
                        <a:effectLst/>
                        <a:latin typeface="Times New Roman" panose="02020603050405020304" pitchFamily="18" charset="0"/>
                        <a:cs typeface="Times New Roman" panose="02020603050405020304" pitchFamily="18" charset="0"/>
                      </a:endParaRPr>
                    </a:p>
                  </a:txBody>
                  <a:tcPr marL="15159" marR="15159" marT="15159" marB="0" anchor="ctr"/>
                </a:tc>
                <a:tc>
                  <a:txBody>
                    <a:bodyPr/>
                    <a:lstStyle/>
                    <a:p>
                      <a:pPr algn="l" fontAlgn="ctr"/>
                      <a:r>
                        <a:rPr lang="en-US" sz="2000" u="none" strike="noStrike">
                          <a:effectLst/>
                          <a:latin typeface="Times New Roman" panose="02020603050405020304" pitchFamily="18" charset="0"/>
                          <a:cs typeface="Times New Roman" panose="02020603050405020304" pitchFamily="18" charset="0"/>
                        </a:rPr>
                        <a:t>Wv</a:t>
                      </a:r>
                      <a:endParaRPr lang="en-US" sz="2000" b="1" i="0" u="none" strike="noStrike">
                        <a:solidFill>
                          <a:srgbClr val="FFFFFF"/>
                        </a:solidFill>
                        <a:effectLst/>
                        <a:latin typeface="Times New Roman" panose="02020603050405020304" pitchFamily="18" charset="0"/>
                        <a:cs typeface="Times New Roman" panose="02020603050405020304" pitchFamily="18" charset="0"/>
                      </a:endParaRPr>
                    </a:p>
                  </a:txBody>
                  <a:tcPr marL="15159" marR="15159" marT="15159" marB="0" anchor="ctr"/>
                </a:tc>
                <a:extLst>
                  <a:ext uri="{0D108BD9-81ED-4DB2-BD59-A6C34878D82A}">
                    <a16:rowId xmlns:a16="http://schemas.microsoft.com/office/drawing/2014/main" val="2549593044"/>
                  </a:ext>
                </a:extLst>
              </a:tr>
              <a:tr h="467958">
                <a:tc>
                  <a:txBody>
                    <a:bodyPr/>
                    <a:lstStyle/>
                    <a:p>
                      <a:pPr algn="ctr" fontAlgn="ctr"/>
                      <a:r>
                        <a:rPr lang="en-US" sz="2000" u="none" strike="noStrike" dirty="0">
                          <a:effectLst/>
                          <a:latin typeface="Times New Roman" panose="02020603050405020304" pitchFamily="18" charset="0"/>
                          <a:cs typeface="Times New Roman" panose="02020603050405020304" pitchFamily="18" charset="0"/>
                        </a:rPr>
                        <a:t>1</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15159" marR="15159" marT="15159" marB="0" anchor="ctr"/>
                </a:tc>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0.55</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15159" marR="15159" marT="15159" marB="0" anchor="ctr"/>
                </a:tc>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0.000305</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15159" marR="15159" marT="15159" marB="0" anchor="ctr"/>
                </a:tc>
                <a:extLst>
                  <a:ext uri="{0D108BD9-81ED-4DB2-BD59-A6C34878D82A}">
                    <a16:rowId xmlns:a16="http://schemas.microsoft.com/office/drawing/2014/main" val="3405981876"/>
                  </a:ext>
                </a:extLst>
              </a:tr>
              <a:tr h="467958">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2</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15159" marR="15159" marT="15159" marB="0" anchor="ctr"/>
                </a:tc>
                <a:tc>
                  <a:txBody>
                    <a:bodyPr/>
                    <a:lstStyle/>
                    <a:p>
                      <a:pPr algn="ctr" fontAlgn="ctr"/>
                      <a:r>
                        <a:rPr lang="en-US" sz="2000" u="none" strike="noStrike" dirty="0">
                          <a:effectLst/>
                          <a:latin typeface="Times New Roman" panose="02020603050405020304" pitchFamily="18" charset="0"/>
                          <a:cs typeface="Times New Roman" panose="02020603050405020304" pitchFamily="18" charset="0"/>
                        </a:rPr>
                        <a:t>0.37</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15159" marR="15159" marT="15159" marB="0" anchor="ctr"/>
                </a:tc>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0.000458</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15159" marR="15159" marT="15159" marB="0" anchor="ctr"/>
                </a:tc>
                <a:extLst>
                  <a:ext uri="{0D108BD9-81ED-4DB2-BD59-A6C34878D82A}">
                    <a16:rowId xmlns:a16="http://schemas.microsoft.com/office/drawing/2014/main" val="2949698291"/>
                  </a:ext>
                </a:extLst>
              </a:tr>
              <a:tr h="467958">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3</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15159" marR="15159" marT="15159" marB="0" anchor="ctr"/>
                </a:tc>
                <a:tc>
                  <a:txBody>
                    <a:bodyPr/>
                    <a:lstStyle/>
                    <a:p>
                      <a:pPr algn="ctr" fontAlgn="ctr"/>
                      <a:r>
                        <a:rPr lang="en-US" sz="2000" u="none" strike="noStrike" dirty="0">
                          <a:effectLst/>
                          <a:latin typeface="Times New Roman" panose="02020603050405020304" pitchFamily="18" charset="0"/>
                          <a:cs typeface="Times New Roman" panose="02020603050405020304" pitchFamily="18" charset="0"/>
                        </a:rPr>
                        <a:t>0.28</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15159" marR="15159" marT="15159" marB="0" anchor="ctr"/>
                </a:tc>
                <a:tc>
                  <a:txBody>
                    <a:bodyPr/>
                    <a:lstStyle/>
                    <a:p>
                      <a:pPr algn="ctr" fontAlgn="ctr"/>
                      <a:r>
                        <a:rPr lang="en-US" sz="2000" u="none" strike="noStrike" dirty="0">
                          <a:effectLst/>
                          <a:latin typeface="Times New Roman" panose="02020603050405020304" pitchFamily="18" charset="0"/>
                          <a:cs typeface="Times New Roman" panose="02020603050405020304" pitchFamily="18" charset="0"/>
                        </a:rPr>
                        <a:t>0.000611</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15159" marR="15159" marT="15159" marB="0" anchor="ctr"/>
                </a:tc>
                <a:extLst>
                  <a:ext uri="{0D108BD9-81ED-4DB2-BD59-A6C34878D82A}">
                    <a16:rowId xmlns:a16="http://schemas.microsoft.com/office/drawing/2014/main" val="627081439"/>
                  </a:ext>
                </a:extLst>
              </a:tr>
              <a:tr h="467958">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4</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15159" marR="15159" marT="15159" marB="0" anchor="ctr"/>
                </a:tc>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0.22</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15159" marR="15159" marT="15159" marB="0" anchor="ctr"/>
                </a:tc>
                <a:tc>
                  <a:txBody>
                    <a:bodyPr/>
                    <a:lstStyle/>
                    <a:p>
                      <a:pPr algn="ctr" fontAlgn="ctr"/>
                      <a:r>
                        <a:rPr lang="en-US" sz="2000" u="none" strike="noStrike" dirty="0">
                          <a:effectLst/>
                          <a:latin typeface="Times New Roman" panose="02020603050405020304" pitchFamily="18" charset="0"/>
                          <a:cs typeface="Times New Roman" panose="02020603050405020304" pitchFamily="18" charset="0"/>
                        </a:rPr>
                        <a:t>0.000764</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15159" marR="15159" marT="15159" marB="0" anchor="ctr"/>
                </a:tc>
                <a:extLst>
                  <a:ext uri="{0D108BD9-81ED-4DB2-BD59-A6C34878D82A}">
                    <a16:rowId xmlns:a16="http://schemas.microsoft.com/office/drawing/2014/main" val="485408784"/>
                  </a:ext>
                </a:extLst>
              </a:tr>
              <a:tr h="467958">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5</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15159" marR="15159" marT="15159" marB="0" anchor="ctr"/>
                </a:tc>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0.18</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15159" marR="15159" marT="15159" marB="0" anchor="ctr"/>
                </a:tc>
                <a:tc>
                  <a:txBody>
                    <a:bodyPr/>
                    <a:lstStyle/>
                    <a:p>
                      <a:pPr algn="ctr" fontAlgn="ctr"/>
                      <a:r>
                        <a:rPr lang="en-US" sz="2000" u="none" strike="noStrike" dirty="0">
                          <a:effectLst/>
                          <a:latin typeface="Times New Roman" panose="02020603050405020304" pitchFamily="18" charset="0"/>
                          <a:cs typeface="Times New Roman" panose="02020603050405020304" pitchFamily="18" charset="0"/>
                        </a:rPr>
                        <a:t>0.000916</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15159" marR="15159" marT="15159" marB="0" anchor="ctr"/>
                </a:tc>
                <a:extLst>
                  <a:ext uri="{0D108BD9-81ED-4DB2-BD59-A6C34878D82A}">
                    <a16:rowId xmlns:a16="http://schemas.microsoft.com/office/drawing/2014/main" val="3168006035"/>
                  </a:ext>
                </a:extLst>
              </a:tr>
              <a:tr h="467958">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6</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15159" marR="15159" marT="15159" marB="0" anchor="ctr"/>
                </a:tc>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0.16</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15159" marR="15159" marT="15159" marB="0" anchor="ctr"/>
                </a:tc>
                <a:tc>
                  <a:txBody>
                    <a:bodyPr/>
                    <a:lstStyle/>
                    <a:p>
                      <a:pPr algn="ctr" fontAlgn="ctr"/>
                      <a:r>
                        <a:rPr lang="en-US" sz="2000" u="none" strike="noStrike" dirty="0">
                          <a:effectLst/>
                          <a:latin typeface="Times New Roman" panose="02020603050405020304" pitchFamily="18" charset="0"/>
                          <a:cs typeface="Times New Roman" panose="02020603050405020304" pitchFamily="18" charset="0"/>
                        </a:rPr>
                        <a:t>0.001069</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15159" marR="15159" marT="15159" marB="0" anchor="ctr"/>
                </a:tc>
                <a:extLst>
                  <a:ext uri="{0D108BD9-81ED-4DB2-BD59-A6C34878D82A}">
                    <a16:rowId xmlns:a16="http://schemas.microsoft.com/office/drawing/2014/main" val="4029333377"/>
                  </a:ext>
                </a:extLst>
              </a:tr>
            </a:tbl>
          </a:graphicData>
        </a:graphic>
      </p:graphicFrame>
    </p:spTree>
    <p:extLst>
      <p:ext uri="{BB962C8B-B14F-4D97-AF65-F5344CB8AC3E}">
        <p14:creationId xmlns:p14="http://schemas.microsoft.com/office/powerpoint/2010/main" val="17469155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166BF9EE-F7AC-4FA5-AC7E-001B3A642F7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 y="228600"/>
            <a:ext cx="2851523" cy="6638625"/>
            <a:chOff x="2487613" y="285750"/>
            <a:chExt cx="2428875" cy="5654676"/>
          </a:xfrm>
        </p:grpSpPr>
        <p:sp>
          <p:nvSpPr>
            <p:cNvPr id="9" name="Freeform 11">
              <a:extLst>
                <a:ext uri="{FF2B5EF4-FFF2-40B4-BE49-F238E27FC236}">
                  <a16:creationId xmlns:a16="http://schemas.microsoft.com/office/drawing/2014/main" id="{3B48D182-44E3-4D8B-ACEF-F1A900BE44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10" name="Freeform 12">
              <a:extLst>
                <a:ext uri="{FF2B5EF4-FFF2-40B4-BE49-F238E27FC236}">
                  <a16:creationId xmlns:a16="http://schemas.microsoft.com/office/drawing/2014/main" id="{355A535A-A489-477F-A314-593AA8CAFB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11" name="Freeform 13">
              <a:extLst>
                <a:ext uri="{FF2B5EF4-FFF2-40B4-BE49-F238E27FC236}">
                  <a16:creationId xmlns:a16="http://schemas.microsoft.com/office/drawing/2014/main" id="{954C2D4C-FD83-4EF4-9312-04442ABD66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12" name="Freeform 14">
              <a:extLst>
                <a:ext uri="{FF2B5EF4-FFF2-40B4-BE49-F238E27FC236}">
                  <a16:creationId xmlns:a16="http://schemas.microsoft.com/office/drawing/2014/main" id="{C20701C2-CD9A-4698-BC97-E1085820C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13" name="Freeform 15">
              <a:extLst>
                <a:ext uri="{FF2B5EF4-FFF2-40B4-BE49-F238E27FC236}">
                  <a16:creationId xmlns:a16="http://schemas.microsoft.com/office/drawing/2014/main" id="{62575C35-466F-42AE-87A1-D691849AB8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14" name="Freeform 16">
              <a:extLst>
                <a:ext uri="{FF2B5EF4-FFF2-40B4-BE49-F238E27FC236}">
                  <a16:creationId xmlns:a16="http://schemas.microsoft.com/office/drawing/2014/main" id="{58236F37-6119-45AC-80A0-CD2C311B50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15" name="Freeform 17">
              <a:extLst>
                <a:ext uri="{FF2B5EF4-FFF2-40B4-BE49-F238E27FC236}">
                  <a16:creationId xmlns:a16="http://schemas.microsoft.com/office/drawing/2014/main" id="{F3FDD799-39FE-4D6F-9A64-2F472B2150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16" name="Freeform 18">
              <a:extLst>
                <a:ext uri="{FF2B5EF4-FFF2-40B4-BE49-F238E27FC236}">
                  <a16:creationId xmlns:a16="http://schemas.microsoft.com/office/drawing/2014/main" id="{9820D241-1D49-442C-A95A-00BC1BF9E2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17" name="Freeform 19">
              <a:extLst>
                <a:ext uri="{FF2B5EF4-FFF2-40B4-BE49-F238E27FC236}">
                  <a16:creationId xmlns:a16="http://schemas.microsoft.com/office/drawing/2014/main" id="{EBC2197C-B383-4866-8ABD-74222400BE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18" name="Freeform 20">
              <a:extLst>
                <a:ext uri="{FF2B5EF4-FFF2-40B4-BE49-F238E27FC236}">
                  <a16:creationId xmlns:a16="http://schemas.microsoft.com/office/drawing/2014/main" id="{404B06AA-FC93-4471-9DE4-56A401E70A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19" name="Freeform 21">
              <a:extLst>
                <a:ext uri="{FF2B5EF4-FFF2-40B4-BE49-F238E27FC236}">
                  <a16:creationId xmlns:a16="http://schemas.microsoft.com/office/drawing/2014/main" id="{E580600C-013F-4FAF-8FB7-4CC0FA80A9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20" name="Freeform 22">
              <a:extLst>
                <a:ext uri="{FF2B5EF4-FFF2-40B4-BE49-F238E27FC236}">
                  <a16:creationId xmlns:a16="http://schemas.microsoft.com/office/drawing/2014/main" id="{9BFCF199-64B2-4AEE-88C4-E954ABF362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22" name="Group 21">
            <a:extLst>
              <a:ext uri="{FF2B5EF4-FFF2-40B4-BE49-F238E27FC236}">
                <a16:creationId xmlns:a16="http://schemas.microsoft.com/office/drawing/2014/main" id="{E312DBA5-56D8-42B2-BA94-28168C2A670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7224" y="-786"/>
            <a:ext cx="2356675" cy="6854040"/>
            <a:chOff x="6627813" y="194833"/>
            <a:chExt cx="1952625" cy="5678918"/>
          </a:xfrm>
        </p:grpSpPr>
        <p:sp>
          <p:nvSpPr>
            <p:cNvPr id="23" name="Freeform 27">
              <a:extLst>
                <a:ext uri="{FF2B5EF4-FFF2-40B4-BE49-F238E27FC236}">
                  <a16:creationId xmlns:a16="http://schemas.microsoft.com/office/drawing/2014/main" id="{7AD46C74-3117-46B0-B267-0F61B57CAC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24" name="Freeform 28">
              <a:extLst>
                <a:ext uri="{FF2B5EF4-FFF2-40B4-BE49-F238E27FC236}">
                  <a16:creationId xmlns:a16="http://schemas.microsoft.com/office/drawing/2014/main" id="{8C13B810-9664-45D8-8510-D6ED0ADD72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25" name="Freeform 29">
              <a:extLst>
                <a:ext uri="{FF2B5EF4-FFF2-40B4-BE49-F238E27FC236}">
                  <a16:creationId xmlns:a16="http://schemas.microsoft.com/office/drawing/2014/main" id="{10306E52-A922-4458-BCCE-C3C840CC75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26" name="Freeform 30">
              <a:extLst>
                <a:ext uri="{FF2B5EF4-FFF2-40B4-BE49-F238E27FC236}">
                  <a16:creationId xmlns:a16="http://schemas.microsoft.com/office/drawing/2014/main" id="{CB578819-B7E7-4250-932F-52AE2A2A9A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27" name="Freeform 31">
              <a:extLst>
                <a:ext uri="{FF2B5EF4-FFF2-40B4-BE49-F238E27FC236}">
                  <a16:creationId xmlns:a16="http://schemas.microsoft.com/office/drawing/2014/main" id="{454B9C91-B623-424A-B16E-F764F189D3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28" name="Freeform 32">
              <a:extLst>
                <a:ext uri="{FF2B5EF4-FFF2-40B4-BE49-F238E27FC236}">
                  <a16:creationId xmlns:a16="http://schemas.microsoft.com/office/drawing/2014/main" id="{EFD03C4A-8484-41E6-B458-032F1DCA70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29" name="Freeform 33">
              <a:extLst>
                <a:ext uri="{FF2B5EF4-FFF2-40B4-BE49-F238E27FC236}">
                  <a16:creationId xmlns:a16="http://schemas.microsoft.com/office/drawing/2014/main" id="{DDC2F3C3-1D4E-4913-9C5C-F9A65B47E5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30" name="Freeform 34">
              <a:extLst>
                <a:ext uri="{FF2B5EF4-FFF2-40B4-BE49-F238E27FC236}">
                  <a16:creationId xmlns:a16="http://schemas.microsoft.com/office/drawing/2014/main" id="{1E15BCA2-2420-4C53-ADE9-40FBAC2384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31" name="Freeform 35">
              <a:extLst>
                <a:ext uri="{FF2B5EF4-FFF2-40B4-BE49-F238E27FC236}">
                  <a16:creationId xmlns:a16="http://schemas.microsoft.com/office/drawing/2014/main" id="{73D5FBF4-7129-4C51-B603-E3BC334195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32" name="Freeform 36">
              <a:extLst>
                <a:ext uri="{FF2B5EF4-FFF2-40B4-BE49-F238E27FC236}">
                  <a16:creationId xmlns:a16="http://schemas.microsoft.com/office/drawing/2014/main" id="{0165B164-CE2A-494C-88FC-507232B37C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33" name="Freeform 37">
              <a:extLst>
                <a:ext uri="{FF2B5EF4-FFF2-40B4-BE49-F238E27FC236}">
                  <a16:creationId xmlns:a16="http://schemas.microsoft.com/office/drawing/2014/main" id="{87F127E5-B10B-4D18-BCF0-E7C3C7F401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34" name="Freeform 38">
              <a:extLst>
                <a:ext uri="{FF2B5EF4-FFF2-40B4-BE49-F238E27FC236}">
                  <a16:creationId xmlns:a16="http://schemas.microsoft.com/office/drawing/2014/main" id="{FC692D59-F28D-4E42-B435-225F2C6CFA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36" name="Rectangle 35">
            <a:extLst>
              <a:ext uri="{FF2B5EF4-FFF2-40B4-BE49-F238E27FC236}">
                <a16:creationId xmlns:a16="http://schemas.microsoft.com/office/drawing/2014/main" id="{1996130F-9AB5-4DE9-8574-3AF891C5C1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38" name="Freeform 11">
            <a:extLst>
              <a:ext uri="{FF2B5EF4-FFF2-40B4-BE49-F238E27FC236}">
                <a16:creationId xmlns:a16="http://schemas.microsoft.com/office/drawing/2014/main" id="{7326F4E6-9131-42DA-97B2-0BA8D1E258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useBgFill="1">
        <p:nvSpPr>
          <p:cNvPr id="40" name="Rectangle 39">
            <a:extLst>
              <a:ext uri="{FF2B5EF4-FFF2-40B4-BE49-F238E27FC236}">
                <a16:creationId xmlns:a16="http://schemas.microsoft.com/office/drawing/2014/main" id="{3F4C104D-5F30-4811-9376-566B26E471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0815E34B-5D02-4E01-A936-E8E1C0AB6F1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F8EEB083-276B-AB88-3186-BE2F6725A7D2}"/>
                  </a:ext>
                </a:extLst>
              </p:cNvPr>
              <p:cNvSpPr txBox="1"/>
              <p:nvPr/>
            </p:nvSpPr>
            <p:spPr>
              <a:xfrm>
                <a:off x="572613" y="1279598"/>
                <a:ext cx="4979415" cy="3759253"/>
              </a:xfrm>
              <a:prstGeom prst="rect">
                <a:avLst/>
              </a:prstGeom>
            </p:spPr>
            <p:txBody>
              <a:bodyPr vert="horz" lIns="91440" tIns="45720" rIns="91440" bIns="45720" rtlCol="0">
                <a:normAutofit/>
              </a:bodyPr>
              <a:lstStyle/>
              <a:p>
                <a:pPr>
                  <a:lnSpc>
                    <a:spcPct val="90000"/>
                  </a:lnSpc>
                  <a:spcBef>
                    <a:spcPts val="1000"/>
                  </a:spcBef>
                  <a:buClr>
                    <a:schemeClr val="accent1"/>
                  </a:buClr>
                  <a:buFont typeface="Wingdings 3" charset="2"/>
                  <a:buChar char=""/>
                </a:pPr>
                <a:r>
                  <a:rPr lang="en-US" sz="2200" dirty="0">
                    <a:solidFill>
                      <a:schemeClr val="tx1">
                        <a:lumMod val="75000"/>
                        <a:lumOff val="25000"/>
                      </a:schemeClr>
                    </a:solidFill>
                    <a:latin typeface="Times New Roman" panose="02020603050405020304" pitchFamily="18" charset="0"/>
                    <a:cs typeface="Times New Roman" panose="02020603050405020304" pitchFamily="18" charset="0"/>
                  </a:rPr>
                  <a:t>T</a:t>
                </a:r>
                <a:r>
                  <a:rPr lang="en-US" sz="2200" dirty="0">
                    <a:solidFill>
                      <a:schemeClr val="tx1">
                        <a:lumMod val="75000"/>
                        <a:lumOff val="25000"/>
                      </a:schemeClr>
                    </a:solidFill>
                    <a:effectLst/>
                    <a:latin typeface="Times New Roman" panose="02020603050405020304" pitchFamily="18" charset="0"/>
                    <a:cs typeface="Times New Roman" panose="02020603050405020304" pitchFamily="18" charset="0"/>
                  </a:rPr>
                  <a:t>he maximum allowable humidity ratio of air near the ceiling to avoid condensation at the dew point temperature.</a:t>
                </a:r>
              </a:p>
              <a:p>
                <a:pPr>
                  <a:lnSpc>
                    <a:spcPct val="90000"/>
                  </a:lnSpc>
                  <a:spcBef>
                    <a:spcPts val="1000"/>
                  </a:spcBef>
                  <a:buClr>
                    <a:schemeClr val="accent1"/>
                  </a:buClr>
                  <a:buFont typeface="Wingdings 3" charset="2"/>
                  <a:buChar char=""/>
                </a:pPr>
                <a:endParaRPr lang="en-US" sz="2000" dirty="0">
                  <a:solidFill>
                    <a:schemeClr val="tx1">
                      <a:lumMod val="75000"/>
                      <a:lumOff val="25000"/>
                    </a:schemeClr>
                  </a:solidFill>
                  <a:latin typeface="Times New Roman" panose="02020603050405020304" pitchFamily="18" charset="0"/>
                  <a:cs typeface="Times New Roman" panose="02020603050405020304" pitchFamily="18" charset="0"/>
                </a:endParaRPr>
              </a:p>
              <a:p>
                <a:pPr>
                  <a:lnSpc>
                    <a:spcPct val="90000"/>
                  </a:lnSpc>
                  <a:spcBef>
                    <a:spcPts val="1000"/>
                  </a:spcBef>
                  <a:buClr>
                    <a:schemeClr val="accent1"/>
                  </a:buClr>
                </a:pPr>
                <a14:m>
                  <m:oMathPara xmlns:m="http://schemas.openxmlformats.org/officeDocument/2006/math">
                    <m:oMathParaPr>
                      <m:jc m:val="centerGroup"/>
                    </m:oMathParaPr>
                    <m:oMath xmlns:m="http://schemas.openxmlformats.org/officeDocument/2006/math">
                      <m:r>
                        <a:rPr lang="en-US" sz="2000" i="1">
                          <a:solidFill>
                            <a:schemeClr val="tx1">
                              <a:lumMod val="75000"/>
                              <a:lumOff val="25000"/>
                            </a:schemeClr>
                          </a:solidFill>
                          <a:effectLst/>
                          <a:latin typeface="Cambria Math" panose="02040503050406030204" pitchFamily="18" charset="0"/>
                        </a:rPr>
                        <m:t>𝐻𝑅</m:t>
                      </m:r>
                      <m:r>
                        <a:rPr lang="en-US" sz="2000" i="1">
                          <a:solidFill>
                            <a:schemeClr val="tx1">
                              <a:lumMod val="75000"/>
                              <a:lumOff val="25000"/>
                            </a:schemeClr>
                          </a:solidFill>
                          <a:effectLst/>
                          <a:latin typeface="Cambria Math" panose="02040503050406030204" pitchFamily="18" charset="0"/>
                        </a:rPr>
                        <m:t> </m:t>
                      </m:r>
                      <m:d>
                        <m:dPr>
                          <m:ctrlPr>
                            <a:rPr lang="en-US" sz="2000" i="1">
                              <a:solidFill>
                                <a:schemeClr val="tx1">
                                  <a:lumMod val="75000"/>
                                  <a:lumOff val="25000"/>
                                </a:schemeClr>
                              </a:solidFill>
                              <a:effectLst/>
                              <a:latin typeface="Cambria Math" panose="02040503050406030204" pitchFamily="18" charset="0"/>
                            </a:rPr>
                          </m:ctrlPr>
                        </m:dPr>
                        <m:e>
                          <m:sSub>
                            <m:sSubPr>
                              <m:ctrlPr>
                                <a:rPr lang="en-US" sz="2000" i="1">
                                  <a:solidFill>
                                    <a:schemeClr val="tx1">
                                      <a:lumMod val="75000"/>
                                      <a:lumOff val="25000"/>
                                    </a:schemeClr>
                                  </a:solidFill>
                                  <a:effectLst/>
                                  <a:latin typeface="Cambria Math" panose="02040503050406030204" pitchFamily="18" charset="0"/>
                                </a:rPr>
                              </m:ctrlPr>
                            </m:sSubPr>
                            <m:e>
                              <m:r>
                                <a:rPr lang="en-US" sz="2000" i="1">
                                  <a:solidFill>
                                    <a:schemeClr val="tx1">
                                      <a:lumMod val="75000"/>
                                      <a:lumOff val="25000"/>
                                    </a:schemeClr>
                                  </a:solidFill>
                                  <a:effectLst/>
                                  <a:latin typeface="Cambria Math" panose="02040503050406030204" pitchFamily="18" charset="0"/>
                                </a:rPr>
                                <m:t>𝑤</m:t>
                              </m:r>
                            </m:e>
                            <m:sub>
                              <m:r>
                                <a:rPr lang="en-US" sz="2000" i="1">
                                  <a:solidFill>
                                    <a:schemeClr val="tx1">
                                      <a:lumMod val="75000"/>
                                      <a:lumOff val="25000"/>
                                    </a:schemeClr>
                                  </a:solidFill>
                                  <a:effectLst/>
                                  <a:latin typeface="Cambria Math" panose="02040503050406030204" pitchFamily="18" charset="0"/>
                                </a:rPr>
                                <m:t>𝑎</m:t>
                              </m:r>
                              <m:r>
                                <a:rPr lang="en-US" sz="2000" i="1">
                                  <a:solidFill>
                                    <a:schemeClr val="tx1">
                                      <a:lumMod val="75000"/>
                                      <a:lumOff val="25000"/>
                                    </a:schemeClr>
                                  </a:solidFill>
                                  <a:effectLst/>
                                  <a:latin typeface="Cambria Math" panose="02040503050406030204" pitchFamily="18" charset="0"/>
                                </a:rPr>
                                <m:t>,</m:t>
                              </m:r>
                              <m:func>
                                <m:funcPr>
                                  <m:ctrlPr>
                                    <a:rPr lang="en-US" sz="2000" i="1">
                                      <a:solidFill>
                                        <a:schemeClr val="tx1">
                                          <a:lumMod val="75000"/>
                                          <a:lumOff val="25000"/>
                                        </a:schemeClr>
                                      </a:solidFill>
                                      <a:effectLst/>
                                      <a:latin typeface="Cambria Math" panose="02040503050406030204" pitchFamily="18" charset="0"/>
                                    </a:rPr>
                                  </m:ctrlPr>
                                </m:funcPr>
                                <m:fName>
                                  <m:r>
                                    <m:rPr>
                                      <m:sty m:val="p"/>
                                    </m:rPr>
                                    <a:rPr lang="en-US" sz="2000">
                                      <a:solidFill>
                                        <a:schemeClr val="tx1">
                                          <a:lumMod val="75000"/>
                                          <a:lumOff val="25000"/>
                                        </a:schemeClr>
                                      </a:solidFill>
                                      <a:effectLst/>
                                      <a:latin typeface="Cambria Math" panose="02040503050406030204" pitchFamily="18" charset="0"/>
                                    </a:rPr>
                                    <m:t>max</m:t>
                                  </m:r>
                                </m:fName>
                                <m:e/>
                              </m:func>
                            </m:sub>
                          </m:sSub>
                        </m:e>
                      </m:d>
                      <m:r>
                        <a:rPr lang="en-US" sz="2000" i="1">
                          <a:solidFill>
                            <a:schemeClr val="tx1">
                              <a:lumMod val="75000"/>
                              <a:lumOff val="25000"/>
                            </a:schemeClr>
                          </a:solidFill>
                          <a:effectLst/>
                          <a:latin typeface="Cambria Math" panose="02040503050406030204" pitchFamily="18" charset="0"/>
                        </a:rPr>
                        <m:t>=%</m:t>
                      </m:r>
                      <m:f>
                        <m:fPr>
                          <m:ctrlPr>
                            <a:rPr lang="en-US" sz="2000" i="1">
                              <a:solidFill>
                                <a:schemeClr val="tx1">
                                  <a:lumMod val="75000"/>
                                  <a:lumOff val="25000"/>
                                </a:schemeClr>
                              </a:solidFill>
                              <a:effectLst/>
                              <a:latin typeface="Cambria Math" panose="02040503050406030204" pitchFamily="18" charset="0"/>
                            </a:rPr>
                          </m:ctrlPr>
                        </m:fPr>
                        <m:num>
                          <m:func>
                            <m:funcPr>
                              <m:ctrlPr>
                                <a:rPr lang="en-US" sz="2000" i="1">
                                  <a:solidFill>
                                    <a:schemeClr val="tx1">
                                      <a:lumMod val="75000"/>
                                      <a:lumOff val="25000"/>
                                    </a:schemeClr>
                                  </a:solidFill>
                                  <a:effectLst/>
                                  <a:latin typeface="Cambria Math" panose="02040503050406030204" pitchFamily="18" charset="0"/>
                                </a:rPr>
                              </m:ctrlPr>
                            </m:funcPr>
                            <m:fName>
                              <m:r>
                                <m:rPr>
                                  <m:sty m:val="p"/>
                                </m:rPr>
                                <a:rPr lang="en-US" sz="2000">
                                  <a:solidFill>
                                    <a:schemeClr val="tx1">
                                      <a:lumMod val="75000"/>
                                      <a:lumOff val="25000"/>
                                    </a:schemeClr>
                                  </a:solidFill>
                                  <a:effectLst/>
                                  <a:latin typeface="Cambria Math" panose="02040503050406030204" pitchFamily="18" charset="0"/>
                                </a:rPr>
                                <m:t>exp</m:t>
                              </m:r>
                            </m:fName>
                            <m:e>
                              <m:d>
                                <m:dPr>
                                  <m:ctrlPr>
                                    <a:rPr lang="en-US" sz="2000" i="1">
                                      <a:solidFill>
                                        <a:schemeClr val="tx1">
                                          <a:lumMod val="75000"/>
                                          <a:lumOff val="25000"/>
                                        </a:schemeClr>
                                      </a:solidFill>
                                      <a:effectLst/>
                                      <a:latin typeface="Cambria Math" panose="02040503050406030204" pitchFamily="18" charset="0"/>
                                    </a:rPr>
                                  </m:ctrlPr>
                                </m:dPr>
                                <m:e>
                                  <m:f>
                                    <m:fPr>
                                      <m:ctrlPr>
                                        <a:rPr lang="en-US" sz="2000" i="1">
                                          <a:solidFill>
                                            <a:schemeClr val="tx1">
                                              <a:lumMod val="75000"/>
                                              <a:lumOff val="25000"/>
                                            </a:schemeClr>
                                          </a:solidFill>
                                          <a:effectLst/>
                                          <a:latin typeface="Cambria Math" panose="02040503050406030204" pitchFamily="18" charset="0"/>
                                        </a:rPr>
                                      </m:ctrlPr>
                                    </m:fPr>
                                    <m:num>
                                      <m:r>
                                        <a:rPr lang="en-US" sz="2000" i="1">
                                          <a:solidFill>
                                            <a:schemeClr val="tx1">
                                              <a:lumMod val="75000"/>
                                              <a:lumOff val="25000"/>
                                            </a:schemeClr>
                                          </a:solidFill>
                                          <a:effectLst/>
                                          <a:latin typeface="Cambria Math" panose="02040503050406030204" pitchFamily="18" charset="0"/>
                                        </a:rPr>
                                        <m:t>17.625∗</m:t>
                                      </m:r>
                                      <m:sSub>
                                        <m:sSubPr>
                                          <m:ctrlPr>
                                            <a:rPr lang="en-US" sz="2000" i="1">
                                              <a:solidFill>
                                                <a:schemeClr val="tx1">
                                                  <a:lumMod val="75000"/>
                                                  <a:lumOff val="25000"/>
                                                </a:schemeClr>
                                              </a:solidFill>
                                              <a:effectLst/>
                                              <a:latin typeface="Cambria Math" panose="02040503050406030204" pitchFamily="18" charset="0"/>
                                            </a:rPr>
                                          </m:ctrlPr>
                                        </m:sSubPr>
                                        <m:e>
                                          <m:r>
                                            <a:rPr lang="en-US" sz="2000" i="1">
                                              <a:solidFill>
                                                <a:schemeClr val="tx1">
                                                  <a:lumMod val="75000"/>
                                                  <a:lumOff val="25000"/>
                                                </a:schemeClr>
                                              </a:solidFill>
                                              <a:effectLst/>
                                              <a:latin typeface="Cambria Math" panose="02040503050406030204" pitchFamily="18" charset="0"/>
                                            </a:rPr>
                                            <m:t>𝑇</m:t>
                                          </m:r>
                                        </m:e>
                                        <m:sub>
                                          <m:r>
                                            <a:rPr lang="en-US" sz="2000" i="1">
                                              <a:solidFill>
                                                <a:schemeClr val="tx1">
                                                  <a:lumMod val="75000"/>
                                                  <a:lumOff val="25000"/>
                                                </a:schemeClr>
                                              </a:solidFill>
                                              <a:effectLst/>
                                              <a:latin typeface="Cambria Math" panose="02040503050406030204" pitchFamily="18" charset="0"/>
                                            </a:rPr>
                                            <m:t>𝑑𝑝</m:t>
                                          </m:r>
                                          <m:r>
                                            <a:rPr lang="en-US" sz="2000" i="1">
                                              <a:solidFill>
                                                <a:schemeClr val="tx1">
                                                  <a:lumMod val="75000"/>
                                                  <a:lumOff val="25000"/>
                                                </a:schemeClr>
                                              </a:solidFill>
                                              <a:effectLst/>
                                              <a:latin typeface="Cambria Math" panose="02040503050406030204" pitchFamily="18" charset="0"/>
                                            </a:rPr>
                                            <m:t>,</m:t>
                                          </m:r>
                                          <m:r>
                                            <a:rPr lang="en-US" sz="2000" i="1">
                                              <a:solidFill>
                                                <a:schemeClr val="tx1">
                                                  <a:lumMod val="75000"/>
                                                  <a:lumOff val="25000"/>
                                                </a:schemeClr>
                                              </a:solidFill>
                                              <a:effectLst/>
                                              <a:latin typeface="Cambria Math" panose="02040503050406030204" pitchFamily="18" charset="0"/>
                                            </a:rPr>
                                            <m:t>𝑚𝑖𝑛</m:t>
                                          </m:r>
                                        </m:sub>
                                      </m:sSub>
                                    </m:num>
                                    <m:den>
                                      <m:r>
                                        <a:rPr lang="en-US" sz="2000" i="1">
                                          <a:solidFill>
                                            <a:schemeClr val="tx1">
                                              <a:lumMod val="75000"/>
                                              <a:lumOff val="25000"/>
                                            </a:schemeClr>
                                          </a:solidFill>
                                          <a:effectLst/>
                                          <a:latin typeface="Cambria Math" panose="02040503050406030204" pitchFamily="18" charset="0"/>
                                        </a:rPr>
                                        <m:t>243.04+</m:t>
                                      </m:r>
                                      <m:sSub>
                                        <m:sSubPr>
                                          <m:ctrlPr>
                                            <a:rPr lang="en-US" sz="2000" i="1">
                                              <a:solidFill>
                                                <a:schemeClr val="tx1">
                                                  <a:lumMod val="75000"/>
                                                  <a:lumOff val="25000"/>
                                                </a:schemeClr>
                                              </a:solidFill>
                                              <a:effectLst/>
                                              <a:latin typeface="Cambria Math" panose="02040503050406030204" pitchFamily="18" charset="0"/>
                                            </a:rPr>
                                          </m:ctrlPr>
                                        </m:sSubPr>
                                        <m:e>
                                          <m:r>
                                            <a:rPr lang="en-US" sz="2000" i="1">
                                              <a:solidFill>
                                                <a:schemeClr val="tx1">
                                                  <a:lumMod val="75000"/>
                                                  <a:lumOff val="25000"/>
                                                </a:schemeClr>
                                              </a:solidFill>
                                              <a:effectLst/>
                                              <a:latin typeface="Cambria Math" panose="02040503050406030204" pitchFamily="18" charset="0"/>
                                            </a:rPr>
                                            <m:t>𝑇</m:t>
                                          </m:r>
                                        </m:e>
                                        <m:sub>
                                          <m:r>
                                            <a:rPr lang="en-US" sz="2000" i="1">
                                              <a:solidFill>
                                                <a:schemeClr val="tx1">
                                                  <a:lumMod val="75000"/>
                                                  <a:lumOff val="25000"/>
                                                </a:schemeClr>
                                              </a:solidFill>
                                              <a:effectLst/>
                                              <a:latin typeface="Cambria Math" panose="02040503050406030204" pitchFamily="18" charset="0"/>
                                            </a:rPr>
                                            <m:t>𝑑𝑝</m:t>
                                          </m:r>
                                          <m:r>
                                            <a:rPr lang="en-US" sz="2000" i="1">
                                              <a:solidFill>
                                                <a:schemeClr val="tx1">
                                                  <a:lumMod val="75000"/>
                                                  <a:lumOff val="25000"/>
                                                </a:schemeClr>
                                              </a:solidFill>
                                              <a:effectLst/>
                                              <a:latin typeface="Cambria Math" panose="02040503050406030204" pitchFamily="18" charset="0"/>
                                            </a:rPr>
                                            <m:t>,</m:t>
                                          </m:r>
                                          <m:r>
                                            <a:rPr lang="en-US" sz="2000" i="1">
                                              <a:solidFill>
                                                <a:schemeClr val="tx1">
                                                  <a:lumMod val="75000"/>
                                                  <a:lumOff val="25000"/>
                                                </a:schemeClr>
                                              </a:solidFill>
                                              <a:effectLst/>
                                              <a:latin typeface="Cambria Math" panose="02040503050406030204" pitchFamily="18" charset="0"/>
                                            </a:rPr>
                                            <m:t>𝑚𝑖𝑛</m:t>
                                          </m:r>
                                        </m:sub>
                                      </m:sSub>
                                    </m:den>
                                  </m:f>
                                </m:e>
                              </m:d>
                            </m:e>
                          </m:func>
                        </m:num>
                        <m:den>
                          <m:func>
                            <m:funcPr>
                              <m:ctrlPr>
                                <a:rPr lang="en-US" sz="2000" i="1">
                                  <a:solidFill>
                                    <a:schemeClr val="tx1">
                                      <a:lumMod val="75000"/>
                                      <a:lumOff val="25000"/>
                                    </a:schemeClr>
                                  </a:solidFill>
                                  <a:effectLst/>
                                  <a:latin typeface="Cambria Math" panose="02040503050406030204" pitchFamily="18" charset="0"/>
                                </a:rPr>
                              </m:ctrlPr>
                            </m:funcPr>
                            <m:fName>
                              <m:r>
                                <m:rPr>
                                  <m:sty m:val="p"/>
                                </m:rPr>
                                <a:rPr lang="en-US" sz="2000">
                                  <a:solidFill>
                                    <a:schemeClr val="tx1">
                                      <a:lumMod val="75000"/>
                                      <a:lumOff val="25000"/>
                                    </a:schemeClr>
                                  </a:solidFill>
                                  <a:effectLst/>
                                  <a:latin typeface="Cambria Math" panose="02040503050406030204" pitchFamily="18" charset="0"/>
                                </a:rPr>
                                <m:t>exp</m:t>
                              </m:r>
                            </m:fName>
                            <m:e>
                              <m:d>
                                <m:dPr>
                                  <m:ctrlPr>
                                    <a:rPr lang="en-US" sz="2000" i="1">
                                      <a:solidFill>
                                        <a:schemeClr val="tx1">
                                          <a:lumMod val="75000"/>
                                          <a:lumOff val="25000"/>
                                        </a:schemeClr>
                                      </a:solidFill>
                                      <a:effectLst/>
                                      <a:latin typeface="Cambria Math" panose="02040503050406030204" pitchFamily="18" charset="0"/>
                                    </a:rPr>
                                  </m:ctrlPr>
                                </m:dPr>
                                <m:e>
                                  <m:f>
                                    <m:fPr>
                                      <m:ctrlPr>
                                        <a:rPr lang="en-US" sz="2000" i="1">
                                          <a:solidFill>
                                            <a:schemeClr val="tx1">
                                              <a:lumMod val="75000"/>
                                              <a:lumOff val="25000"/>
                                            </a:schemeClr>
                                          </a:solidFill>
                                          <a:effectLst/>
                                          <a:latin typeface="Cambria Math" panose="02040503050406030204" pitchFamily="18" charset="0"/>
                                        </a:rPr>
                                      </m:ctrlPr>
                                    </m:fPr>
                                    <m:num>
                                      <m:r>
                                        <a:rPr lang="en-US" sz="2000" i="1">
                                          <a:solidFill>
                                            <a:schemeClr val="tx1">
                                              <a:lumMod val="75000"/>
                                              <a:lumOff val="25000"/>
                                            </a:schemeClr>
                                          </a:solidFill>
                                          <a:effectLst/>
                                          <a:latin typeface="Cambria Math" panose="02040503050406030204" pitchFamily="18" charset="0"/>
                                        </a:rPr>
                                        <m:t>17.625∗</m:t>
                                      </m:r>
                                      <m:sSub>
                                        <m:sSubPr>
                                          <m:ctrlPr>
                                            <a:rPr lang="en-US" sz="2000" i="1">
                                              <a:solidFill>
                                                <a:schemeClr val="tx1">
                                                  <a:lumMod val="75000"/>
                                                  <a:lumOff val="25000"/>
                                                </a:schemeClr>
                                              </a:solidFill>
                                              <a:effectLst/>
                                              <a:latin typeface="Cambria Math" panose="02040503050406030204" pitchFamily="18" charset="0"/>
                                            </a:rPr>
                                          </m:ctrlPr>
                                        </m:sSubPr>
                                        <m:e>
                                          <m:r>
                                            <a:rPr lang="en-US" sz="2000" i="1">
                                              <a:solidFill>
                                                <a:schemeClr val="tx1">
                                                  <a:lumMod val="75000"/>
                                                  <a:lumOff val="25000"/>
                                                </a:schemeClr>
                                              </a:solidFill>
                                              <a:effectLst/>
                                              <a:latin typeface="Cambria Math" panose="02040503050406030204" pitchFamily="18" charset="0"/>
                                            </a:rPr>
                                            <m:t>𝑇</m:t>
                                          </m:r>
                                        </m:e>
                                        <m:sub>
                                          <m:r>
                                            <a:rPr lang="en-US" sz="2000" i="1">
                                              <a:solidFill>
                                                <a:schemeClr val="tx1">
                                                  <a:lumMod val="75000"/>
                                                  <a:lumOff val="25000"/>
                                                </a:schemeClr>
                                              </a:solidFill>
                                              <a:effectLst/>
                                              <a:latin typeface="Cambria Math" panose="02040503050406030204" pitchFamily="18" charset="0"/>
                                            </a:rPr>
                                            <m:t>𝑟</m:t>
                                          </m:r>
                                        </m:sub>
                                      </m:sSub>
                                    </m:num>
                                    <m:den>
                                      <m:r>
                                        <a:rPr lang="en-US" sz="2000" i="1">
                                          <a:solidFill>
                                            <a:schemeClr val="tx1">
                                              <a:lumMod val="75000"/>
                                              <a:lumOff val="25000"/>
                                            </a:schemeClr>
                                          </a:solidFill>
                                          <a:effectLst/>
                                          <a:latin typeface="Cambria Math" panose="02040503050406030204" pitchFamily="18" charset="0"/>
                                        </a:rPr>
                                        <m:t>243.04+</m:t>
                                      </m:r>
                                      <m:sSub>
                                        <m:sSubPr>
                                          <m:ctrlPr>
                                            <a:rPr lang="en-US" sz="2000" i="1">
                                              <a:solidFill>
                                                <a:schemeClr val="tx1">
                                                  <a:lumMod val="75000"/>
                                                  <a:lumOff val="25000"/>
                                                </a:schemeClr>
                                              </a:solidFill>
                                              <a:effectLst/>
                                              <a:latin typeface="Cambria Math" panose="02040503050406030204" pitchFamily="18" charset="0"/>
                                            </a:rPr>
                                          </m:ctrlPr>
                                        </m:sSubPr>
                                        <m:e>
                                          <m:r>
                                            <a:rPr lang="en-US" sz="2000" i="1">
                                              <a:solidFill>
                                                <a:schemeClr val="tx1">
                                                  <a:lumMod val="75000"/>
                                                  <a:lumOff val="25000"/>
                                                </a:schemeClr>
                                              </a:solidFill>
                                              <a:effectLst/>
                                              <a:latin typeface="Cambria Math" panose="02040503050406030204" pitchFamily="18" charset="0"/>
                                            </a:rPr>
                                            <m:t>𝑇</m:t>
                                          </m:r>
                                        </m:e>
                                        <m:sub>
                                          <m:r>
                                            <a:rPr lang="en-US" sz="2000" i="1">
                                              <a:solidFill>
                                                <a:schemeClr val="tx1">
                                                  <a:lumMod val="75000"/>
                                                  <a:lumOff val="25000"/>
                                                </a:schemeClr>
                                              </a:solidFill>
                                              <a:effectLst/>
                                              <a:latin typeface="Cambria Math" panose="02040503050406030204" pitchFamily="18" charset="0"/>
                                            </a:rPr>
                                            <m:t>𝑟</m:t>
                                          </m:r>
                                        </m:sub>
                                      </m:sSub>
                                    </m:den>
                                  </m:f>
                                </m:e>
                              </m:d>
                            </m:e>
                          </m:func>
                        </m:den>
                      </m:f>
                    </m:oMath>
                  </m:oMathPara>
                </a14:m>
                <a:endParaRPr lang="en-US" sz="2000" dirty="0">
                  <a:solidFill>
                    <a:schemeClr val="tx1">
                      <a:lumMod val="75000"/>
                      <a:lumOff val="25000"/>
                    </a:schemeClr>
                  </a:solidFill>
                  <a:effectLst/>
                  <a:latin typeface="Times New Roman" panose="02020603050405020304" pitchFamily="18" charset="0"/>
                  <a:cs typeface="Times New Roman" panose="02020603050405020304" pitchFamily="18" charset="0"/>
                </a:endParaRPr>
              </a:p>
              <a:p>
                <a:pPr>
                  <a:lnSpc>
                    <a:spcPct val="90000"/>
                  </a:lnSpc>
                  <a:spcBef>
                    <a:spcPts val="1000"/>
                  </a:spcBef>
                  <a:buClr>
                    <a:schemeClr val="accent1"/>
                  </a:buClr>
                  <a:buFont typeface="Wingdings 3" charset="2"/>
                  <a:buChar char=""/>
                </a:pPr>
                <a:r>
                  <a:rPr lang="en-US" sz="2000" dirty="0">
                    <a:solidFill>
                      <a:schemeClr val="tx1">
                        <a:lumMod val="75000"/>
                        <a:lumOff val="25000"/>
                      </a:schemeClr>
                    </a:solidFill>
                    <a:latin typeface="Times New Roman" panose="02020603050405020304" pitchFamily="18" charset="0"/>
                    <a:cs typeface="Times New Roman" panose="02020603050405020304" pitchFamily="18" charset="0"/>
                  </a:rPr>
                  <a:t>Where the dew point temperature of the ceiling is </a:t>
                </a:r>
                <a14:m>
                  <m:oMath xmlns:m="http://schemas.openxmlformats.org/officeDocument/2006/math">
                    <m:sSub>
                      <m:sSubPr>
                        <m:ctrlPr>
                          <a:rPr lang="en-US" sz="2000" i="1">
                            <a:solidFill>
                              <a:schemeClr val="tx1">
                                <a:lumMod val="75000"/>
                                <a:lumOff val="25000"/>
                              </a:schemeClr>
                            </a:solidFill>
                            <a:effectLst/>
                            <a:latin typeface="Cambria Math" panose="02040503050406030204" pitchFamily="18" charset="0"/>
                          </a:rPr>
                        </m:ctrlPr>
                      </m:sSubPr>
                      <m:e>
                        <m:r>
                          <a:rPr lang="en-US" sz="2000" i="1">
                            <a:solidFill>
                              <a:schemeClr val="tx1">
                                <a:lumMod val="75000"/>
                                <a:lumOff val="25000"/>
                              </a:schemeClr>
                            </a:solidFill>
                            <a:effectLst/>
                            <a:latin typeface="Cambria Math" panose="02040503050406030204" pitchFamily="18" charset="0"/>
                          </a:rPr>
                          <m:t>𝑇</m:t>
                        </m:r>
                      </m:e>
                      <m:sub>
                        <m:r>
                          <a:rPr lang="en-US" sz="2000" i="1">
                            <a:solidFill>
                              <a:schemeClr val="tx1">
                                <a:lumMod val="75000"/>
                                <a:lumOff val="25000"/>
                              </a:schemeClr>
                            </a:solidFill>
                            <a:effectLst/>
                            <a:latin typeface="Cambria Math" panose="02040503050406030204" pitchFamily="18" charset="0"/>
                          </a:rPr>
                          <m:t>𝑑𝑝</m:t>
                        </m:r>
                        <m:r>
                          <a:rPr lang="en-US" sz="2000" i="1">
                            <a:solidFill>
                              <a:schemeClr val="tx1">
                                <a:lumMod val="75000"/>
                                <a:lumOff val="25000"/>
                              </a:schemeClr>
                            </a:solidFill>
                            <a:effectLst/>
                            <a:latin typeface="Cambria Math" panose="02040503050406030204" pitchFamily="18" charset="0"/>
                          </a:rPr>
                          <m:t>,</m:t>
                        </m:r>
                        <m:r>
                          <a:rPr lang="en-US" sz="2000" i="1">
                            <a:solidFill>
                              <a:schemeClr val="tx1">
                                <a:lumMod val="75000"/>
                                <a:lumOff val="25000"/>
                              </a:schemeClr>
                            </a:solidFill>
                            <a:effectLst/>
                            <a:latin typeface="Cambria Math" panose="02040503050406030204" pitchFamily="18" charset="0"/>
                          </a:rPr>
                          <m:t>𝑚𝑖𝑛</m:t>
                        </m:r>
                      </m:sub>
                    </m:sSub>
                    <m:r>
                      <a:rPr lang="en-US" sz="2000" i="1">
                        <a:solidFill>
                          <a:schemeClr val="tx1">
                            <a:lumMod val="75000"/>
                            <a:lumOff val="25000"/>
                          </a:schemeClr>
                        </a:solidFill>
                        <a:effectLst/>
                        <a:latin typeface="Cambria Math" panose="02040503050406030204" pitchFamily="18" charset="0"/>
                      </a:rPr>
                      <m:t>=</m:t>
                    </m:r>
                    <m:sSub>
                      <m:sSubPr>
                        <m:ctrlPr>
                          <a:rPr lang="en-US" sz="2000" i="1">
                            <a:solidFill>
                              <a:schemeClr val="tx1">
                                <a:lumMod val="75000"/>
                                <a:lumOff val="25000"/>
                              </a:schemeClr>
                            </a:solidFill>
                            <a:effectLst/>
                            <a:latin typeface="Cambria Math" panose="02040503050406030204" pitchFamily="18" charset="0"/>
                          </a:rPr>
                        </m:ctrlPr>
                      </m:sSubPr>
                      <m:e>
                        <m:r>
                          <a:rPr lang="en-US" sz="2000" i="1">
                            <a:solidFill>
                              <a:schemeClr val="tx1">
                                <a:lumMod val="75000"/>
                                <a:lumOff val="25000"/>
                              </a:schemeClr>
                            </a:solidFill>
                            <a:effectLst/>
                            <a:latin typeface="Cambria Math" panose="02040503050406030204" pitchFamily="18" charset="0"/>
                          </a:rPr>
                          <m:t>𝑇</m:t>
                        </m:r>
                      </m:e>
                      <m:sub>
                        <m:r>
                          <a:rPr lang="en-US" sz="2000" i="1">
                            <a:solidFill>
                              <a:schemeClr val="tx1">
                                <a:lumMod val="75000"/>
                                <a:lumOff val="25000"/>
                              </a:schemeClr>
                            </a:solidFill>
                            <a:effectLst/>
                            <a:latin typeface="Cambria Math" panose="02040503050406030204" pitchFamily="18" charset="0"/>
                          </a:rPr>
                          <m:t>𝑐</m:t>
                        </m:r>
                      </m:sub>
                    </m:sSub>
                    <m:r>
                      <a:rPr lang="en-US" sz="2000" i="1">
                        <a:solidFill>
                          <a:schemeClr val="tx1">
                            <a:lumMod val="75000"/>
                            <a:lumOff val="25000"/>
                          </a:schemeClr>
                        </a:solidFill>
                        <a:effectLst/>
                        <a:latin typeface="Cambria Math" panose="02040503050406030204" pitchFamily="18" charset="0"/>
                      </a:rPr>
                      <m:t>−1.5°</m:t>
                    </m:r>
                  </m:oMath>
                </a14:m>
                <a:endParaRPr lang="en-US" sz="2000" dirty="0">
                  <a:solidFill>
                    <a:schemeClr val="tx1">
                      <a:lumMod val="75000"/>
                      <a:lumOff val="25000"/>
                    </a:schemeClr>
                  </a:solidFill>
                  <a:effectLst/>
                  <a:latin typeface="Times New Roman" panose="02020603050405020304" pitchFamily="18" charset="0"/>
                  <a:cs typeface="Times New Roman" panose="02020603050405020304" pitchFamily="18" charset="0"/>
                </a:endParaRPr>
              </a:p>
              <a:p>
                <a:pPr>
                  <a:lnSpc>
                    <a:spcPct val="90000"/>
                  </a:lnSpc>
                  <a:spcBef>
                    <a:spcPts val="1000"/>
                  </a:spcBef>
                  <a:buClr>
                    <a:schemeClr val="accent1"/>
                  </a:buClr>
                  <a:buFont typeface="Wingdings 3" charset="2"/>
                  <a:buChar char=""/>
                </a:pPr>
                <a:endParaRPr lang="en-US" dirty="0">
                  <a:solidFill>
                    <a:schemeClr val="tx1">
                      <a:lumMod val="75000"/>
                      <a:lumOff val="25000"/>
                    </a:schemeClr>
                  </a:solidFill>
                </a:endParaRPr>
              </a:p>
              <a:p>
                <a:pPr>
                  <a:lnSpc>
                    <a:spcPct val="90000"/>
                  </a:lnSpc>
                  <a:spcBef>
                    <a:spcPts val="1000"/>
                  </a:spcBef>
                  <a:buClr>
                    <a:schemeClr val="accent1"/>
                  </a:buClr>
                  <a:buFont typeface="Wingdings 3" charset="2"/>
                  <a:buChar char=""/>
                </a:pPr>
                <a:endParaRPr lang="en-US" dirty="0">
                  <a:solidFill>
                    <a:schemeClr val="tx1">
                      <a:lumMod val="75000"/>
                      <a:lumOff val="25000"/>
                    </a:schemeClr>
                  </a:solidFill>
                  <a:effectLst/>
                </a:endParaRPr>
              </a:p>
              <a:p>
                <a:pPr>
                  <a:lnSpc>
                    <a:spcPct val="90000"/>
                  </a:lnSpc>
                  <a:spcBef>
                    <a:spcPts val="1000"/>
                  </a:spcBef>
                  <a:buClr>
                    <a:schemeClr val="accent1"/>
                  </a:buClr>
                  <a:buFont typeface="Wingdings 3" charset="2"/>
                  <a:buChar char=""/>
                </a:pPr>
                <a:endParaRPr lang="en-US" dirty="0">
                  <a:solidFill>
                    <a:schemeClr val="tx1">
                      <a:lumMod val="75000"/>
                      <a:lumOff val="25000"/>
                    </a:schemeClr>
                  </a:solidFill>
                </a:endParaRPr>
              </a:p>
            </p:txBody>
          </p:sp>
        </mc:Choice>
        <mc:Fallback xmlns="">
          <p:sp>
            <p:nvSpPr>
              <p:cNvPr id="2" name="TextBox 1">
                <a:extLst>
                  <a:ext uri="{FF2B5EF4-FFF2-40B4-BE49-F238E27FC236}">
                    <a16:creationId xmlns:a16="http://schemas.microsoft.com/office/drawing/2014/main" id="{F8EEB083-276B-AB88-3186-BE2F6725A7D2}"/>
                  </a:ext>
                </a:extLst>
              </p:cNvPr>
              <p:cNvSpPr txBox="1">
                <a:spLocks noRot="1" noChangeAspect="1" noMove="1" noResize="1" noEditPoints="1" noAdjustHandles="1" noChangeArrowheads="1" noChangeShapeType="1" noTextEdit="1"/>
              </p:cNvSpPr>
              <p:nvPr/>
            </p:nvSpPr>
            <p:spPr>
              <a:xfrm>
                <a:off x="572613" y="1279598"/>
                <a:ext cx="4979415" cy="3759253"/>
              </a:xfrm>
              <a:prstGeom prst="rect">
                <a:avLst/>
              </a:prstGeom>
              <a:blipFill>
                <a:blip r:embed="rId2"/>
                <a:stretch>
                  <a:fillRect l="-1591" t="-1945" r="-1102"/>
                </a:stretch>
              </a:blipFill>
            </p:spPr>
            <p:txBody>
              <a:bodyPr/>
              <a:lstStyle/>
              <a:p>
                <a:r>
                  <a:rPr lang="en-US">
                    <a:noFill/>
                  </a:rPr>
                  <a:t> </a:t>
                </a:r>
              </a:p>
            </p:txBody>
          </p:sp>
        </mc:Fallback>
      </mc:AlternateContent>
      <p:sp>
        <p:nvSpPr>
          <p:cNvPr id="44" name="Freeform 11">
            <a:extLst>
              <a:ext uri="{FF2B5EF4-FFF2-40B4-BE49-F238E27FC236}">
                <a16:creationId xmlns:a16="http://schemas.microsoft.com/office/drawing/2014/main" id="{7DE3414B-B032-4710-A468-D3285E38C5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061223"/>
            <a:ext cx="1038036" cy="506277"/>
          </a:xfrm>
          <a:custGeom>
            <a:avLst/>
            <a:gdLst>
              <a:gd name="connsiteX0" fmla="*/ 0 w 1038036"/>
              <a:gd name="connsiteY0" fmla="*/ 0 h 506277"/>
              <a:gd name="connsiteX1" fmla="*/ 182880 w 1038036"/>
              <a:gd name="connsiteY1" fmla="*/ 0 h 506277"/>
              <a:gd name="connsiteX2" fmla="*/ 291705 w 1038036"/>
              <a:gd name="connsiteY2" fmla="*/ 0 h 506277"/>
              <a:gd name="connsiteX3" fmla="*/ 291705 w 1038036"/>
              <a:gd name="connsiteY3" fmla="*/ 151 h 506277"/>
              <a:gd name="connsiteX4" fmla="*/ 692049 w 1038036"/>
              <a:gd name="connsiteY4" fmla="*/ 705 h 506277"/>
              <a:gd name="connsiteX5" fmla="*/ 782744 w 1038036"/>
              <a:gd name="connsiteY5" fmla="*/ 705 h 506277"/>
              <a:gd name="connsiteX6" fmla="*/ 797001 w 1038036"/>
              <a:gd name="connsiteY6" fmla="*/ 5473 h 506277"/>
              <a:gd name="connsiteX7" fmla="*/ 801982 w 1038036"/>
              <a:gd name="connsiteY7" fmla="*/ 10242 h 506277"/>
              <a:gd name="connsiteX8" fmla="*/ 1030951 w 1038036"/>
              <a:gd name="connsiteY8" fmla="*/ 239185 h 506277"/>
              <a:gd name="connsiteX9" fmla="*/ 1030951 w 1038036"/>
              <a:gd name="connsiteY9" fmla="*/ 267797 h 506277"/>
              <a:gd name="connsiteX10" fmla="*/ 801982 w 1038036"/>
              <a:gd name="connsiteY10" fmla="*/ 496740 h 506277"/>
              <a:gd name="connsiteX11" fmla="*/ 797001 w 1038036"/>
              <a:gd name="connsiteY11" fmla="*/ 501508 h 506277"/>
              <a:gd name="connsiteX12" fmla="*/ 782744 w 1038036"/>
              <a:gd name="connsiteY12" fmla="*/ 506277 h 506277"/>
              <a:gd name="connsiteX13" fmla="*/ 692049 w 1038036"/>
              <a:gd name="connsiteY13" fmla="*/ 506277 h 506277"/>
              <a:gd name="connsiteX14" fmla="*/ 291705 w 1038036"/>
              <a:gd name="connsiteY14" fmla="*/ 505140 h 506277"/>
              <a:gd name="connsiteX15" fmla="*/ 291705 w 1038036"/>
              <a:gd name="connsiteY15" fmla="*/ 506277 h 506277"/>
              <a:gd name="connsiteX16" fmla="*/ 0 w 1038036"/>
              <a:gd name="connsiteY16" fmla="*/ 506277 h 5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8036" h="506277">
                <a:moveTo>
                  <a:pt x="0" y="0"/>
                </a:moveTo>
                <a:lnTo>
                  <a:pt x="182880" y="0"/>
                </a:lnTo>
                <a:lnTo>
                  <a:pt x="291705" y="0"/>
                </a:lnTo>
                <a:lnTo>
                  <a:pt x="291705" y="151"/>
                </a:lnTo>
                <a:lnTo>
                  <a:pt x="692049" y="705"/>
                </a:lnTo>
                <a:lnTo>
                  <a:pt x="782744" y="705"/>
                </a:lnTo>
                <a:cubicBezTo>
                  <a:pt x="787553" y="705"/>
                  <a:pt x="792363" y="5473"/>
                  <a:pt x="797001" y="5473"/>
                </a:cubicBezTo>
                <a:cubicBezTo>
                  <a:pt x="797001" y="10242"/>
                  <a:pt x="801982" y="10242"/>
                  <a:pt x="801982" y="10242"/>
                </a:cubicBezTo>
                <a:lnTo>
                  <a:pt x="1030951" y="239185"/>
                </a:lnTo>
                <a:cubicBezTo>
                  <a:pt x="1040398" y="248722"/>
                  <a:pt x="1040398" y="258259"/>
                  <a:pt x="1030951" y="267797"/>
                </a:cubicBezTo>
                <a:lnTo>
                  <a:pt x="801982" y="496740"/>
                </a:lnTo>
                <a:cubicBezTo>
                  <a:pt x="800436" y="498363"/>
                  <a:pt x="798547" y="499885"/>
                  <a:pt x="797001" y="501508"/>
                </a:cubicBezTo>
                <a:cubicBezTo>
                  <a:pt x="792363" y="506277"/>
                  <a:pt x="787553" y="506277"/>
                  <a:pt x="782744" y="506277"/>
                </a:cubicBezTo>
                <a:lnTo>
                  <a:pt x="692049" y="506277"/>
                </a:lnTo>
                <a:lnTo>
                  <a:pt x="291705" y="505140"/>
                </a:lnTo>
                <a:lnTo>
                  <a:pt x="291705" y="506277"/>
                </a:lnTo>
                <a:lnTo>
                  <a:pt x="0" y="50627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 name="Table 2">
            <a:extLst>
              <a:ext uri="{FF2B5EF4-FFF2-40B4-BE49-F238E27FC236}">
                <a16:creationId xmlns:a16="http://schemas.microsoft.com/office/drawing/2014/main" id="{1F04FAB2-1ED0-2690-FAAE-19EDDA6F7378}"/>
              </a:ext>
            </a:extLst>
          </p:cNvPr>
          <p:cNvGraphicFramePr>
            <a:graphicFrameLocks noGrp="1"/>
          </p:cNvGraphicFramePr>
          <p:nvPr>
            <p:extLst>
              <p:ext uri="{D42A27DB-BD31-4B8C-83A1-F6EECF244321}">
                <p14:modId xmlns:p14="http://schemas.microsoft.com/office/powerpoint/2010/main" val="959241048"/>
              </p:ext>
            </p:extLst>
          </p:nvPr>
        </p:nvGraphicFramePr>
        <p:xfrm>
          <a:off x="5963920" y="1327267"/>
          <a:ext cx="5609204" cy="3759252"/>
        </p:xfrm>
        <a:graphic>
          <a:graphicData uri="http://schemas.openxmlformats.org/drawingml/2006/table">
            <a:tbl>
              <a:tblPr firstRow="1" bandRow="1">
                <a:tableStyleId>{5C22544A-7EE6-4342-B048-85BDC9FD1C3A}</a:tableStyleId>
              </a:tblPr>
              <a:tblGrid>
                <a:gridCol w="1038596">
                  <a:extLst>
                    <a:ext uri="{9D8B030D-6E8A-4147-A177-3AD203B41FA5}">
                      <a16:colId xmlns:a16="http://schemas.microsoft.com/office/drawing/2014/main" val="2207687281"/>
                    </a:ext>
                  </a:extLst>
                </a:gridCol>
                <a:gridCol w="734184">
                  <a:extLst>
                    <a:ext uri="{9D8B030D-6E8A-4147-A177-3AD203B41FA5}">
                      <a16:colId xmlns:a16="http://schemas.microsoft.com/office/drawing/2014/main" val="727338336"/>
                    </a:ext>
                  </a:extLst>
                </a:gridCol>
                <a:gridCol w="1179786">
                  <a:extLst>
                    <a:ext uri="{9D8B030D-6E8A-4147-A177-3AD203B41FA5}">
                      <a16:colId xmlns:a16="http://schemas.microsoft.com/office/drawing/2014/main" val="716153316"/>
                    </a:ext>
                  </a:extLst>
                </a:gridCol>
                <a:gridCol w="1328319">
                  <a:extLst>
                    <a:ext uri="{9D8B030D-6E8A-4147-A177-3AD203B41FA5}">
                      <a16:colId xmlns:a16="http://schemas.microsoft.com/office/drawing/2014/main" val="2874282140"/>
                    </a:ext>
                  </a:extLst>
                </a:gridCol>
                <a:gridCol w="1328319">
                  <a:extLst>
                    <a:ext uri="{9D8B030D-6E8A-4147-A177-3AD203B41FA5}">
                      <a16:colId xmlns:a16="http://schemas.microsoft.com/office/drawing/2014/main" val="3975806442"/>
                    </a:ext>
                  </a:extLst>
                </a:gridCol>
              </a:tblGrid>
              <a:tr h="866088">
                <a:tc>
                  <a:txBody>
                    <a:bodyPr/>
                    <a:lstStyle/>
                    <a:p>
                      <a:pPr algn="ctr" fontAlgn="ctr"/>
                      <a:r>
                        <a:rPr lang="en-US" sz="2000" u="none" strike="noStrike" dirty="0">
                          <a:effectLst/>
                          <a:latin typeface="Times New Roman" panose="02020603050405020304" pitchFamily="18" charset="0"/>
                          <a:cs typeface="Times New Roman" panose="02020603050405020304" pitchFamily="18" charset="0"/>
                        </a:rPr>
                        <a:t>Design</a:t>
                      </a:r>
                      <a:endParaRPr lang="en-US" sz="20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15002" marR="15002" marT="15002" marB="0" anchor="ctr"/>
                </a:tc>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Tc </a:t>
                      </a:r>
                      <a:endParaRPr lang="en-US" sz="2000" b="1" i="0" u="none" strike="noStrike">
                        <a:solidFill>
                          <a:srgbClr val="FFFFFF"/>
                        </a:solidFill>
                        <a:effectLst/>
                        <a:latin typeface="Times New Roman" panose="02020603050405020304" pitchFamily="18" charset="0"/>
                        <a:cs typeface="Times New Roman" panose="02020603050405020304" pitchFamily="18" charset="0"/>
                      </a:endParaRPr>
                    </a:p>
                  </a:txBody>
                  <a:tcPr marL="15002" marR="15002" marT="15002" marB="0" anchor="ctr"/>
                </a:tc>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Tdp,min</a:t>
                      </a:r>
                      <a:endParaRPr lang="en-US" sz="2000" b="1" i="0" u="none" strike="noStrike">
                        <a:solidFill>
                          <a:srgbClr val="FFFFFF"/>
                        </a:solidFill>
                        <a:effectLst/>
                        <a:latin typeface="Times New Roman" panose="02020603050405020304" pitchFamily="18" charset="0"/>
                        <a:cs typeface="Times New Roman" panose="02020603050405020304" pitchFamily="18" charset="0"/>
                      </a:endParaRPr>
                    </a:p>
                  </a:txBody>
                  <a:tcPr marL="15002" marR="15002" marT="15002" marB="0" anchor="ctr"/>
                </a:tc>
                <a:tc>
                  <a:txBody>
                    <a:bodyPr/>
                    <a:lstStyle/>
                    <a:p>
                      <a:pPr algn="l" fontAlgn="ctr"/>
                      <a:r>
                        <a:rPr lang="en-US" sz="2000" u="none" strike="noStrike">
                          <a:effectLst/>
                          <a:latin typeface="Times New Roman" panose="02020603050405020304" pitchFamily="18" charset="0"/>
                          <a:cs typeface="Times New Roman" panose="02020603050405020304" pitchFamily="18" charset="0"/>
                        </a:rPr>
                        <a:t>Tr</a:t>
                      </a:r>
                      <a:endParaRPr lang="en-US" sz="2000" b="1" i="0" u="none" strike="noStrike">
                        <a:solidFill>
                          <a:srgbClr val="FFFFFF"/>
                        </a:solidFill>
                        <a:effectLst/>
                        <a:latin typeface="Times New Roman" panose="02020603050405020304" pitchFamily="18" charset="0"/>
                        <a:cs typeface="Times New Roman" panose="02020603050405020304" pitchFamily="18" charset="0"/>
                      </a:endParaRPr>
                    </a:p>
                  </a:txBody>
                  <a:tcPr marL="15002" marR="15002" marT="15002" marB="0" anchor="ctr"/>
                </a:tc>
                <a:tc>
                  <a:txBody>
                    <a:bodyPr/>
                    <a:lstStyle/>
                    <a:p>
                      <a:pPr algn="ctr" fontAlgn="ctr"/>
                      <a:r>
                        <a:rPr lang="en-US" sz="2000" u="none" strike="noStrike" dirty="0">
                          <a:effectLst/>
                          <a:latin typeface="Times New Roman" panose="02020603050405020304" pitchFamily="18" charset="0"/>
                          <a:cs typeface="Times New Roman" panose="02020603050405020304" pitchFamily="18" charset="0"/>
                        </a:rPr>
                        <a:t>HR (</a:t>
                      </a:r>
                      <a:r>
                        <a:rPr lang="en-US" sz="2000" u="none" strike="noStrike" dirty="0" err="1">
                          <a:effectLst/>
                          <a:latin typeface="Times New Roman" panose="02020603050405020304" pitchFamily="18" charset="0"/>
                          <a:cs typeface="Times New Roman" panose="02020603050405020304" pitchFamily="18" charset="0"/>
                        </a:rPr>
                        <a:t>wa</a:t>
                      </a:r>
                      <a:r>
                        <a:rPr lang="en-US" sz="2000" u="none" strike="noStrike" dirty="0">
                          <a:effectLst/>
                          <a:latin typeface="Times New Roman" panose="02020603050405020304" pitchFamily="18" charset="0"/>
                          <a:cs typeface="Times New Roman" panose="02020603050405020304" pitchFamily="18" charset="0"/>
                        </a:rPr>
                        <a:t>, max)</a:t>
                      </a:r>
                      <a:endParaRPr lang="en-US" sz="20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15002" marR="15002" marT="15002" marB="0" anchor="ctr"/>
                </a:tc>
                <a:extLst>
                  <a:ext uri="{0D108BD9-81ED-4DB2-BD59-A6C34878D82A}">
                    <a16:rowId xmlns:a16="http://schemas.microsoft.com/office/drawing/2014/main" val="1956190071"/>
                  </a:ext>
                </a:extLst>
              </a:tr>
              <a:tr h="482194">
                <a:tc>
                  <a:txBody>
                    <a:bodyPr/>
                    <a:lstStyle/>
                    <a:p>
                      <a:pPr algn="ctr" fontAlgn="ctr"/>
                      <a:r>
                        <a:rPr lang="en-US" sz="2000" u="none" strike="noStrike" dirty="0">
                          <a:effectLst/>
                          <a:latin typeface="Times New Roman" panose="02020603050405020304" pitchFamily="18" charset="0"/>
                          <a:cs typeface="Times New Roman" panose="02020603050405020304" pitchFamily="18" charset="0"/>
                        </a:rPr>
                        <a:t>1</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15002" marR="15002" marT="15002" marB="0" anchor="ctr"/>
                </a:tc>
                <a:tc>
                  <a:txBody>
                    <a:bodyPr/>
                    <a:lstStyle/>
                    <a:p>
                      <a:pPr algn="ctr" fontAlgn="ctr"/>
                      <a:r>
                        <a:rPr lang="en-US" sz="2000" u="none" strike="noStrike" dirty="0">
                          <a:effectLst/>
                          <a:latin typeface="Times New Roman" panose="02020603050405020304" pitchFamily="18" charset="0"/>
                          <a:cs typeface="Times New Roman" panose="02020603050405020304" pitchFamily="18" charset="0"/>
                        </a:rPr>
                        <a:t>17</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15002" marR="15002" marT="15002" marB="0" anchor="ctr"/>
                </a:tc>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15.5</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15002" marR="15002" marT="15002" marB="0" anchor="ctr"/>
                </a:tc>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20.61473</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15002" marR="15002" marT="15002" marB="0" anchor="ctr"/>
                </a:tc>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0.007251</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15002" marR="15002" marT="15002" marB="0" anchor="ctr"/>
                </a:tc>
                <a:extLst>
                  <a:ext uri="{0D108BD9-81ED-4DB2-BD59-A6C34878D82A}">
                    <a16:rowId xmlns:a16="http://schemas.microsoft.com/office/drawing/2014/main" val="3625554894"/>
                  </a:ext>
                </a:extLst>
              </a:tr>
              <a:tr h="482194">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2</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15002" marR="15002" marT="15002" marB="0" anchor="ctr"/>
                </a:tc>
                <a:tc>
                  <a:txBody>
                    <a:bodyPr/>
                    <a:lstStyle/>
                    <a:p>
                      <a:pPr algn="ctr" fontAlgn="ctr"/>
                      <a:r>
                        <a:rPr lang="en-US" sz="2000" u="none" strike="noStrike" dirty="0">
                          <a:effectLst/>
                          <a:latin typeface="Times New Roman" panose="02020603050405020304" pitchFamily="18" charset="0"/>
                          <a:cs typeface="Times New Roman" panose="02020603050405020304" pitchFamily="18" charset="0"/>
                        </a:rPr>
                        <a:t>17</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15002" marR="15002" marT="15002" marB="0" anchor="ctr"/>
                </a:tc>
                <a:tc>
                  <a:txBody>
                    <a:bodyPr/>
                    <a:lstStyle/>
                    <a:p>
                      <a:pPr algn="ctr" fontAlgn="ctr"/>
                      <a:r>
                        <a:rPr lang="en-US" sz="2000" u="none" strike="noStrike" dirty="0">
                          <a:effectLst/>
                          <a:latin typeface="Times New Roman" panose="02020603050405020304" pitchFamily="18" charset="0"/>
                          <a:cs typeface="Times New Roman" panose="02020603050405020304" pitchFamily="18" charset="0"/>
                        </a:rPr>
                        <a:t>15.5</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15002" marR="15002" marT="15002" marB="0" anchor="ctr"/>
                </a:tc>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20.82476</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15002" marR="15002" marT="15002" marB="0" anchor="ctr"/>
                </a:tc>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0.007158</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15002" marR="15002" marT="15002" marB="0" anchor="ctr"/>
                </a:tc>
                <a:extLst>
                  <a:ext uri="{0D108BD9-81ED-4DB2-BD59-A6C34878D82A}">
                    <a16:rowId xmlns:a16="http://schemas.microsoft.com/office/drawing/2014/main" val="1776951731"/>
                  </a:ext>
                </a:extLst>
              </a:tr>
              <a:tr h="482194">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3</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15002" marR="15002" marT="15002" marB="0" anchor="ctr"/>
                </a:tc>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16</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15002" marR="15002" marT="15002" marB="0" anchor="ctr"/>
                </a:tc>
                <a:tc>
                  <a:txBody>
                    <a:bodyPr/>
                    <a:lstStyle/>
                    <a:p>
                      <a:pPr algn="ctr" fontAlgn="ctr"/>
                      <a:r>
                        <a:rPr lang="en-US" sz="2000" u="none" strike="noStrike" dirty="0">
                          <a:effectLst/>
                          <a:latin typeface="Times New Roman" panose="02020603050405020304" pitchFamily="18" charset="0"/>
                          <a:cs typeface="Times New Roman" panose="02020603050405020304" pitchFamily="18" charset="0"/>
                        </a:rPr>
                        <a:t>14.5</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15002" marR="15002" marT="15002" marB="0" anchor="ctr"/>
                </a:tc>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22.28686</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15002" marR="15002" marT="15002" marB="0" anchor="ctr"/>
                </a:tc>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0.006138</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15002" marR="15002" marT="15002" marB="0" anchor="ctr"/>
                </a:tc>
                <a:extLst>
                  <a:ext uri="{0D108BD9-81ED-4DB2-BD59-A6C34878D82A}">
                    <a16:rowId xmlns:a16="http://schemas.microsoft.com/office/drawing/2014/main" val="4047787262"/>
                  </a:ext>
                </a:extLst>
              </a:tr>
              <a:tr h="482194">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4</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15002" marR="15002" marT="15002" marB="0" anchor="ctr"/>
                </a:tc>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16</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15002" marR="15002" marT="15002" marB="0" anchor="ctr"/>
                </a:tc>
                <a:tc>
                  <a:txBody>
                    <a:bodyPr/>
                    <a:lstStyle/>
                    <a:p>
                      <a:pPr algn="ctr" fontAlgn="ctr"/>
                      <a:r>
                        <a:rPr lang="en-US" sz="2000" u="none" strike="noStrike" dirty="0">
                          <a:effectLst/>
                          <a:latin typeface="Times New Roman" panose="02020603050405020304" pitchFamily="18" charset="0"/>
                          <a:cs typeface="Times New Roman" panose="02020603050405020304" pitchFamily="18" charset="0"/>
                        </a:rPr>
                        <a:t>14.5</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15002" marR="15002" marT="15002" marB="0" anchor="ctr"/>
                </a:tc>
                <a:tc>
                  <a:txBody>
                    <a:bodyPr/>
                    <a:lstStyle/>
                    <a:p>
                      <a:pPr algn="ctr" fontAlgn="ctr"/>
                      <a:r>
                        <a:rPr lang="en-US" sz="2000" u="none" strike="noStrike" dirty="0">
                          <a:effectLst/>
                          <a:latin typeface="Times New Roman" panose="02020603050405020304" pitchFamily="18" charset="0"/>
                          <a:cs typeface="Times New Roman" panose="02020603050405020304" pitchFamily="18" charset="0"/>
                        </a:rPr>
                        <a:t>22.49689</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15002" marR="15002" marT="15002" marB="0" anchor="ctr"/>
                </a:tc>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0.00606</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15002" marR="15002" marT="15002" marB="0" anchor="ctr"/>
                </a:tc>
                <a:extLst>
                  <a:ext uri="{0D108BD9-81ED-4DB2-BD59-A6C34878D82A}">
                    <a16:rowId xmlns:a16="http://schemas.microsoft.com/office/drawing/2014/main" val="691325775"/>
                  </a:ext>
                </a:extLst>
              </a:tr>
              <a:tr h="482194">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5</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15002" marR="15002" marT="15002" marB="0" anchor="ctr"/>
                </a:tc>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15.5</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15002" marR="15002" marT="15002" marB="0" anchor="ctr"/>
                </a:tc>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14</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15002" marR="15002" marT="15002" marB="0" anchor="ctr"/>
                </a:tc>
                <a:tc>
                  <a:txBody>
                    <a:bodyPr/>
                    <a:lstStyle/>
                    <a:p>
                      <a:pPr algn="ctr" fontAlgn="ctr"/>
                      <a:r>
                        <a:rPr lang="en-US" sz="2000" u="none" strike="noStrike" dirty="0">
                          <a:effectLst/>
                          <a:latin typeface="Times New Roman" panose="02020603050405020304" pitchFamily="18" charset="0"/>
                          <a:cs typeface="Times New Roman" panose="02020603050405020304" pitchFamily="18" charset="0"/>
                        </a:rPr>
                        <a:t>24.33293</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15002" marR="15002" marT="15002" marB="0" anchor="ctr"/>
                </a:tc>
                <a:tc>
                  <a:txBody>
                    <a:bodyPr/>
                    <a:lstStyle/>
                    <a:p>
                      <a:pPr algn="ctr" fontAlgn="ctr"/>
                      <a:r>
                        <a:rPr lang="en-US" sz="2000" u="none" strike="noStrike" dirty="0">
                          <a:effectLst/>
                          <a:latin typeface="Times New Roman" panose="02020603050405020304" pitchFamily="18" charset="0"/>
                          <a:cs typeface="Times New Roman" panose="02020603050405020304" pitchFamily="18" charset="0"/>
                        </a:rPr>
                        <a:t>0.005252</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15002" marR="15002" marT="15002" marB="0" anchor="ctr"/>
                </a:tc>
                <a:extLst>
                  <a:ext uri="{0D108BD9-81ED-4DB2-BD59-A6C34878D82A}">
                    <a16:rowId xmlns:a16="http://schemas.microsoft.com/office/drawing/2014/main" val="2174664708"/>
                  </a:ext>
                </a:extLst>
              </a:tr>
              <a:tr h="482194">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6</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15002" marR="15002" marT="15002" marB="0" anchor="ctr"/>
                </a:tc>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15.5</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15002" marR="15002" marT="15002" marB="0" anchor="ctr"/>
                </a:tc>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14</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15002" marR="15002" marT="15002" marB="0" anchor="ctr"/>
                </a:tc>
                <a:tc>
                  <a:txBody>
                    <a:bodyPr/>
                    <a:lstStyle/>
                    <a:p>
                      <a:pPr algn="ctr" fontAlgn="ctr"/>
                      <a:r>
                        <a:rPr lang="en-US" sz="2000" u="none" strike="noStrike" dirty="0">
                          <a:effectLst/>
                          <a:latin typeface="Times New Roman" panose="02020603050405020304" pitchFamily="18" charset="0"/>
                          <a:cs typeface="Times New Roman" panose="02020603050405020304" pitchFamily="18" charset="0"/>
                        </a:rPr>
                        <a:t>24.55495</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15002" marR="15002" marT="15002" marB="0" anchor="ctr"/>
                </a:tc>
                <a:tc>
                  <a:txBody>
                    <a:bodyPr/>
                    <a:lstStyle/>
                    <a:p>
                      <a:pPr algn="ctr" fontAlgn="ctr"/>
                      <a:r>
                        <a:rPr lang="en-US" sz="2000" u="none" strike="noStrike" dirty="0">
                          <a:effectLst/>
                          <a:latin typeface="Times New Roman" panose="02020603050405020304" pitchFamily="18" charset="0"/>
                          <a:cs typeface="Times New Roman" panose="02020603050405020304" pitchFamily="18" charset="0"/>
                        </a:rPr>
                        <a:t>0.005182</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15002" marR="15002" marT="15002" marB="0" anchor="ctr"/>
                </a:tc>
                <a:extLst>
                  <a:ext uri="{0D108BD9-81ED-4DB2-BD59-A6C34878D82A}">
                    <a16:rowId xmlns:a16="http://schemas.microsoft.com/office/drawing/2014/main" val="3006972038"/>
                  </a:ext>
                </a:extLst>
              </a:tr>
            </a:tbl>
          </a:graphicData>
        </a:graphic>
      </p:graphicFrame>
    </p:spTree>
    <p:extLst>
      <p:ext uri="{BB962C8B-B14F-4D97-AF65-F5344CB8AC3E}">
        <p14:creationId xmlns:p14="http://schemas.microsoft.com/office/powerpoint/2010/main" val="30208886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D450B9F0-29CC-B86F-078C-0B772342474A}"/>
                  </a:ext>
                </a:extLst>
              </p:cNvPr>
              <p:cNvSpPr txBox="1"/>
              <p:nvPr/>
            </p:nvSpPr>
            <p:spPr>
              <a:xfrm>
                <a:off x="1859280" y="558800"/>
                <a:ext cx="9824720" cy="4519122"/>
              </a:xfrm>
              <a:prstGeom prst="rect">
                <a:avLst/>
              </a:prstGeom>
              <a:noFill/>
            </p:spPr>
            <p:txBody>
              <a:bodyPr wrap="square" rtlCol="0">
                <a:spAutoFit/>
              </a:bodyPr>
              <a:lstStyle/>
              <a:p>
                <a:r>
                  <a:rPr lang="en-US" sz="2000" dirty="0">
                    <a:effectLst/>
                    <a:latin typeface="Times New Roman" panose="02020603050405020304" pitchFamily="18" charset="0"/>
                    <a:ea typeface="Calibri" panose="020F0502020204030204" pitchFamily="34" charset="0"/>
                    <a:cs typeface="Times New Roman" panose="02020603050405020304" pitchFamily="18" charset="0"/>
                  </a:rPr>
                  <a:t>the maximum allowed supply air humidity ratio (</a:t>
                </a:r>
                <a14:m>
                  <m:oMath xmlns:m="http://schemas.openxmlformats.org/officeDocument/2006/math">
                    <m:sSub>
                      <m:sSubPr>
                        <m:ctrlPr>
                          <a:rPr lang="en-US" sz="2000" i="1">
                            <a:effectLst/>
                            <a:latin typeface="Cambria Math" panose="02040503050406030204" pitchFamily="18" charset="0"/>
                            <a:cs typeface="Times New Roman" panose="02020603050405020304" pitchFamily="18" charset="0"/>
                          </a:rPr>
                        </m:ctrlPr>
                      </m:sSubPr>
                      <m:e>
                        <m:r>
                          <a:rPr lang="en-US" sz="2000" i="1">
                            <a:effectLst/>
                            <a:latin typeface="Cambria Math" panose="02040503050406030204" pitchFamily="18" charset="0"/>
                            <a:ea typeface="Calibri" panose="020F0502020204030204" pitchFamily="34" charset="0"/>
                            <a:cs typeface="Times New Roman" panose="02020603050405020304" pitchFamily="18" charset="0"/>
                          </a:rPr>
                          <m:t>𝑊</m:t>
                        </m:r>
                      </m:e>
                      <m:sub>
                        <m:r>
                          <a:rPr lang="en-US" sz="2000" i="1">
                            <a:effectLst/>
                            <a:latin typeface="Cambria Math" panose="02040503050406030204" pitchFamily="18" charset="0"/>
                            <a:ea typeface="Calibri" panose="020F0502020204030204" pitchFamily="34" charset="0"/>
                            <a:cs typeface="Times New Roman" panose="02020603050405020304" pitchFamily="18" charset="0"/>
                          </a:rPr>
                          <m:t>𝑠</m:t>
                        </m:r>
                      </m:sub>
                    </m:sSub>
                    <m:r>
                      <a:rPr lang="en-US" sz="2000" i="1">
                        <a:effectLst/>
                        <a:latin typeface="Cambria Math" panose="02040503050406030204" pitchFamily="18" charset="0"/>
                        <a:ea typeface="Calibri" panose="020F0502020204030204" pitchFamily="34" charset="0"/>
                        <a:cs typeface="Times New Roman" panose="02020603050405020304" pitchFamily="18" charset="0"/>
                      </a:rPr>
                      <m:t> </m:t>
                    </m:r>
                    <m:f>
                      <m:fPr>
                        <m:ctrlP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𝑘𝑔</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𝑜𝑓</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𝐻</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𝑂</m:t>
                        </m:r>
                      </m:num>
                      <m:den>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𝑘𝑔</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𝑜𝑓</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 </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𝑎𝑖𝑟</m:t>
                        </m:r>
                      </m:den>
                    </m:f>
                    <m:r>
                      <a:rPr lang="en-US" sz="2000" i="1">
                        <a:effectLst/>
                        <a:latin typeface="Cambria Math" panose="02040503050406030204" pitchFamily="18" charset="0"/>
                        <a:ea typeface="Calibri" panose="020F0502020204030204" pitchFamily="34" charset="0"/>
                        <a:cs typeface="Times New Roman" panose="02020603050405020304" pitchFamily="18" charset="0"/>
                      </a:rPr>
                      <m:t>)</m:t>
                    </m:r>
                  </m:oMath>
                </a14:m>
                <a:r>
                  <a:rPr lang="en-US" sz="2000" dirty="0">
                    <a:latin typeface="Times New Roman" panose="02020603050405020304" pitchFamily="18" charset="0"/>
                    <a:cs typeface="Times New Roman" panose="02020603050405020304" pitchFamily="18" charset="0"/>
                  </a:rPr>
                  <a:t> is given by:</a:t>
                </a:r>
              </a:p>
              <a:p>
                <a:endParaRPr lang="en-US" sz="1800" i="1" dirty="0">
                  <a:effectLst/>
                  <a:latin typeface="Cambria Math" panose="02040503050406030204" pitchFamily="18" charset="0"/>
                  <a:ea typeface="Calibri" panose="020F0502020204030204" pitchFamily="34"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sSub>
                        <m:sSubPr>
                          <m:ctrlPr>
                            <a:rPr lang="en-US" sz="1800" i="1" smtClean="0">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𝑊</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𝑠</m:t>
                          </m:r>
                          <m:r>
                            <a:rPr lang="en-US" sz="1800" i="1">
                              <a:effectLst/>
                              <a:latin typeface="Cambria Math" panose="02040503050406030204" pitchFamily="18" charset="0"/>
                              <a:ea typeface="Calibri" panose="020F0502020204030204" pitchFamily="34" charset="0"/>
                              <a:cs typeface="Times New Roman" panose="02020603050405020304" pitchFamily="18" charset="0"/>
                            </a:rPr>
                            <m:t>,</m:t>
                          </m:r>
                          <m:r>
                            <a:rPr lang="en-US" sz="1800" i="1">
                              <a:effectLst/>
                              <a:latin typeface="Cambria Math" panose="02040503050406030204" pitchFamily="18" charset="0"/>
                              <a:ea typeface="Calibri" panose="020F0502020204030204" pitchFamily="34" charset="0"/>
                              <a:cs typeface="Times New Roman" panose="02020603050405020304" pitchFamily="18" charset="0"/>
                            </a:rPr>
                            <m:t>𝑚𝑎𝑥</m:t>
                          </m:r>
                        </m:sub>
                      </m:sSub>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𝑊</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𝑎</m:t>
                          </m:r>
                          <m:r>
                            <a:rPr lang="en-US" sz="1800" i="1">
                              <a:effectLst/>
                              <a:latin typeface="Cambria Math" panose="02040503050406030204" pitchFamily="18" charset="0"/>
                              <a:ea typeface="Calibri" panose="020F0502020204030204" pitchFamily="34" charset="0"/>
                              <a:cs typeface="Times New Roman" panose="02020603050405020304" pitchFamily="18" charset="0"/>
                            </a:rPr>
                            <m:t>,</m:t>
                          </m:r>
                          <m:r>
                            <a:rPr lang="en-US" sz="1800" i="1">
                              <a:effectLst/>
                              <a:latin typeface="Cambria Math" panose="02040503050406030204" pitchFamily="18" charset="0"/>
                              <a:ea typeface="Calibri" panose="020F0502020204030204" pitchFamily="34" charset="0"/>
                              <a:cs typeface="Times New Roman" panose="02020603050405020304" pitchFamily="18" charset="0"/>
                            </a:rPr>
                            <m:t>𝑚𝑎𝑥</m:t>
                          </m:r>
                        </m:sub>
                      </m:sSub>
                      <m:r>
                        <a:rPr lang="en-US" sz="18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1800" i="1">
                              <a:effectLst/>
                              <a:latin typeface="Cambria Math" panose="02040503050406030204" pitchFamily="18" charset="0"/>
                              <a:ea typeface="Calibri" panose="020F0502020204030204" pitchFamily="34" charset="0"/>
                              <a:cs typeface="Times New Roman" panose="02020603050405020304" pitchFamily="18" charset="0"/>
                            </a:rPr>
                          </m:ctrlPr>
                        </m:sSubPr>
                        <m:e>
                          <m:r>
                            <a:rPr lang="en-US" sz="1800" i="1">
                              <a:effectLst/>
                              <a:latin typeface="Cambria Math" panose="02040503050406030204" pitchFamily="18" charset="0"/>
                              <a:ea typeface="Calibri" panose="020F0502020204030204" pitchFamily="34" charset="0"/>
                              <a:cs typeface="Times New Roman" panose="02020603050405020304" pitchFamily="18" charset="0"/>
                            </a:rPr>
                            <m:t>𝑊</m:t>
                          </m:r>
                        </m:e>
                        <m:sub>
                          <m:r>
                            <a:rPr lang="en-US" sz="1800" i="1">
                              <a:effectLst/>
                              <a:latin typeface="Cambria Math" panose="02040503050406030204" pitchFamily="18" charset="0"/>
                              <a:ea typeface="Calibri" panose="020F0502020204030204" pitchFamily="34" charset="0"/>
                              <a:cs typeface="Times New Roman" panose="02020603050405020304" pitchFamily="18" charset="0"/>
                            </a:rPr>
                            <m:t>𝑣</m:t>
                          </m:r>
                        </m:sub>
                      </m:sSub>
                    </m:oMath>
                  </m:oMathPara>
                </a14:m>
                <a:endParaRPr lang="en-US" sz="1800" dirty="0">
                  <a:effectLst/>
                  <a:latin typeface="Calibri" panose="020F0502020204030204" pitchFamily="34" charset="0"/>
                  <a:ea typeface="Calibri" panose="020F0502020204030204" pitchFamily="34" charset="0"/>
                  <a:cs typeface="Arial" panose="020B0604020202020204" pitchFamily="34" charset="0"/>
                </a:endParaRPr>
              </a:p>
              <a:p>
                <a:endParaRPr lang="en-US" sz="1800" dirty="0">
                  <a:effectLst/>
                  <a:latin typeface="Calibri" panose="020F0502020204030204" pitchFamily="34" charset="0"/>
                  <a:ea typeface="Calibri" panose="020F0502020204030204" pitchFamily="34" charset="0"/>
                  <a:cs typeface="Arial" panose="020B0604020202020204" pitchFamily="34" charset="0"/>
                </a:endParaRPr>
              </a:p>
              <a:p>
                <a:r>
                  <a:rPr lang="en-US" sz="2000" dirty="0">
                    <a:latin typeface="Times New Roman" panose="02020603050405020304" pitchFamily="18" charset="0"/>
                    <a:cs typeface="Times New Roman" panose="02020603050405020304" pitchFamily="18" charset="0"/>
                  </a:rPr>
                  <a:t>Thus, we can calculate the reheat energy </a:t>
                </a:r>
                <a14:m>
                  <m:oMath xmlns:m="http://schemas.openxmlformats.org/officeDocument/2006/math">
                    <m:sSub>
                      <m:sSubPr>
                        <m:ctrlPr>
                          <a:rPr lang="en-US" sz="1800" i="1" smtClea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𝑄</m:t>
                        </m:r>
                      </m:e>
                      <m:sub>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𝑅𝐻</m:t>
                        </m:r>
                      </m:sub>
                    </m:sSub>
                  </m:oMath>
                </a14:m>
                <a:r>
                  <a:rPr lang="en-US" sz="2000" dirty="0">
                    <a:latin typeface="Times New Roman" panose="02020603050405020304" pitchFamily="18" charset="0"/>
                    <a:cs typeface="Times New Roman" panose="02020603050405020304" pitchFamily="18" charset="0"/>
                  </a:rPr>
                  <a:t> from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𝑇</m:t>
                        </m:r>
                      </m:e>
                      <m:sub>
                        <m:r>
                          <a:rPr lang="en-US" sz="2000" i="1">
                            <a:latin typeface="Cambria Math" panose="02040503050406030204" pitchFamily="18" charset="0"/>
                          </a:rPr>
                          <m:t>𝑑𝑝</m:t>
                        </m:r>
                        <m:r>
                          <a:rPr lang="en-US" sz="2000" i="1">
                            <a:latin typeface="Cambria Math" panose="02040503050406030204" pitchFamily="18" charset="0"/>
                          </a:rPr>
                          <m:t>,</m:t>
                        </m:r>
                        <m:r>
                          <a:rPr lang="en-US" sz="2000" i="1">
                            <a:latin typeface="Cambria Math" panose="02040503050406030204" pitchFamily="18" charset="0"/>
                          </a:rPr>
                          <m:t>𝑚𝑖𝑛</m:t>
                        </m:r>
                      </m:sub>
                    </m:sSub>
                  </m:oMath>
                </a14:m>
                <a:r>
                  <a:rPr lang="en-US" sz="2000" dirty="0">
                    <a:latin typeface="Times New Roman" panose="02020603050405020304" pitchFamily="18" charset="0"/>
                    <a:cs typeface="Times New Roman" panose="02020603050405020304" pitchFamily="18" charset="0"/>
                  </a:rPr>
                  <a:t> to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𝑇</m:t>
                        </m:r>
                      </m:e>
                      <m:sub>
                        <m:r>
                          <a:rPr lang="en-US" sz="2000" i="1">
                            <a:latin typeface="Cambria Math" panose="02040503050406030204" pitchFamily="18" charset="0"/>
                          </a:rPr>
                          <m:t>𝑠</m:t>
                        </m:r>
                      </m:sub>
                    </m:sSub>
                  </m:oMath>
                </a14:m>
                <a:r>
                  <a:rPr lang="en-US" sz="2000" dirty="0">
                    <a:latin typeface="Times New Roman" panose="02020603050405020304" pitchFamily="18" charset="0"/>
                    <a:cs typeface="Times New Roman" panose="02020603050405020304" pitchFamily="18" charset="0"/>
                  </a:rPr>
                  <a:t> based on the following equation:</a:t>
                </a:r>
              </a:p>
              <a:p>
                <a:endParaRPr lang="en-US" sz="2000" dirty="0">
                  <a:latin typeface="Times New Roman" panose="02020603050405020304" pitchFamily="18"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sSub>
                        <m:sSubPr>
                          <m:ctrlPr>
                            <a:rPr lang="en-US" sz="1800" i="1" smtClea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𝑄</m:t>
                          </m:r>
                        </m:e>
                        <m:sub>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𝑅𝐻</m:t>
                          </m:r>
                        </m:sub>
                      </m:sSub>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1800" i="1">
                              <a:effectLst/>
                              <a:latin typeface="Cambria Math" panose="02040503050406030204" pitchFamily="18" charset="0"/>
                              <a:ea typeface="Times New Roman" panose="02020603050405020304" pitchFamily="18" charset="0"/>
                              <a:cs typeface="Times New Roman" panose="02020603050405020304" pitchFamily="18" charset="0"/>
                            </a:rPr>
                          </m:ctrlPr>
                        </m:sSubPr>
                        <m:e>
                          <m:acc>
                            <m:accPr>
                              <m:chr m:val="̇"/>
                              <m:ctrlPr>
                                <a:rPr lang="en-US" sz="1800" i="1">
                                  <a:effectLst/>
                                  <a:latin typeface="Cambria Math" panose="02040503050406030204" pitchFamily="18" charset="0"/>
                                  <a:ea typeface="Times New Roman" panose="02020603050405020304" pitchFamily="18" charset="0"/>
                                  <a:cs typeface="Times New Roman" panose="02020603050405020304" pitchFamily="18" charset="0"/>
                                </a:rPr>
                              </m:ctrlPr>
                            </m:accPr>
                            <m:e>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𝑚</m:t>
                              </m:r>
                            </m:e>
                          </m:acc>
                        </m:e>
                        <m:sub>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𝑠</m:t>
                          </m:r>
                        </m:sub>
                      </m:sSub>
                      <m:sSub>
                        <m:sSubPr>
                          <m:ctrlPr>
                            <a:rPr lang="en-US" sz="18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𝑐</m:t>
                          </m:r>
                        </m:e>
                        <m:sub>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𝑝𝑎</m:t>
                          </m:r>
                        </m:sub>
                      </m:sSub>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18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𝑇</m:t>
                          </m:r>
                        </m:e>
                        <m:sub>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𝑠</m:t>
                          </m:r>
                        </m:sub>
                      </m:sSub>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18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𝑇</m:t>
                          </m:r>
                        </m:e>
                        <m:sub>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𝑑𝑝</m:t>
                          </m:r>
                        </m:sub>
                      </m:sSub>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m:t>
                      </m:r>
                    </m:oMath>
                  </m:oMathPara>
                </a14:m>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Where the dew point temperature </a:t>
                </a:r>
                <a14:m>
                  <m:oMath xmlns:m="http://schemas.openxmlformats.org/officeDocument/2006/math">
                    <m:sSub>
                      <m:sSubPr>
                        <m:ctrlPr>
                          <a:rPr lang="en-US" sz="2000" i="1" smtClea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𝑇</m:t>
                        </m:r>
                      </m:e>
                      <m:sub>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𝑑𝑝</m:t>
                        </m:r>
                      </m:sub>
                    </m:sSub>
                  </m:oMath>
                </a14:m>
                <a:r>
                  <a:rPr lang="en-US" sz="2000" dirty="0">
                    <a:latin typeface="Times New Roman" panose="02020603050405020304" pitchFamily="18" charset="0"/>
                    <a:cs typeface="Times New Roman" panose="02020603050405020304" pitchFamily="18" charset="0"/>
                  </a:rPr>
                  <a:t> can be founded based on the supply humidity ratio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𝑊</m:t>
                        </m:r>
                      </m:e>
                      <m:sub>
                        <m:r>
                          <a:rPr lang="en-US" sz="2000" i="1">
                            <a:latin typeface="Cambria Math" panose="02040503050406030204" pitchFamily="18" charset="0"/>
                          </a:rPr>
                          <m:t>𝑆</m:t>
                        </m:r>
                        <m:r>
                          <a:rPr lang="en-US" sz="2000" i="1">
                            <a:latin typeface="Cambria Math" panose="02040503050406030204" pitchFamily="18" charset="0"/>
                          </a:rPr>
                          <m:t>,</m:t>
                        </m:r>
                        <m:r>
                          <a:rPr lang="en-US" sz="2000" i="1">
                            <a:latin typeface="Cambria Math" panose="02040503050406030204" pitchFamily="18" charset="0"/>
                          </a:rPr>
                          <m:t>𝑚𝑎𝑥</m:t>
                        </m:r>
                      </m:sub>
                    </m:sSub>
                  </m:oMath>
                </a14:m>
                <a:r>
                  <a:rPr lang="en-US" sz="2000" dirty="0">
                    <a:latin typeface="Times New Roman" panose="02020603050405020304" pitchFamily="18" charset="0"/>
                    <a:cs typeface="Times New Roman" panose="02020603050405020304" pitchFamily="18" charset="0"/>
                  </a:rPr>
                  <a:t> and relative humidity 100% through the psychometric chart.</a:t>
                </a:r>
              </a:p>
              <a:p>
                <a:endParaRPr lang="en-US" sz="2000" dirty="0">
                  <a:latin typeface="Times New Roman" panose="02020603050405020304" pitchFamily="18" charset="0"/>
                  <a:cs typeface="Times New Roman" panose="02020603050405020304" pitchFamily="18" charset="0"/>
                </a:endParaRPr>
              </a:p>
              <a:p>
                <a:br>
                  <a:rPr lang="en-US" dirty="0"/>
                </a:br>
                <a:endParaRPr lang="en-US" sz="2000" dirty="0">
                  <a:latin typeface="Times New Roman" panose="02020603050405020304" pitchFamily="18" charset="0"/>
                  <a:cs typeface="Times New Roman" panose="02020603050405020304" pitchFamily="18" charset="0"/>
                </a:endParaRPr>
              </a:p>
            </p:txBody>
          </p:sp>
        </mc:Choice>
        <mc:Fallback xmlns="">
          <p:sp>
            <p:nvSpPr>
              <p:cNvPr id="2" name="TextBox 1">
                <a:extLst>
                  <a:ext uri="{FF2B5EF4-FFF2-40B4-BE49-F238E27FC236}">
                    <a16:creationId xmlns:a16="http://schemas.microsoft.com/office/drawing/2014/main" id="{D450B9F0-29CC-B86F-078C-0B772342474A}"/>
                  </a:ext>
                </a:extLst>
              </p:cNvPr>
              <p:cNvSpPr txBox="1">
                <a:spLocks noRot="1" noChangeAspect="1" noMove="1" noResize="1" noEditPoints="1" noAdjustHandles="1" noChangeArrowheads="1" noChangeShapeType="1" noTextEdit="1"/>
              </p:cNvSpPr>
              <p:nvPr/>
            </p:nvSpPr>
            <p:spPr>
              <a:xfrm>
                <a:off x="1859280" y="558800"/>
                <a:ext cx="9824720" cy="4519122"/>
              </a:xfrm>
              <a:prstGeom prst="rect">
                <a:avLst/>
              </a:prstGeom>
              <a:blipFill>
                <a:blip r:embed="rId2"/>
                <a:stretch>
                  <a:fillRect l="-620"/>
                </a:stretch>
              </a:blipFill>
            </p:spPr>
            <p:txBody>
              <a:bodyPr/>
              <a:lstStyle/>
              <a:p>
                <a:r>
                  <a:rPr lang="en-US">
                    <a:noFill/>
                  </a:rPr>
                  <a:t> </a:t>
                </a:r>
              </a:p>
            </p:txBody>
          </p:sp>
        </mc:Fallback>
      </mc:AlternateContent>
      <p:graphicFrame>
        <p:nvGraphicFramePr>
          <p:cNvPr id="4" name="Table 3">
            <a:extLst>
              <a:ext uri="{FF2B5EF4-FFF2-40B4-BE49-F238E27FC236}">
                <a16:creationId xmlns:a16="http://schemas.microsoft.com/office/drawing/2014/main" id="{029048FA-FD15-B7A0-0005-82479E026187}"/>
              </a:ext>
            </a:extLst>
          </p:cNvPr>
          <p:cNvGraphicFramePr>
            <a:graphicFrameLocks noGrp="1"/>
          </p:cNvGraphicFramePr>
          <p:nvPr>
            <p:extLst>
              <p:ext uri="{D42A27DB-BD31-4B8C-83A1-F6EECF244321}">
                <p14:modId xmlns:p14="http://schemas.microsoft.com/office/powerpoint/2010/main" val="1003608731"/>
              </p:ext>
            </p:extLst>
          </p:nvPr>
        </p:nvGraphicFramePr>
        <p:xfrm>
          <a:off x="1777999" y="4307840"/>
          <a:ext cx="8636001" cy="2416741"/>
        </p:xfrm>
        <a:graphic>
          <a:graphicData uri="http://schemas.openxmlformats.org/drawingml/2006/table">
            <a:tbl>
              <a:tblPr>
                <a:tableStyleId>{21E4AEA4-8DFA-4A89-87EB-49C32662AFE0}</a:tableStyleId>
              </a:tblPr>
              <a:tblGrid>
                <a:gridCol w="1354667">
                  <a:extLst>
                    <a:ext uri="{9D8B030D-6E8A-4147-A177-3AD203B41FA5}">
                      <a16:colId xmlns:a16="http://schemas.microsoft.com/office/drawing/2014/main" val="2351294360"/>
                    </a:ext>
                  </a:extLst>
                </a:gridCol>
                <a:gridCol w="1862666">
                  <a:extLst>
                    <a:ext uri="{9D8B030D-6E8A-4147-A177-3AD203B41FA5}">
                      <a16:colId xmlns:a16="http://schemas.microsoft.com/office/drawing/2014/main" val="102141188"/>
                    </a:ext>
                  </a:extLst>
                </a:gridCol>
                <a:gridCol w="1354667">
                  <a:extLst>
                    <a:ext uri="{9D8B030D-6E8A-4147-A177-3AD203B41FA5}">
                      <a16:colId xmlns:a16="http://schemas.microsoft.com/office/drawing/2014/main" val="308502461"/>
                    </a:ext>
                  </a:extLst>
                </a:gridCol>
                <a:gridCol w="1354667">
                  <a:extLst>
                    <a:ext uri="{9D8B030D-6E8A-4147-A177-3AD203B41FA5}">
                      <a16:colId xmlns:a16="http://schemas.microsoft.com/office/drawing/2014/main" val="3622505488"/>
                    </a:ext>
                  </a:extLst>
                </a:gridCol>
                <a:gridCol w="1354667">
                  <a:extLst>
                    <a:ext uri="{9D8B030D-6E8A-4147-A177-3AD203B41FA5}">
                      <a16:colId xmlns:a16="http://schemas.microsoft.com/office/drawing/2014/main" val="1180981913"/>
                    </a:ext>
                  </a:extLst>
                </a:gridCol>
                <a:gridCol w="1354667">
                  <a:extLst>
                    <a:ext uri="{9D8B030D-6E8A-4147-A177-3AD203B41FA5}">
                      <a16:colId xmlns:a16="http://schemas.microsoft.com/office/drawing/2014/main" val="906577255"/>
                    </a:ext>
                  </a:extLst>
                </a:gridCol>
              </a:tblGrid>
              <a:tr h="513495">
                <a:tc>
                  <a:txBody>
                    <a:bodyPr/>
                    <a:lstStyle/>
                    <a:p>
                      <a:pPr algn="ctr" fontAlgn="ctr"/>
                      <a:r>
                        <a:rPr lang="en-US" sz="2000" u="none" strike="noStrike" dirty="0">
                          <a:effectLst/>
                          <a:latin typeface="Times New Roman" panose="02020603050405020304" pitchFamily="18" charset="0"/>
                          <a:cs typeface="Times New Roman" panose="02020603050405020304" pitchFamily="18" charset="0"/>
                        </a:rPr>
                        <a:t>Design</a:t>
                      </a:r>
                      <a:endParaRPr lang="en-US" sz="20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fontAlgn="ctr"/>
                      <a:r>
                        <a:rPr lang="en-US" sz="2000" u="none" strike="noStrike" dirty="0">
                          <a:effectLst/>
                          <a:latin typeface="Times New Roman" panose="02020603050405020304" pitchFamily="18" charset="0"/>
                          <a:cs typeface="Times New Roman" panose="02020603050405020304" pitchFamily="18" charset="0"/>
                        </a:rPr>
                        <a:t>HR (</a:t>
                      </a:r>
                      <a:r>
                        <a:rPr lang="en-US" sz="2000" u="none" strike="noStrike" dirty="0" err="1">
                          <a:effectLst/>
                          <a:latin typeface="Times New Roman" panose="02020603050405020304" pitchFamily="18" charset="0"/>
                          <a:cs typeface="Times New Roman" panose="02020603050405020304" pitchFamily="18" charset="0"/>
                        </a:rPr>
                        <a:t>wa</a:t>
                      </a:r>
                      <a:r>
                        <a:rPr lang="en-US" sz="2000" u="none" strike="noStrike" dirty="0">
                          <a:effectLst/>
                          <a:latin typeface="Times New Roman" panose="02020603050405020304" pitchFamily="18" charset="0"/>
                          <a:cs typeface="Times New Roman" panose="02020603050405020304" pitchFamily="18" charset="0"/>
                        </a:rPr>
                        <a:t>, max)</a:t>
                      </a:r>
                      <a:endParaRPr lang="en-US" sz="20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l" fontAlgn="ctr"/>
                      <a:r>
                        <a:rPr lang="en-US" sz="2000" u="none" strike="noStrike">
                          <a:effectLst/>
                          <a:latin typeface="Times New Roman" panose="02020603050405020304" pitchFamily="18" charset="0"/>
                          <a:cs typeface="Times New Roman" panose="02020603050405020304" pitchFamily="18" charset="0"/>
                        </a:rPr>
                        <a:t>Wv</a:t>
                      </a:r>
                      <a:endParaRPr lang="en-US" sz="2000" b="1"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Ws. Max</a:t>
                      </a:r>
                      <a:endParaRPr lang="en-US" sz="2000" b="1"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Tdp</a:t>
                      </a:r>
                      <a:endParaRPr lang="en-US" sz="2000" b="1"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fontAlgn="ctr"/>
                      <a:r>
                        <a:rPr lang="en-US" sz="2000" u="none" strike="noStrike" dirty="0" err="1">
                          <a:effectLst/>
                          <a:latin typeface="Times New Roman" panose="02020603050405020304" pitchFamily="18" charset="0"/>
                          <a:cs typeface="Times New Roman" panose="02020603050405020304" pitchFamily="18" charset="0"/>
                        </a:rPr>
                        <a:t>Qrh</a:t>
                      </a:r>
                      <a:endParaRPr lang="en-US" sz="2000" b="1" i="0" u="none" strike="noStrike" dirty="0">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extLst>
                  <a:ext uri="{0D108BD9-81ED-4DB2-BD59-A6C34878D82A}">
                    <a16:rowId xmlns:a16="http://schemas.microsoft.com/office/drawing/2014/main" val="1168916636"/>
                  </a:ext>
                </a:extLst>
              </a:tr>
              <a:tr h="276791">
                <a:tc>
                  <a:txBody>
                    <a:bodyPr/>
                    <a:lstStyle/>
                    <a:p>
                      <a:pPr algn="ctr" fontAlgn="ctr"/>
                      <a:r>
                        <a:rPr lang="en-US" sz="2000" u="none" strike="noStrike" dirty="0">
                          <a:effectLst/>
                          <a:latin typeface="Times New Roman" panose="02020603050405020304" pitchFamily="18" charset="0"/>
                          <a:cs typeface="Times New Roman" panose="02020603050405020304" pitchFamily="18" charset="0"/>
                        </a:rPr>
                        <a:t>1</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fontAlgn="ctr"/>
                      <a:r>
                        <a:rPr lang="en-US" sz="2000" u="none" strike="noStrike" dirty="0">
                          <a:effectLst/>
                          <a:latin typeface="Times New Roman" panose="02020603050405020304" pitchFamily="18" charset="0"/>
                          <a:cs typeface="Times New Roman" panose="02020603050405020304" pitchFamily="18" charset="0"/>
                        </a:rPr>
                        <a:t>0.007251</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0.000305</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0.006946</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8.572</a:t>
                      </a:r>
                      <a:endParaRPr lang="en-US" sz="2000" b="0" i="0" u="none" strike="noStrike">
                        <a:solidFill>
                          <a:srgbClr val="333333"/>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5185.4</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extLst>
                  <a:ext uri="{0D108BD9-81ED-4DB2-BD59-A6C34878D82A}">
                    <a16:rowId xmlns:a16="http://schemas.microsoft.com/office/drawing/2014/main" val="2494201925"/>
                  </a:ext>
                </a:extLst>
              </a:tr>
              <a:tr h="276791">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2</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fontAlgn="ctr"/>
                      <a:r>
                        <a:rPr lang="en-US" sz="2000" u="none" strike="noStrike" dirty="0">
                          <a:effectLst/>
                          <a:latin typeface="Times New Roman" panose="02020603050405020304" pitchFamily="18" charset="0"/>
                          <a:cs typeface="Times New Roman" panose="02020603050405020304" pitchFamily="18" charset="0"/>
                        </a:rPr>
                        <a:t>0.007158</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fontAlgn="ctr"/>
                      <a:r>
                        <a:rPr lang="en-US" sz="2000" u="none" strike="noStrike" dirty="0">
                          <a:effectLst/>
                          <a:latin typeface="Times New Roman" panose="02020603050405020304" pitchFamily="18" charset="0"/>
                          <a:cs typeface="Times New Roman" panose="02020603050405020304" pitchFamily="18" charset="0"/>
                        </a:rPr>
                        <a:t>0.000458</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0.0067</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8.001</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3666.3</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extLst>
                  <a:ext uri="{0D108BD9-81ED-4DB2-BD59-A6C34878D82A}">
                    <a16:rowId xmlns:a16="http://schemas.microsoft.com/office/drawing/2014/main" val="788400083"/>
                  </a:ext>
                </a:extLst>
              </a:tr>
              <a:tr h="276791">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3</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0.006138</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fontAlgn="ctr"/>
                      <a:r>
                        <a:rPr lang="en-US" sz="2000" u="none" strike="noStrike" dirty="0">
                          <a:effectLst/>
                          <a:latin typeface="Times New Roman" panose="02020603050405020304" pitchFamily="18" charset="0"/>
                          <a:cs typeface="Times New Roman" panose="02020603050405020304" pitchFamily="18" charset="0"/>
                        </a:rPr>
                        <a:t>0.000611</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fontAlgn="ctr"/>
                      <a:r>
                        <a:rPr lang="en-US" sz="2000" u="none" strike="noStrike" dirty="0">
                          <a:effectLst/>
                          <a:latin typeface="Times New Roman" panose="02020603050405020304" pitchFamily="18" charset="0"/>
                          <a:cs typeface="Times New Roman" panose="02020603050405020304" pitchFamily="18" charset="0"/>
                        </a:rPr>
                        <a:t>0.005527</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5.291</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3769.975</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extLst>
                  <a:ext uri="{0D108BD9-81ED-4DB2-BD59-A6C34878D82A}">
                    <a16:rowId xmlns:a16="http://schemas.microsoft.com/office/drawing/2014/main" val="1507312042"/>
                  </a:ext>
                </a:extLst>
              </a:tr>
              <a:tr h="347496">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4</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0.00606</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0.000764</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fontAlgn="ctr"/>
                      <a:r>
                        <a:rPr lang="en-US" sz="2000" u="none" strike="noStrike" dirty="0">
                          <a:effectLst/>
                          <a:latin typeface="Times New Roman" panose="02020603050405020304" pitchFamily="18" charset="0"/>
                          <a:cs typeface="Times New Roman" panose="02020603050405020304" pitchFamily="18" charset="0"/>
                        </a:rPr>
                        <a:t>0.005296</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fontAlgn="ctr"/>
                      <a:r>
                        <a:rPr lang="en-US" sz="2000" u="none" strike="noStrike" dirty="0">
                          <a:effectLst/>
                          <a:latin typeface="Times New Roman" panose="02020603050405020304" pitchFamily="18" charset="0"/>
                          <a:cs typeface="Times New Roman" panose="02020603050405020304" pitchFamily="18" charset="0"/>
                        </a:rPr>
                        <a:t>4.682</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3149.96</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extLst>
                  <a:ext uri="{0D108BD9-81ED-4DB2-BD59-A6C34878D82A}">
                    <a16:rowId xmlns:a16="http://schemas.microsoft.com/office/drawing/2014/main" val="2489369790"/>
                  </a:ext>
                </a:extLst>
              </a:tr>
              <a:tr h="276791">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5</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0.005252</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0.000916</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0.004335</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fontAlgn="ctr"/>
                      <a:r>
                        <a:rPr lang="en-US" sz="2000" u="none" strike="noStrike" dirty="0">
                          <a:effectLst/>
                          <a:latin typeface="Times New Roman" panose="02020603050405020304" pitchFamily="18" charset="0"/>
                          <a:cs typeface="Times New Roman" panose="02020603050405020304" pitchFamily="18" charset="0"/>
                        </a:rPr>
                        <a:t>1.871</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fontAlgn="ctr"/>
                      <a:r>
                        <a:rPr lang="en-US" sz="2000" u="none" strike="noStrike" dirty="0">
                          <a:effectLst/>
                          <a:latin typeface="Times New Roman" panose="02020603050405020304" pitchFamily="18" charset="0"/>
                          <a:cs typeface="Times New Roman" panose="02020603050405020304" pitchFamily="18" charset="0"/>
                        </a:rPr>
                        <a:t>3415.317</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extLst>
                  <a:ext uri="{0D108BD9-81ED-4DB2-BD59-A6C34878D82A}">
                    <a16:rowId xmlns:a16="http://schemas.microsoft.com/office/drawing/2014/main" val="2198567195"/>
                  </a:ext>
                </a:extLst>
              </a:tr>
              <a:tr h="276791">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6</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0.005182</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0.001069</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0.004113</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fontAlgn="ctr"/>
                      <a:r>
                        <a:rPr lang="en-US" sz="2000" u="none" strike="noStrike" dirty="0">
                          <a:effectLst/>
                          <a:latin typeface="Times New Roman" panose="02020603050405020304" pitchFamily="18" charset="0"/>
                          <a:cs typeface="Times New Roman" panose="02020603050405020304" pitchFamily="18" charset="0"/>
                        </a:rPr>
                        <a:t>1.142</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fontAlgn="ctr"/>
                      <a:r>
                        <a:rPr lang="en-US" sz="2000" u="none" strike="noStrike" dirty="0">
                          <a:effectLst/>
                          <a:latin typeface="Times New Roman" panose="02020603050405020304" pitchFamily="18" charset="0"/>
                          <a:cs typeface="Times New Roman" panose="02020603050405020304" pitchFamily="18" charset="0"/>
                        </a:rPr>
                        <a:t>3041.971</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extLst>
                  <a:ext uri="{0D108BD9-81ED-4DB2-BD59-A6C34878D82A}">
                    <a16:rowId xmlns:a16="http://schemas.microsoft.com/office/drawing/2014/main" val="464706514"/>
                  </a:ext>
                </a:extLst>
              </a:tr>
            </a:tbl>
          </a:graphicData>
        </a:graphic>
      </p:graphicFrame>
    </p:spTree>
    <p:extLst>
      <p:ext uri="{BB962C8B-B14F-4D97-AF65-F5344CB8AC3E}">
        <p14:creationId xmlns:p14="http://schemas.microsoft.com/office/powerpoint/2010/main" val="31078778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79349310-A10B-BB8E-B0DD-1D5B77CD5B69}"/>
                  </a:ext>
                </a:extLst>
              </p:cNvPr>
              <p:cNvSpPr txBox="1"/>
              <p:nvPr/>
            </p:nvSpPr>
            <p:spPr>
              <a:xfrm>
                <a:off x="1717040" y="447675"/>
                <a:ext cx="9509760" cy="3959289"/>
              </a:xfrm>
              <a:prstGeom prst="rect">
                <a:avLst/>
              </a:prstGeom>
              <a:noFill/>
            </p:spPr>
            <p:txBody>
              <a:bodyPr wrap="square" rtlCol="0">
                <a:spAutoFit/>
              </a:bodyPr>
              <a:lstStyle/>
              <a:p>
                <a:r>
                  <a:rPr lang="en-US" sz="2000" dirty="0">
                    <a:latin typeface="Times New Roman" panose="02020603050405020304" pitchFamily="18" charset="0"/>
                    <a:ea typeface="Calibri" panose="020F0502020204030204" pitchFamily="34" charset="0"/>
                    <a:cs typeface="Times New Roman" panose="02020603050405020304" pitchFamily="18" charset="0"/>
                  </a:rPr>
                  <a:t>T</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he mass of water condensate can be </a:t>
                </a:r>
                <a:r>
                  <a:rPr lang="en-US" sz="2000" dirty="0">
                    <a:latin typeface="Times New Roman" panose="02020603050405020304" pitchFamily="18" charset="0"/>
                    <a:ea typeface="Calibri" panose="020F0502020204030204" pitchFamily="34" charset="0"/>
                    <a:cs typeface="Times New Roman" panose="02020603050405020304" pitchFamily="18" charset="0"/>
                  </a:rPr>
                  <a:t>calculated </a:t>
                </a:r>
                <a:r>
                  <a:rPr lang="en-US" sz="2000" dirty="0">
                    <a:effectLst/>
                    <a:latin typeface="Times New Roman" panose="02020603050405020304" pitchFamily="18" charset="0"/>
                    <a:ea typeface="Calibri" panose="020F0502020204030204" pitchFamily="34" charset="0"/>
                    <a:cs typeface="Times New Roman" panose="02020603050405020304" pitchFamily="18" charset="0"/>
                  </a:rPr>
                  <a:t>by applying mass balance for water:</a:t>
                </a:r>
              </a:p>
              <a:p>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sSub>
                        <m:sSubPr>
                          <m:ctrlPr>
                            <a:rPr lang="en-US" sz="2000" i="1" smtClean="0">
                              <a:effectLst/>
                              <a:latin typeface="Cambria Math" panose="02040503050406030204" pitchFamily="18" charset="0"/>
                              <a:ea typeface="Calibri" panose="020F0502020204030204" pitchFamily="34" charset="0"/>
                              <a:cs typeface="Times New Roman" panose="02020603050405020304" pitchFamily="18" charset="0"/>
                            </a:rPr>
                          </m:ctrlPr>
                        </m:sSubPr>
                        <m:e>
                          <m:acc>
                            <m:accPr>
                              <m:chr m:val="̇"/>
                              <m:ctrlPr>
                                <a:rPr lang="en-US" sz="2000" i="1">
                                  <a:effectLst/>
                                  <a:latin typeface="Cambria Math" panose="02040503050406030204" pitchFamily="18" charset="0"/>
                                  <a:ea typeface="Calibri" panose="020F0502020204030204" pitchFamily="34" charset="0"/>
                                  <a:cs typeface="Times New Roman" panose="02020603050405020304" pitchFamily="18" charset="0"/>
                                </a:rPr>
                              </m:ctrlPr>
                            </m:accPr>
                            <m:e>
                              <m:r>
                                <a:rPr lang="en-US" sz="2000" i="1">
                                  <a:effectLst/>
                                  <a:latin typeface="Cambria Math" panose="02040503050406030204" pitchFamily="18" charset="0"/>
                                  <a:ea typeface="Calibri" panose="020F0502020204030204" pitchFamily="34" charset="0"/>
                                  <a:cs typeface="Times New Roman" panose="02020603050405020304" pitchFamily="18" charset="0"/>
                                </a:rPr>
                                <m:t>𝑚</m:t>
                              </m:r>
                            </m:e>
                          </m:acc>
                        </m:e>
                        <m:sub>
                          <m:r>
                            <a:rPr lang="en-US" sz="2000" i="1">
                              <a:effectLst/>
                              <a:latin typeface="Cambria Math" panose="02040503050406030204" pitchFamily="18" charset="0"/>
                              <a:ea typeface="Calibri" panose="020F0502020204030204" pitchFamily="34" charset="0"/>
                              <a:cs typeface="Times New Roman" panose="02020603050405020304" pitchFamily="18" charset="0"/>
                            </a:rPr>
                            <m:t>𝑐𝑜𝑛𝑑𝑒𝑛𝑠𝑎𝑡𝑒</m:t>
                          </m:r>
                        </m:sub>
                      </m:sSub>
                      <m:r>
                        <a:rPr lang="en-US" sz="20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2000" i="1">
                              <a:effectLst/>
                              <a:latin typeface="Cambria Math" panose="02040503050406030204" pitchFamily="18" charset="0"/>
                              <a:ea typeface="Times New Roman" panose="02020603050405020304" pitchFamily="18" charset="0"/>
                              <a:cs typeface="Times New Roman" panose="02020603050405020304" pitchFamily="18" charset="0"/>
                            </a:rPr>
                          </m:ctrlPr>
                        </m:sSubPr>
                        <m:e>
                          <m:acc>
                            <m:accPr>
                              <m:chr m:val="̇"/>
                              <m:ctrlPr>
                                <a:rPr lang="en-US" sz="2000" i="1">
                                  <a:effectLst/>
                                  <a:latin typeface="Cambria Math" panose="02040503050406030204" pitchFamily="18" charset="0"/>
                                  <a:ea typeface="Calibri" panose="020F0502020204030204" pitchFamily="34" charset="0"/>
                                  <a:cs typeface="Times New Roman" panose="02020603050405020304" pitchFamily="18" charset="0"/>
                                </a:rPr>
                              </m:ctrlPr>
                            </m:accPr>
                            <m:e>
                              <m:r>
                                <a:rPr lang="en-US" sz="2000" i="1">
                                  <a:effectLst/>
                                  <a:latin typeface="Cambria Math" panose="02040503050406030204" pitchFamily="18" charset="0"/>
                                  <a:ea typeface="Calibri" panose="020F0502020204030204" pitchFamily="34" charset="0"/>
                                  <a:cs typeface="Times New Roman" panose="02020603050405020304" pitchFamily="18" charset="0"/>
                                </a:rPr>
                                <m:t>𝑚</m:t>
                              </m:r>
                            </m:e>
                          </m:acc>
                        </m:e>
                        <m:sub>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𝐹𝐴</m:t>
                          </m:r>
                        </m:sub>
                      </m:sSub>
                      <m:d>
                        <m:dPr>
                          <m:ctrlPr>
                            <a:rPr lang="en-US" sz="2000" i="1">
                              <a:effectLst/>
                              <a:latin typeface="Cambria Math" panose="02040503050406030204" pitchFamily="18" charset="0"/>
                              <a:ea typeface="Times New Roman" panose="02020603050405020304" pitchFamily="18" charset="0"/>
                              <a:cs typeface="Times New Roman" panose="02020603050405020304" pitchFamily="18" charset="0"/>
                            </a:rPr>
                          </m:ctrlPr>
                        </m:dPr>
                        <m:e>
                          <m:sSub>
                            <m:sSubPr>
                              <m:ctrlPr>
                                <a:rPr lang="en-US" sz="20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𝑊</m:t>
                              </m:r>
                            </m:e>
                            <m:sub>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𝐹𝐴</m:t>
                              </m:r>
                            </m:sub>
                          </m:sSub>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20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𝑊</m:t>
                              </m:r>
                            </m:e>
                            <m:sub>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𝑅</m:t>
                              </m:r>
                            </m:sub>
                          </m:sSub>
                        </m:e>
                      </m:d>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2000" i="1">
                              <a:effectLst/>
                              <a:latin typeface="Cambria Math" panose="02040503050406030204" pitchFamily="18" charset="0"/>
                              <a:ea typeface="Calibri" panose="020F0502020204030204" pitchFamily="34" charset="0"/>
                              <a:cs typeface="Times New Roman" panose="02020603050405020304" pitchFamily="18" charset="0"/>
                            </a:rPr>
                          </m:ctrlPr>
                        </m:sSubPr>
                        <m:e>
                          <m:acc>
                            <m:accPr>
                              <m:chr m:val="̇"/>
                              <m:ctrlPr>
                                <a:rPr lang="en-US" sz="2000" i="1">
                                  <a:effectLst/>
                                  <a:latin typeface="Cambria Math" panose="02040503050406030204" pitchFamily="18" charset="0"/>
                                  <a:ea typeface="Calibri" panose="020F0502020204030204" pitchFamily="34" charset="0"/>
                                  <a:cs typeface="Times New Roman" panose="02020603050405020304" pitchFamily="18" charset="0"/>
                                </a:rPr>
                              </m:ctrlPr>
                            </m:accPr>
                            <m:e>
                              <m:r>
                                <a:rPr lang="en-US" sz="2000" i="1">
                                  <a:effectLst/>
                                  <a:latin typeface="Cambria Math" panose="02040503050406030204" pitchFamily="18" charset="0"/>
                                  <a:ea typeface="Calibri" panose="020F0502020204030204" pitchFamily="34" charset="0"/>
                                  <a:cs typeface="Times New Roman" panose="02020603050405020304" pitchFamily="18" charset="0"/>
                                </a:rPr>
                                <m:t>𝑚</m:t>
                              </m:r>
                            </m:e>
                          </m:acc>
                        </m:e>
                        <m:sub>
                          <m:r>
                            <a:rPr lang="en-US" sz="2000" i="1">
                              <a:effectLst/>
                              <a:latin typeface="Cambria Math" panose="02040503050406030204" pitchFamily="18" charset="0"/>
                              <a:ea typeface="Calibri" panose="020F0502020204030204" pitchFamily="34" charset="0"/>
                              <a:cs typeface="Times New Roman" panose="02020603050405020304" pitchFamily="18" charset="0"/>
                            </a:rPr>
                            <m:t>𝑣</m:t>
                          </m:r>
                        </m:sub>
                      </m:sSub>
                    </m:oMath>
                  </m:oMathPara>
                </a14:m>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p>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Where:</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 </a:t>
                </a:r>
                <a14:m>
                  <m:oMath xmlns:m="http://schemas.openxmlformats.org/officeDocument/2006/math">
                    <m:sSub>
                      <m:sSubPr>
                        <m:ctrlPr>
                          <a:rPr lang="en-US" sz="2000" i="1" smtClean="0">
                            <a:effectLst/>
                            <a:latin typeface="Cambria Math" panose="02040503050406030204" pitchFamily="18" charset="0"/>
                            <a:ea typeface="Times New Roman" panose="02020603050405020304" pitchFamily="18" charset="0"/>
                            <a:cs typeface="Times New Roman" panose="02020603050405020304" pitchFamily="18" charset="0"/>
                          </a:rPr>
                        </m:ctrlPr>
                      </m:sSubPr>
                      <m:e>
                        <m:acc>
                          <m:accPr>
                            <m:chr m:val="̇"/>
                            <m:ctrlPr>
                              <a:rPr lang="en-US" sz="2000" i="1">
                                <a:effectLst/>
                                <a:latin typeface="Cambria Math" panose="02040503050406030204" pitchFamily="18" charset="0"/>
                                <a:ea typeface="Calibri" panose="020F0502020204030204" pitchFamily="34" charset="0"/>
                                <a:cs typeface="Times New Roman" panose="02020603050405020304" pitchFamily="18" charset="0"/>
                              </a:rPr>
                            </m:ctrlPr>
                          </m:accPr>
                          <m:e>
                            <m:r>
                              <a:rPr lang="en-US" sz="2000" i="1">
                                <a:effectLst/>
                                <a:latin typeface="Cambria Math" panose="02040503050406030204" pitchFamily="18" charset="0"/>
                                <a:ea typeface="Calibri" panose="020F0502020204030204" pitchFamily="34" charset="0"/>
                                <a:cs typeface="Times New Roman" panose="02020603050405020304" pitchFamily="18" charset="0"/>
                              </a:rPr>
                              <m:t>𝑚</m:t>
                            </m:r>
                          </m:e>
                        </m:acc>
                      </m:e>
                      <m:sub>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𝐹𝐴</m:t>
                        </m:r>
                      </m:sub>
                    </m:sSub>
                    <m:r>
                      <a:rPr lang="en-US" sz="2000" b="0" i="0" smtClean="0">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2000" i="1">
                            <a:latin typeface="Cambria Math" panose="02040503050406030204" pitchFamily="18" charset="0"/>
                            <a:ea typeface="Times New Roman" panose="02020603050405020304" pitchFamily="18" charset="0"/>
                            <a:cs typeface="Times New Roman" panose="02020603050405020304" pitchFamily="18" charset="0"/>
                          </a:rPr>
                        </m:ctrlPr>
                      </m:sSubPr>
                      <m:e>
                        <m:acc>
                          <m:accPr>
                            <m:chr m:val="̇"/>
                            <m:ctrlPr>
                              <a:rPr lang="en-US" sz="2000" i="1">
                                <a:latin typeface="Cambria Math" panose="02040503050406030204" pitchFamily="18" charset="0"/>
                                <a:ea typeface="Calibri" panose="020F0502020204030204" pitchFamily="34" charset="0"/>
                                <a:cs typeface="Times New Roman" panose="02020603050405020304" pitchFamily="18" charset="0"/>
                              </a:rPr>
                            </m:ctrlPr>
                          </m:accPr>
                          <m:e>
                            <m:r>
                              <a:rPr lang="en-US" sz="2000" i="1">
                                <a:latin typeface="Cambria Math" panose="02040503050406030204" pitchFamily="18" charset="0"/>
                                <a:ea typeface="Calibri" panose="020F0502020204030204" pitchFamily="34" charset="0"/>
                                <a:cs typeface="Times New Roman" panose="02020603050405020304" pitchFamily="18" charset="0"/>
                              </a:rPr>
                              <m:t>𝑚</m:t>
                            </m:r>
                          </m:e>
                        </m:acc>
                      </m:e>
                      <m:sub>
                        <m:r>
                          <a:rPr lang="en-US" sz="2000" b="0" i="1" smtClean="0">
                            <a:latin typeface="Cambria Math" panose="02040503050406030204" pitchFamily="18" charset="0"/>
                            <a:ea typeface="Calibri" panose="020F0502020204030204" pitchFamily="34" charset="0"/>
                            <a:cs typeface="Times New Roman" panose="02020603050405020304" pitchFamily="18" charset="0"/>
                          </a:rPr>
                          <m:t>𝑠</m:t>
                        </m:r>
                      </m:sub>
                    </m:sSub>
                  </m:oMath>
                </a14:m>
                <a:endParaRPr lang="en-US" sz="2000" dirty="0">
                  <a:latin typeface="Times New Roman" panose="02020603050405020304" pitchFamily="18" charset="0"/>
                  <a:ea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14:m>
                  <m:oMath xmlns:m="http://schemas.openxmlformats.org/officeDocument/2006/math">
                    <m:sSub>
                      <m:sSubPr>
                        <m:ctrlPr>
                          <a:rPr lang="en-US" sz="2000" i="1" smtClea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𝑊</m:t>
                        </m:r>
                      </m:e>
                      <m:sub>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𝐹𝐴</m:t>
                        </m:r>
                      </m:sub>
                    </m:sSub>
                  </m:oMath>
                </a14:m>
                <a:r>
                  <a:rPr lang="en-US" sz="2000" dirty="0">
                    <a:latin typeface="Times New Roman" panose="02020603050405020304" pitchFamily="18" charset="0"/>
                    <a:ea typeface="Times New Roman" panose="02020603050405020304" pitchFamily="18" charset="0"/>
                    <a:cs typeface="Times New Roman" panose="02020603050405020304" pitchFamily="18" charset="0"/>
                  </a:rPr>
                  <a:t> is </a:t>
                </a:r>
                <a:r>
                  <a:rPr lang="en-US" sz="2000" dirty="0">
                    <a:latin typeface="Times New Roman" panose="02020603050405020304" pitchFamily="18" charset="0"/>
                    <a:cs typeface="Times New Roman" panose="02020603050405020304" pitchFamily="18" charset="0"/>
                  </a:rPr>
                  <a:t>he highest ambient humidity at peak load is </a:t>
                </a:r>
                <a14:m>
                  <m:oMath xmlns:m="http://schemas.openxmlformats.org/officeDocument/2006/math">
                    <m:r>
                      <a:rPr lang="en-US" sz="2000" i="1">
                        <a:latin typeface="Cambria Math" panose="02040503050406030204" pitchFamily="18" charset="0"/>
                      </a:rPr>
                      <m:t>0.01622 </m:t>
                    </m:r>
                    <m:f>
                      <m:fPr>
                        <m:ctrlPr>
                          <a:rPr lang="en-US" sz="2000" i="1">
                            <a:latin typeface="Cambria Math" panose="02040503050406030204" pitchFamily="18" charset="0"/>
                          </a:rPr>
                        </m:ctrlPr>
                      </m:fPr>
                      <m:num>
                        <m:r>
                          <a:rPr lang="en-US" sz="2000" i="1">
                            <a:latin typeface="Cambria Math" panose="02040503050406030204" pitchFamily="18" charset="0"/>
                          </a:rPr>
                          <m:t>𝑘𝑔</m:t>
                        </m:r>
                        <m:r>
                          <a:rPr lang="en-US" sz="2000" i="1">
                            <a:latin typeface="Cambria Math" panose="02040503050406030204" pitchFamily="18" charset="0"/>
                          </a:rPr>
                          <m:t> </m:t>
                        </m:r>
                        <m:r>
                          <a:rPr lang="en-US" sz="2000" i="1">
                            <a:latin typeface="Cambria Math" panose="02040503050406030204" pitchFamily="18" charset="0"/>
                          </a:rPr>
                          <m:t>𝑜𝑓</m:t>
                        </m:r>
                        <m:r>
                          <a:rPr lang="en-US" sz="2000" i="1">
                            <a:latin typeface="Cambria Math" panose="02040503050406030204" pitchFamily="18" charset="0"/>
                          </a:rPr>
                          <m:t> </m:t>
                        </m:r>
                        <m:r>
                          <a:rPr lang="en-US" sz="2000" i="1">
                            <a:latin typeface="Cambria Math" panose="02040503050406030204" pitchFamily="18" charset="0"/>
                          </a:rPr>
                          <m:t>𝐻</m:t>
                        </m:r>
                        <m:r>
                          <a:rPr lang="en-US" sz="2000" i="1">
                            <a:latin typeface="Cambria Math" panose="02040503050406030204" pitchFamily="18" charset="0"/>
                          </a:rPr>
                          <m:t>2</m:t>
                        </m:r>
                        <m:r>
                          <a:rPr lang="en-US" sz="2000" i="1">
                            <a:latin typeface="Cambria Math" panose="02040503050406030204" pitchFamily="18" charset="0"/>
                          </a:rPr>
                          <m:t>𝑂</m:t>
                        </m:r>
                      </m:num>
                      <m:den>
                        <m:r>
                          <a:rPr lang="en-US" sz="2000" i="1">
                            <a:latin typeface="Cambria Math" panose="02040503050406030204" pitchFamily="18" charset="0"/>
                          </a:rPr>
                          <m:t>𝑘𝑔</m:t>
                        </m:r>
                        <m:r>
                          <a:rPr lang="en-US" sz="2000" i="1">
                            <a:latin typeface="Cambria Math" panose="02040503050406030204" pitchFamily="18" charset="0"/>
                          </a:rPr>
                          <m:t> </m:t>
                        </m:r>
                        <m:r>
                          <a:rPr lang="en-US" sz="2000" i="1">
                            <a:latin typeface="Cambria Math" panose="02040503050406030204" pitchFamily="18" charset="0"/>
                          </a:rPr>
                          <m:t>𝑜𝑓</m:t>
                        </m:r>
                        <m:r>
                          <a:rPr lang="en-US" sz="2000" i="1">
                            <a:latin typeface="Cambria Math" panose="02040503050406030204" pitchFamily="18" charset="0"/>
                          </a:rPr>
                          <m:t> </m:t>
                        </m:r>
                        <m:r>
                          <a:rPr lang="en-US" sz="2000" i="1">
                            <a:latin typeface="Cambria Math" panose="02040503050406030204" pitchFamily="18" charset="0"/>
                          </a:rPr>
                          <m:t>𝑎𝑖𝑟</m:t>
                        </m:r>
                      </m:den>
                    </m:f>
                  </m:oMath>
                </a14:m>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14:m>
                  <m:oMath xmlns:m="http://schemas.openxmlformats.org/officeDocument/2006/math">
                    <m:sSub>
                      <m:sSubPr>
                        <m:ctrlPr>
                          <a:rPr lang="en-US" sz="2000" i="1" smtClea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𝑊</m:t>
                        </m:r>
                      </m:e>
                      <m:sub>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𝑅</m:t>
                        </m:r>
                      </m:sub>
                    </m:sSub>
                  </m:oMath>
                </a14:m>
                <a:r>
                  <a:rPr lang="en-US" sz="2000" dirty="0">
                    <a:latin typeface="Times New Roman" panose="02020603050405020304" pitchFamily="18" charset="0"/>
                    <a:cs typeface="Times New Roman" panose="02020603050405020304" pitchFamily="18" charset="0"/>
                  </a:rPr>
                  <a:t> is </a:t>
                </a:r>
                <a:r>
                  <a:rPr lang="en-US" sz="2000" dirty="0" err="1">
                    <a:latin typeface="Times New Roman" panose="02020603050405020304" pitchFamily="18" charset="0"/>
                    <a:cs typeface="Times New Roman" panose="02020603050405020304" pitchFamily="18" charset="0"/>
                  </a:rPr>
                  <a:t>wa</a:t>
                </a:r>
                <a:r>
                  <a:rPr lang="en-US" sz="2000" dirty="0">
                    <a:latin typeface="Times New Roman" panose="02020603050405020304" pitchFamily="18" charset="0"/>
                    <a:cs typeface="Times New Roman" panose="02020603050405020304" pitchFamily="18" charset="0"/>
                  </a:rPr>
                  <a:t>, max</a:t>
                </a:r>
              </a:p>
              <a:p>
                <a:pPr marL="342900" indent="-342900">
                  <a:buFont typeface="Arial" panose="020B0604020202020204" pitchFamily="34" charset="0"/>
                  <a:buChar char="•"/>
                </a:pPr>
                <a14:m>
                  <m:oMath xmlns:m="http://schemas.openxmlformats.org/officeDocument/2006/math">
                    <m:sSub>
                      <m:sSubPr>
                        <m:ctrlPr>
                          <a:rPr lang="en-US" sz="2000" i="1" smtClean="0">
                            <a:effectLst/>
                            <a:latin typeface="Cambria Math" panose="02040503050406030204" pitchFamily="18" charset="0"/>
                            <a:ea typeface="Calibri" panose="020F0502020204030204" pitchFamily="34" charset="0"/>
                            <a:cs typeface="Times New Roman" panose="02020603050405020304" pitchFamily="18" charset="0"/>
                          </a:rPr>
                        </m:ctrlPr>
                      </m:sSubPr>
                      <m:e>
                        <m:acc>
                          <m:accPr>
                            <m:chr m:val="̇"/>
                            <m:ctrlPr>
                              <a:rPr lang="en-US" sz="2000" i="1">
                                <a:effectLst/>
                                <a:latin typeface="Cambria Math" panose="02040503050406030204" pitchFamily="18" charset="0"/>
                                <a:ea typeface="Calibri" panose="020F0502020204030204" pitchFamily="34" charset="0"/>
                                <a:cs typeface="Times New Roman" panose="02020603050405020304" pitchFamily="18" charset="0"/>
                              </a:rPr>
                            </m:ctrlPr>
                          </m:accPr>
                          <m:e>
                            <m:r>
                              <a:rPr lang="en-US" sz="2000" i="1">
                                <a:effectLst/>
                                <a:latin typeface="Cambria Math" panose="02040503050406030204" pitchFamily="18" charset="0"/>
                                <a:ea typeface="Calibri" panose="020F0502020204030204" pitchFamily="34" charset="0"/>
                                <a:cs typeface="Times New Roman" panose="02020603050405020304" pitchFamily="18" charset="0"/>
                              </a:rPr>
                              <m:t>𝑚</m:t>
                            </m:r>
                          </m:e>
                        </m:acc>
                      </m:e>
                      <m:sub>
                        <m:r>
                          <a:rPr lang="en-US" sz="2000" i="1">
                            <a:effectLst/>
                            <a:latin typeface="Cambria Math" panose="02040503050406030204" pitchFamily="18" charset="0"/>
                            <a:ea typeface="Calibri" panose="020F0502020204030204" pitchFamily="34" charset="0"/>
                            <a:cs typeface="Times New Roman" panose="02020603050405020304" pitchFamily="18" charset="0"/>
                          </a:rPr>
                          <m:t>𝑣</m:t>
                        </m:r>
                      </m:sub>
                    </m:sSub>
                  </m:oMath>
                </a14:m>
                <a:r>
                  <a:rPr lang="en-US" sz="2000" dirty="0">
                    <a:latin typeface="Times New Roman" panose="02020603050405020304" pitchFamily="18" charset="0"/>
                    <a:cs typeface="Times New Roman" panose="02020603050405020304" pitchFamily="18" charset="0"/>
                  </a:rPr>
                  <a:t>=</a:t>
                </a:r>
                <a:r>
                  <a:rPr lang="en-US" sz="2000" dirty="0">
                    <a:ea typeface="Times New Roman" panose="02020603050405020304" pitchFamily="18" charset="0"/>
                    <a:cs typeface="Times New Roman" panose="02020603050405020304" pitchFamily="18" charset="0"/>
                  </a:rPr>
                  <a:t> </a:t>
                </a:r>
                <a14:m>
                  <m:oMath xmlns:m="http://schemas.openxmlformats.org/officeDocument/2006/math">
                    <m:sSub>
                      <m:sSubPr>
                        <m:ctrlPr>
                          <a:rPr lang="en-US" sz="2000" i="1">
                            <a:latin typeface="Cambria Math" panose="02040503050406030204" pitchFamily="18" charset="0"/>
                            <a:ea typeface="Times New Roman" panose="02020603050405020304" pitchFamily="18" charset="0"/>
                            <a:cs typeface="Times New Roman" panose="02020603050405020304" pitchFamily="18" charset="0"/>
                          </a:rPr>
                        </m:ctrlPr>
                      </m:sSubPr>
                      <m:e>
                        <m:r>
                          <a:rPr lang="en-US" sz="2000" i="1">
                            <a:latin typeface="Cambria Math" panose="02040503050406030204" pitchFamily="18" charset="0"/>
                            <a:ea typeface="Times New Roman" panose="02020603050405020304" pitchFamily="18" charset="0"/>
                            <a:cs typeface="Times New Roman" panose="02020603050405020304" pitchFamily="18" charset="0"/>
                          </a:rPr>
                          <m:t>𝑊</m:t>
                        </m:r>
                      </m:e>
                      <m:sub>
                        <m:r>
                          <a:rPr lang="en-US" sz="2000" b="0" i="1" smtClean="0">
                            <a:latin typeface="Cambria Math" panose="02040503050406030204" pitchFamily="18" charset="0"/>
                            <a:ea typeface="Times New Roman" panose="02020603050405020304" pitchFamily="18" charset="0"/>
                            <a:cs typeface="Times New Roman" panose="02020603050405020304" pitchFamily="18" charset="0"/>
                          </a:rPr>
                          <m:t>𝑣</m:t>
                        </m:r>
                      </m:sub>
                    </m:sSub>
                    <m:r>
                      <a:rPr lang="en-US" sz="2000" b="0" i="1" smtClean="0">
                        <a:latin typeface="Cambria Math" panose="02040503050406030204" pitchFamily="18" charset="0"/>
                        <a:ea typeface="Times New Roman" panose="02020603050405020304" pitchFamily="18" charset="0"/>
                        <a:cs typeface="Times New Roman" panose="02020603050405020304" pitchFamily="18" charset="0"/>
                      </a:rPr>
                      <m:t>∗</m:t>
                    </m:r>
                  </m:oMath>
                </a14:m>
                <a:r>
                  <a:rPr lang="en-US" sz="2000" dirty="0">
                    <a:ea typeface="Times New Roman" panose="02020603050405020304" pitchFamily="18" charset="0"/>
                    <a:cs typeface="Times New Roman" panose="02020603050405020304" pitchFamily="18" charset="0"/>
                  </a:rPr>
                  <a:t> </a:t>
                </a:r>
                <a14:m>
                  <m:oMath xmlns:m="http://schemas.openxmlformats.org/officeDocument/2006/math">
                    <m:sSub>
                      <m:sSubPr>
                        <m:ctrlPr>
                          <a:rPr lang="en-US" sz="2000" i="1">
                            <a:latin typeface="Cambria Math" panose="02040503050406030204" pitchFamily="18" charset="0"/>
                            <a:ea typeface="Times New Roman" panose="02020603050405020304" pitchFamily="18" charset="0"/>
                            <a:cs typeface="Times New Roman" panose="02020603050405020304" pitchFamily="18" charset="0"/>
                          </a:rPr>
                        </m:ctrlPr>
                      </m:sSubPr>
                      <m:e>
                        <m:acc>
                          <m:accPr>
                            <m:chr m:val="̇"/>
                            <m:ctrlPr>
                              <a:rPr lang="en-US" sz="2000" i="1">
                                <a:latin typeface="Cambria Math" panose="02040503050406030204" pitchFamily="18" charset="0"/>
                                <a:ea typeface="Calibri" panose="020F0502020204030204" pitchFamily="34" charset="0"/>
                                <a:cs typeface="Times New Roman" panose="02020603050405020304" pitchFamily="18" charset="0"/>
                              </a:rPr>
                            </m:ctrlPr>
                          </m:accPr>
                          <m:e>
                            <m:r>
                              <a:rPr lang="en-US" sz="2000" i="1">
                                <a:latin typeface="Cambria Math" panose="02040503050406030204" pitchFamily="18" charset="0"/>
                                <a:ea typeface="Calibri" panose="020F0502020204030204" pitchFamily="34" charset="0"/>
                                <a:cs typeface="Times New Roman" panose="02020603050405020304" pitchFamily="18" charset="0"/>
                              </a:rPr>
                              <m:t>𝑚</m:t>
                            </m:r>
                          </m:e>
                        </m:acc>
                      </m:e>
                      <m:sub>
                        <m:r>
                          <a:rPr lang="en-US" sz="2000" i="1">
                            <a:latin typeface="Cambria Math" panose="02040503050406030204" pitchFamily="18" charset="0"/>
                            <a:ea typeface="Calibri" panose="020F0502020204030204" pitchFamily="34" charset="0"/>
                            <a:cs typeface="Times New Roman" panose="02020603050405020304" pitchFamily="18" charset="0"/>
                          </a:rPr>
                          <m:t>𝑠</m:t>
                        </m:r>
                      </m:sub>
                    </m:sSub>
                  </m:oMath>
                </a14:m>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pPr>
                <a:endParaRPr lang="en-US" sz="2000" dirty="0">
                  <a:latin typeface="Times New Roman" panose="02020603050405020304" pitchFamily="18" charset="0"/>
                  <a:cs typeface="Times New Roman" panose="02020603050405020304" pitchFamily="18" charset="0"/>
                </a:endParaRPr>
              </a:p>
            </p:txBody>
          </p:sp>
        </mc:Choice>
        <mc:Fallback xmlns="">
          <p:sp>
            <p:nvSpPr>
              <p:cNvPr id="2" name="TextBox 1">
                <a:extLst>
                  <a:ext uri="{FF2B5EF4-FFF2-40B4-BE49-F238E27FC236}">
                    <a16:creationId xmlns:a16="http://schemas.microsoft.com/office/drawing/2014/main" id="{79349310-A10B-BB8E-B0DD-1D5B77CD5B69}"/>
                  </a:ext>
                </a:extLst>
              </p:cNvPr>
              <p:cNvSpPr txBox="1">
                <a:spLocks noRot="1" noChangeAspect="1" noMove="1" noResize="1" noEditPoints="1" noAdjustHandles="1" noChangeArrowheads="1" noChangeShapeType="1" noTextEdit="1"/>
              </p:cNvSpPr>
              <p:nvPr/>
            </p:nvSpPr>
            <p:spPr>
              <a:xfrm>
                <a:off x="1717040" y="447675"/>
                <a:ext cx="9509760" cy="3959289"/>
              </a:xfrm>
              <a:prstGeom prst="rect">
                <a:avLst/>
              </a:prstGeom>
              <a:blipFill>
                <a:blip r:embed="rId2"/>
                <a:stretch>
                  <a:fillRect l="-705" t="-769"/>
                </a:stretch>
              </a:blipFill>
            </p:spPr>
            <p:txBody>
              <a:bodyPr/>
              <a:lstStyle/>
              <a:p>
                <a:r>
                  <a:rPr lang="en-US">
                    <a:noFill/>
                  </a:rPr>
                  <a:t> </a:t>
                </a:r>
              </a:p>
            </p:txBody>
          </p:sp>
        </mc:Fallback>
      </mc:AlternateContent>
      <p:graphicFrame>
        <p:nvGraphicFramePr>
          <p:cNvPr id="3" name="Table 2">
            <a:extLst>
              <a:ext uri="{FF2B5EF4-FFF2-40B4-BE49-F238E27FC236}">
                <a16:creationId xmlns:a16="http://schemas.microsoft.com/office/drawing/2014/main" id="{ACC50025-7BEA-EA15-D069-1EC63B3CD9CB}"/>
              </a:ext>
            </a:extLst>
          </p:cNvPr>
          <p:cNvGraphicFramePr>
            <a:graphicFrameLocks noGrp="1"/>
          </p:cNvGraphicFramePr>
          <p:nvPr>
            <p:extLst>
              <p:ext uri="{D42A27DB-BD31-4B8C-83A1-F6EECF244321}">
                <p14:modId xmlns:p14="http://schemas.microsoft.com/office/powerpoint/2010/main" val="2833720674"/>
              </p:ext>
            </p:extLst>
          </p:nvPr>
        </p:nvGraphicFramePr>
        <p:xfrm>
          <a:off x="2407920" y="3525520"/>
          <a:ext cx="7995919" cy="2875278"/>
        </p:xfrm>
        <a:graphic>
          <a:graphicData uri="http://schemas.openxmlformats.org/drawingml/2006/table">
            <a:tbl>
              <a:tblPr>
                <a:tableStyleId>{5C22544A-7EE6-4342-B048-85BDC9FD1C3A}</a:tableStyleId>
              </a:tblPr>
              <a:tblGrid>
                <a:gridCol w="1254262">
                  <a:extLst>
                    <a:ext uri="{9D8B030D-6E8A-4147-A177-3AD203B41FA5}">
                      <a16:colId xmlns:a16="http://schemas.microsoft.com/office/drawing/2014/main" val="3203384684"/>
                    </a:ext>
                  </a:extLst>
                </a:gridCol>
                <a:gridCol w="1254262">
                  <a:extLst>
                    <a:ext uri="{9D8B030D-6E8A-4147-A177-3AD203B41FA5}">
                      <a16:colId xmlns:a16="http://schemas.microsoft.com/office/drawing/2014/main" val="2801945731"/>
                    </a:ext>
                  </a:extLst>
                </a:gridCol>
                <a:gridCol w="1724609">
                  <a:extLst>
                    <a:ext uri="{9D8B030D-6E8A-4147-A177-3AD203B41FA5}">
                      <a16:colId xmlns:a16="http://schemas.microsoft.com/office/drawing/2014/main" val="3819921580"/>
                    </a:ext>
                  </a:extLst>
                </a:gridCol>
                <a:gridCol w="1254262">
                  <a:extLst>
                    <a:ext uri="{9D8B030D-6E8A-4147-A177-3AD203B41FA5}">
                      <a16:colId xmlns:a16="http://schemas.microsoft.com/office/drawing/2014/main" val="1103466508"/>
                    </a:ext>
                  </a:extLst>
                </a:gridCol>
                <a:gridCol w="1254262">
                  <a:extLst>
                    <a:ext uri="{9D8B030D-6E8A-4147-A177-3AD203B41FA5}">
                      <a16:colId xmlns:a16="http://schemas.microsoft.com/office/drawing/2014/main" val="3269065169"/>
                    </a:ext>
                  </a:extLst>
                </a:gridCol>
                <a:gridCol w="1254262">
                  <a:extLst>
                    <a:ext uri="{9D8B030D-6E8A-4147-A177-3AD203B41FA5}">
                      <a16:colId xmlns:a16="http://schemas.microsoft.com/office/drawing/2014/main" val="1585045862"/>
                    </a:ext>
                  </a:extLst>
                </a:gridCol>
              </a:tblGrid>
              <a:tr h="697206">
                <a:tc>
                  <a:txBody>
                    <a:bodyPr/>
                    <a:lstStyle/>
                    <a:p>
                      <a:pPr algn="ctr" fontAlgn="ctr"/>
                      <a:r>
                        <a:rPr lang="en-US" sz="2000" u="none" strike="noStrike" dirty="0">
                          <a:effectLst/>
                          <a:latin typeface="Times New Roman" panose="02020603050405020304" pitchFamily="18" charset="0"/>
                          <a:cs typeface="Times New Roman" panose="02020603050405020304" pitchFamily="18" charset="0"/>
                        </a:rPr>
                        <a:t>Design</a:t>
                      </a:r>
                      <a:endParaRPr lang="en-US" sz="20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l" fontAlgn="ctr"/>
                      <a:r>
                        <a:rPr lang="en-US" sz="2000" u="none" strike="noStrike">
                          <a:effectLst/>
                          <a:latin typeface="Times New Roman" panose="02020603050405020304" pitchFamily="18" charset="0"/>
                          <a:cs typeface="Times New Roman" panose="02020603050405020304" pitchFamily="18" charset="0"/>
                        </a:rPr>
                        <a:t>mFA</a:t>
                      </a:r>
                      <a:endParaRPr lang="en-US" sz="2000" b="1" i="0" u="none" strike="noStrike">
                        <a:solidFill>
                          <a:srgbClr val="FFFFFF"/>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HR (wa, max)</a:t>
                      </a:r>
                      <a:endParaRPr lang="en-US" sz="2000" b="1" i="0" u="none" strike="noStrike">
                        <a:solidFill>
                          <a:srgbClr val="FFFFFF"/>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l" fontAlgn="ctr"/>
                      <a:r>
                        <a:rPr lang="en-US" sz="2000" u="none" strike="noStrike">
                          <a:effectLst/>
                          <a:latin typeface="Times New Roman" panose="02020603050405020304" pitchFamily="18" charset="0"/>
                          <a:cs typeface="Times New Roman" panose="02020603050405020304" pitchFamily="18" charset="0"/>
                        </a:rPr>
                        <a:t>Wv</a:t>
                      </a:r>
                      <a:endParaRPr lang="en-US" sz="2000" b="1" i="0" u="none" strike="noStrike">
                        <a:solidFill>
                          <a:srgbClr val="FFFFFF"/>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l" fontAlgn="ctr"/>
                      <a:r>
                        <a:rPr lang="en-US" sz="2000" u="none" strike="noStrike">
                          <a:effectLst/>
                          <a:latin typeface="Times New Roman" panose="02020603050405020304" pitchFamily="18" charset="0"/>
                          <a:cs typeface="Times New Roman" panose="02020603050405020304" pitchFamily="18" charset="0"/>
                        </a:rPr>
                        <a:t>mdot</a:t>
                      </a:r>
                      <a:endParaRPr lang="en-US" sz="2000" b="1" i="0" u="none" strike="noStrike">
                        <a:solidFill>
                          <a:srgbClr val="FFFFFF"/>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m cond</a:t>
                      </a:r>
                      <a:endParaRPr lang="en-US" sz="2000" b="1" i="0" u="none" strike="noStrike">
                        <a:solidFill>
                          <a:srgbClr val="FFFFFF"/>
                        </a:solidFill>
                        <a:effectLst/>
                        <a:latin typeface="Times New Roman" panose="02020603050405020304" pitchFamily="18" charset="0"/>
                        <a:cs typeface="Times New Roman" panose="02020603050405020304" pitchFamily="18" charset="0"/>
                      </a:endParaRPr>
                    </a:p>
                  </a:txBody>
                  <a:tcPr marL="6350" marR="6350" marT="6350" marB="0" anchor="ctr"/>
                </a:tc>
                <a:extLst>
                  <a:ext uri="{0D108BD9-81ED-4DB2-BD59-A6C34878D82A}">
                    <a16:rowId xmlns:a16="http://schemas.microsoft.com/office/drawing/2014/main" val="1326322327"/>
                  </a:ext>
                </a:extLst>
              </a:tr>
              <a:tr h="363012">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1</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fontAlgn="ctr"/>
                      <a:r>
                        <a:rPr lang="en-US" sz="2000" u="none" strike="noStrike" dirty="0">
                          <a:effectLst/>
                          <a:latin typeface="Times New Roman" panose="02020603050405020304" pitchFamily="18" charset="0"/>
                          <a:cs typeface="Times New Roman" panose="02020603050405020304" pitchFamily="18" charset="0"/>
                        </a:rPr>
                        <a:t>0.55</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fontAlgn="ctr"/>
                      <a:r>
                        <a:rPr lang="en-US" sz="2000" u="none" strike="noStrike" dirty="0">
                          <a:effectLst/>
                          <a:latin typeface="Times New Roman" panose="02020603050405020304" pitchFamily="18" charset="0"/>
                          <a:cs typeface="Times New Roman" panose="02020603050405020304" pitchFamily="18" charset="0"/>
                        </a:rPr>
                        <a:t>0.007251</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0.000305</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0.55</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0.005101</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extLst>
                  <a:ext uri="{0D108BD9-81ED-4DB2-BD59-A6C34878D82A}">
                    <a16:rowId xmlns:a16="http://schemas.microsoft.com/office/drawing/2014/main" val="1175843301"/>
                  </a:ext>
                </a:extLst>
              </a:tr>
              <a:tr h="363012">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2</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0.37</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0.007158</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fontAlgn="ctr"/>
                      <a:r>
                        <a:rPr lang="en-US" sz="2000" u="none" strike="noStrike" dirty="0">
                          <a:effectLst/>
                          <a:latin typeface="Times New Roman" panose="02020603050405020304" pitchFamily="18" charset="0"/>
                          <a:cs typeface="Times New Roman" panose="02020603050405020304" pitchFamily="18" charset="0"/>
                        </a:rPr>
                        <a:t>0.000458</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0.37</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0.003491</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extLst>
                  <a:ext uri="{0D108BD9-81ED-4DB2-BD59-A6C34878D82A}">
                    <a16:rowId xmlns:a16="http://schemas.microsoft.com/office/drawing/2014/main" val="610847485"/>
                  </a:ext>
                </a:extLst>
              </a:tr>
              <a:tr h="363012">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3</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0.28</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0.006138</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fontAlgn="ctr"/>
                      <a:r>
                        <a:rPr lang="en-US" sz="2000" u="none" strike="noStrike" dirty="0">
                          <a:effectLst/>
                          <a:latin typeface="Times New Roman" panose="02020603050405020304" pitchFamily="18" charset="0"/>
                          <a:cs typeface="Times New Roman" panose="02020603050405020304" pitchFamily="18" charset="0"/>
                        </a:rPr>
                        <a:t>0.000611</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0.28</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0.002941</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extLst>
                  <a:ext uri="{0D108BD9-81ED-4DB2-BD59-A6C34878D82A}">
                    <a16:rowId xmlns:a16="http://schemas.microsoft.com/office/drawing/2014/main" val="2663163981"/>
                  </a:ext>
                </a:extLst>
              </a:tr>
              <a:tr h="363012">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4</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0.22</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0.00606</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0.000764</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fontAlgn="ctr"/>
                      <a:r>
                        <a:rPr lang="en-US" sz="2000" u="none" strike="noStrike" dirty="0">
                          <a:effectLst/>
                          <a:latin typeface="Times New Roman" panose="02020603050405020304" pitchFamily="18" charset="0"/>
                          <a:cs typeface="Times New Roman" panose="02020603050405020304" pitchFamily="18" charset="0"/>
                        </a:rPr>
                        <a:t>0.22</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0.002403</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extLst>
                  <a:ext uri="{0D108BD9-81ED-4DB2-BD59-A6C34878D82A}">
                    <a16:rowId xmlns:a16="http://schemas.microsoft.com/office/drawing/2014/main" val="2745382875"/>
                  </a:ext>
                </a:extLst>
              </a:tr>
              <a:tr h="363012">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5</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0.18</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0.005252</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0.000916</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fontAlgn="ctr"/>
                      <a:r>
                        <a:rPr lang="en-US" sz="2000" u="none" strike="noStrike" dirty="0">
                          <a:effectLst/>
                          <a:latin typeface="Times New Roman" panose="02020603050405020304" pitchFamily="18" charset="0"/>
                          <a:cs typeface="Times New Roman" panose="02020603050405020304" pitchFamily="18" charset="0"/>
                        </a:rPr>
                        <a:t>0.18</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0.002179</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extLst>
                  <a:ext uri="{0D108BD9-81ED-4DB2-BD59-A6C34878D82A}">
                    <a16:rowId xmlns:a16="http://schemas.microsoft.com/office/drawing/2014/main" val="4077864217"/>
                  </a:ext>
                </a:extLst>
              </a:tr>
              <a:tr h="363012">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6</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0.16</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0.005182</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0.001069</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0.16</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fontAlgn="ctr"/>
                      <a:r>
                        <a:rPr lang="en-US" sz="2000" u="none" strike="noStrike" dirty="0">
                          <a:effectLst/>
                          <a:latin typeface="Times New Roman" panose="02020603050405020304" pitchFamily="18" charset="0"/>
                          <a:cs typeface="Times New Roman" panose="02020603050405020304" pitchFamily="18" charset="0"/>
                        </a:rPr>
                        <a:t>0.001902</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extLst>
                  <a:ext uri="{0D108BD9-81ED-4DB2-BD59-A6C34878D82A}">
                    <a16:rowId xmlns:a16="http://schemas.microsoft.com/office/drawing/2014/main" val="1887947445"/>
                  </a:ext>
                </a:extLst>
              </a:tr>
            </a:tbl>
          </a:graphicData>
        </a:graphic>
      </p:graphicFrame>
    </p:spTree>
    <p:extLst>
      <p:ext uri="{BB962C8B-B14F-4D97-AF65-F5344CB8AC3E}">
        <p14:creationId xmlns:p14="http://schemas.microsoft.com/office/powerpoint/2010/main" val="17707847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9B867DC8-0080-926D-D6E1-9B4B2B49A0C8}"/>
                  </a:ext>
                </a:extLst>
              </p:cNvPr>
              <p:cNvSpPr txBox="1"/>
              <p:nvPr/>
            </p:nvSpPr>
            <p:spPr>
              <a:xfrm>
                <a:off x="1778000" y="467360"/>
                <a:ext cx="9570720" cy="3195042"/>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The cooling coil load </a:t>
                </a:r>
                <a14:m>
                  <m:oMath xmlns:m="http://schemas.openxmlformats.org/officeDocument/2006/math">
                    <m:sSub>
                      <m:sSubPr>
                        <m:ctrlPr>
                          <a:rPr lang="en-US" sz="1800" i="1" smtClea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𝑄</m:t>
                        </m:r>
                      </m:e>
                      <m:sub>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𝑐</m:t>
                        </m:r>
                      </m:sub>
                    </m:sSub>
                  </m:oMath>
                </a14:m>
                <a:r>
                  <a:rPr lang="en-US" sz="2000" dirty="0">
                    <a:latin typeface="Times New Roman" panose="02020603050405020304" pitchFamily="18" charset="0"/>
                    <a:cs typeface="Times New Roman" panose="02020603050405020304" pitchFamily="18" charset="0"/>
                  </a:rPr>
                  <a:t> can be determined using the following equation by applying energy balance on the entire DV system:</a:t>
                </a:r>
              </a:p>
              <a:p>
                <a:endParaRPr lang="en-US" sz="2000" dirty="0">
                  <a:latin typeface="Times New Roman" panose="02020603050405020304" pitchFamily="18"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sSub>
                        <m:sSubPr>
                          <m:ctrlPr>
                            <a:rPr lang="en-US" sz="2000" i="1" smtClea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𝑄</m:t>
                          </m:r>
                        </m:e>
                        <m:sub>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𝑐</m:t>
                          </m:r>
                        </m:sub>
                      </m:sSub>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20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𝑄</m:t>
                          </m:r>
                        </m:e>
                        <m:sub>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𝑅𝐻</m:t>
                          </m:r>
                        </m:sub>
                      </m:sSub>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2000" i="1">
                              <a:effectLst/>
                              <a:latin typeface="Cambria Math" panose="02040503050406030204" pitchFamily="18" charset="0"/>
                              <a:ea typeface="Times New Roman" panose="02020603050405020304" pitchFamily="18" charset="0"/>
                              <a:cs typeface="Times New Roman" panose="02020603050405020304" pitchFamily="18" charset="0"/>
                            </a:rPr>
                          </m:ctrlPr>
                        </m:sSubPr>
                        <m:e>
                          <m:acc>
                            <m:accPr>
                              <m:chr m:val="̇"/>
                              <m:ctrlPr>
                                <a:rPr lang="en-US" sz="2000" i="1">
                                  <a:effectLst/>
                                  <a:latin typeface="Cambria Math" panose="02040503050406030204" pitchFamily="18" charset="0"/>
                                  <a:ea typeface="Times New Roman" panose="02020603050405020304" pitchFamily="18" charset="0"/>
                                  <a:cs typeface="Times New Roman" panose="02020603050405020304" pitchFamily="18" charset="0"/>
                                </a:rPr>
                              </m:ctrlPr>
                            </m:acc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𝑚</m:t>
                              </m:r>
                            </m:e>
                          </m:acc>
                        </m:e>
                        <m:sub>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𝑐𝑜𝑛𝑑𝑒𝑛𝑠𝑎𝑡𝑒</m:t>
                          </m:r>
                        </m:sub>
                      </m:sSub>
                      <m:sSub>
                        <m:sSubPr>
                          <m:ctrlPr>
                            <a:rPr lang="en-US" sz="20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h</m:t>
                          </m:r>
                        </m:e>
                        <m:sub>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𝑓𝑔</m:t>
                          </m:r>
                        </m:sub>
                      </m:sSub>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2000" i="1">
                              <a:effectLst/>
                              <a:latin typeface="Cambria Math" panose="02040503050406030204" pitchFamily="18" charset="0"/>
                              <a:cs typeface="Times New Roman" panose="02020603050405020304" pitchFamily="18" charset="0"/>
                            </a:rPr>
                          </m:ctrlPr>
                        </m:sSubPr>
                        <m:e>
                          <m:acc>
                            <m:accPr>
                              <m:chr m:val="̇"/>
                              <m:ctrlPr>
                                <a:rPr lang="en-US" sz="2000" i="1">
                                  <a:effectLst/>
                                  <a:latin typeface="Cambria Math" panose="02040503050406030204" pitchFamily="18" charset="0"/>
                                  <a:cs typeface="Times New Roman" panose="02020603050405020304" pitchFamily="18" charset="0"/>
                                </a:rPr>
                              </m:ctrlPr>
                            </m:accPr>
                            <m:e>
                              <m:r>
                                <a:rPr lang="en-US" sz="2000" i="1">
                                  <a:effectLst/>
                                  <a:latin typeface="Cambria Math" panose="02040503050406030204" pitchFamily="18" charset="0"/>
                                  <a:ea typeface="Calibri" panose="020F0502020204030204" pitchFamily="34" charset="0"/>
                                  <a:cs typeface="Times New Roman" panose="02020603050405020304" pitchFamily="18" charset="0"/>
                                </a:rPr>
                                <m:t>𝑚</m:t>
                              </m:r>
                            </m:e>
                          </m:acc>
                        </m:e>
                        <m:sub>
                          <m:r>
                            <a:rPr lang="en-US" sz="2000" i="1">
                              <a:effectLst/>
                              <a:latin typeface="Cambria Math" panose="02040503050406030204" pitchFamily="18" charset="0"/>
                              <a:ea typeface="Calibri" panose="020F0502020204030204" pitchFamily="34" charset="0"/>
                              <a:cs typeface="Times New Roman" panose="02020603050405020304" pitchFamily="18" charset="0"/>
                            </a:rPr>
                            <m:t>𝐹𝐴</m:t>
                          </m:r>
                        </m:sub>
                      </m:sSub>
                      <m:sSub>
                        <m:sSubPr>
                          <m:ctrlPr>
                            <a:rPr lang="en-US" sz="2000" i="1">
                              <a:effectLst/>
                              <a:latin typeface="Cambria Math" panose="02040503050406030204" pitchFamily="18" charset="0"/>
                              <a:cs typeface="Times New Roman" panose="02020603050405020304" pitchFamily="18" charset="0"/>
                            </a:rPr>
                          </m:ctrlPr>
                        </m:sSubPr>
                        <m:e>
                          <m:r>
                            <a:rPr lang="en-US" sz="2000" i="1">
                              <a:effectLst/>
                              <a:latin typeface="Cambria Math" panose="02040503050406030204" pitchFamily="18" charset="0"/>
                              <a:ea typeface="Calibri" panose="020F0502020204030204" pitchFamily="34" charset="0"/>
                              <a:cs typeface="Times New Roman" panose="02020603050405020304" pitchFamily="18" charset="0"/>
                            </a:rPr>
                            <m:t>𝑐</m:t>
                          </m:r>
                        </m:e>
                        <m:sub>
                          <m:r>
                            <a:rPr lang="en-US" sz="2000" i="1">
                              <a:effectLst/>
                              <a:latin typeface="Cambria Math" panose="02040503050406030204" pitchFamily="18" charset="0"/>
                              <a:ea typeface="Calibri" panose="020F0502020204030204" pitchFamily="34" charset="0"/>
                              <a:cs typeface="Times New Roman" panose="02020603050405020304" pitchFamily="18" charset="0"/>
                            </a:rPr>
                            <m:t>𝑝𝑎</m:t>
                          </m:r>
                        </m:sub>
                      </m:sSub>
                      <m:d>
                        <m:dPr>
                          <m:ctrlPr>
                            <a:rPr lang="en-US" sz="2000" i="1">
                              <a:effectLst/>
                              <a:latin typeface="Cambria Math" panose="02040503050406030204" pitchFamily="18" charset="0"/>
                              <a:cs typeface="Times New Roman" panose="02020603050405020304" pitchFamily="18" charset="0"/>
                            </a:rPr>
                          </m:ctrlPr>
                        </m:dPr>
                        <m:e>
                          <m:sSub>
                            <m:sSubPr>
                              <m:ctrlPr>
                                <a:rPr lang="en-US" sz="2000" i="1">
                                  <a:effectLst/>
                                  <a:latin typeface="Cambria Math" panose="02040503050406030204" pitchFamily="18" charset="0"/>
                                  <a:cs typeface="Times New Roman" panose="02020603050405020304" pitchFamily="18" charset="0"/>
                                </a:rPr>
                              </m:ctrlPr>
                            </m:sSubPr>
                            <m:e>
                              <m:r>
                                <a:rPr lang="en-US" sz="20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n-US" sz="2000" i="1">
                                  <a:effectLst/>
                                  <a:latin typeface="Cambria Math" panose="02040503050406030204" pitchFamily="18" charset="0"/>
                                  <a:ea typeface="Calibri" panose="020F0502020204030204" pitchFamily="34" charset="0"/>
                                  <a:cs typeface="Times New Roman" panose="02020603050405020304" pitchFamily="18" charset="0"/>
                                </a:rPr>
                                <m:t>𝐹𝐴</m:t>
                              </m:r>
                            </m:sub>
                          </m:sSub>
                          <m:r>
                            <a:rPr lang="en-US" sz="2000" i="1">
                              <a:effectLst/>
                              <a:latin typeface="Cambria Math" panose="02040503050406030204" pitchFamily="18" charset="0"/>
                              <a:ea typeface="Calibri" panose="020F0502020204030204" pitchFamily="34" charset="0"/>
                              <a:cs typeface="Times New Roman" panose="02020603050405020304" pitchFamily="18" charset="0"/>
                            </a:rPr>
                            <m:t>−</m:t>
                          </m:r>
                          <m:sSub>
                            <m:sSubPr>
                              <m:ctrlPr>
                                <a:rPr lang="en-US" sz="2000" i="1">
                                  <a:effectLst/>
                                  <a:latin typeface="Cambria Math" panose="02040503050406030204" pitchFamily="18" charset="0"/>
                                  <a:cs typeface="Times New Roman" panose="02020603050405020304" pitchFamily="18" charset="0"/>
                                </a:rPr>
                              </m:ctrlPr>
                            </m:sSubPr>
                            <m:e>
                              <m:r>
                                <a:rPr lang="en-US" sz="2000" i="1">
                                  <a:effectLst/>
                                  <a:latin typeface="Cambria Math" panose="02040503050406030204" pitchFamily="18" charset="0"/>
                                  <a:ea typeface="Calibri" panose="020F0502020204030204" pitchFamily="34" charset="0"/>
                                  <a:cs typeface="Times New Roman" panose="02020603050405020304" pitchFamily="18" charset="0"/>
                                </a:rPr>
                                <m:t>𝑇</m:t>
                              </m:r>
                            </m:e>
                            <m:sub>
                              <m:r>
                                <a:rPr lang="en-US" sz="2000" i="1">
                                  <a:effectLst/>
                                  <a:latin typeface="Cambria Math" panose="02040503050406030204" pitchFamily="18" charset="0"/>
                                  <a:ea typeface="Calibri" panose="020F0502020204030204" pitchFamily="34" charset="0"/>
                                  <a:cs typeface="Times New Roman" panose="02020603050405020304" pitchFamily="18" charset="0"/>
                                </a:rPr>
                                <m:t>𝑠</m:t>
                              </m:r>
                            </m:sub>
                          </m:sSub>
                        </m:e>
                      </m:d>
                    </m:oMath>
                  </m:oMathPara>
                </a14:m>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a:p>
                <a:endParaRPr lang="en-US" sz="2000" dirty="0">
                  <a:latin typeface="Times New Roman" panose="02020603050405020304" pitchFamily="18" charset="0"/>
                  <a:cs typeface="Times New Roman" panose="02020603050405020304" pitchFamily="18" charset="0"/>
                </a:endParaRPr>
              </a:p>
            </p:txBody>
          </p:sp>
        </mc:Choice>
        <mc:Fallback xmlns="">
          <p:sp>
            <p:nvSpPr>
              <p:cNvPr id="2" name="TextBox 1">
                <a:extLst>
                  <a:ext uri="{FF2B5EF4-FFF2-40B4-BE49-F238E27FC236}">
                    <a16:creationId xmlns:a16="http://schemas.microsoft.com/office/drawing/2014/main" id="{9B867DC8-0080-926D-D6E1-9B4B2B49A0C8}"/>
                  </a:ext>
                </a:extLst>
              </p:cNvPr>
              <p:cNvSpPr txBox="1">
                <a:spLocks noRot="1" noChangeAspect="1" noMove="1" noResize="1" noEditPoints="1" noAdjustHandles="1" noChangeArrowheads="1" noChangeShapeType="1" noTextEdit="1"/>
              </p:cNvSpPr>
              <p:nvPr/>
            </p:nvSpPr>
            <p:spPr>
              <a:xfrm>
                <a:off x="1778000" y="467360"/>
                <a:ext cx="9570720" cy="3195042"/>
              </a:xfrm>
              <a:prstGeom prst="rect">
                <a:avLst/>
              </a:prstGeom>
              <a:blipFill>
                <a:blip r:embed="rId2"/>
                <a:stretch>
                  <a:fillRect l="-701" t="-1145" r="-1210"/>
                </a:stretch>
              </a:blipFill>
            </p:spPr>
            <p:txBody>
              <a:bodyPr/>
              <a:lstStyle/>
              <a:p>
                <a:r>
                  <a:rPr lang="en-US">
                    <a:noFill/>
                  </a:rPr>
                  <a:t> </a:t>
                </a:r>
              </a:p>
            </p:txBody>
          </p:sp>
        </mc:Fallback>
      </mc:AlternateContent>
      <p:graphicFrame>
        <p:nvGraphicFramePr>
          <p:cNvPr id="3" name="Table 2">
            <a:extLst>
              <a:ext uri="{FF2B5EF4-FFF2-40B4-BE49-F238E27FC236}">
                <a16:creationId xmlns:a16="http://schemas.microsoft.com/office/drawing/2014/main" id="{CF938739-71DE-90FC-3A05-84D6DC0D37F0}"/>
              </a:ext>
            </a:extLst>
          </p:cNvPr>
          <p:cNvGraphicFramePr>
            <a:graphicFrameLocks noGrp="1"/>
          </p:cNvGraphicFramePr>
          <p:nvPr>
            <p:extLst>
              <p:ext uri="{D42A27DB-BD31-4B8C-83A1-F6EECF244321}">
                <p14:modId xmlns:p14="http://schemas.microsoft.com/office/powerpoint/2010/main" val="662735634"/>
              </p:ext>
            </p:extLst>
          </p:nvPr>
        </p:nvGraphicFramePr>
        <p:xfrm>
          <a:off x="1991360" y="2265680"/>
          <a:ext cx="8859520" cy="3505201"/>
        </p:xfrm>
        <a:graphic>
          <a:graphicData uri="http://schemas.openxmlformats.org/drawingml/2006/table">
            <a:tbl>
              <a:tblPr>
                <a:tableStyleId>{5C22544A-7EE6-4342-B048-85BDC9FD1C3A}</a:tableStyleId>
              </a:tblPr>
              <a:tblGrid>
                <a:gridCol w="1055228">
                  <a:extLst>
                    <a:ext uri="{9D8B030D-6E8A-4147-A177-3AD203B41FA5}">
                      <a16:colId xmlns:a16="http://schemas.microsoft.com/office/drawing/2014/main" val="14266687"/>
                    </a:ext>
                  </a:extLst>
                </a:gridCol>
                <a:gridCol w="1055228">
                  <a:extLst>
                    <a:ext uri="{9D8B030D-6E8A-4147-A177-3AD203B41FA5}">
                      <a16:colId xmlns:a16="http://schemas.microsoft.com/office/drawing/2014/main" val="722918463"/>
                    </a:ext>
                  </a:extLst>
                </a:gridCol>
                <a:gridCol w="1055228">
                  <a:extLst>
                    <a:ext uri="{9D8B030D-6E8A-4147-A177-3AD203B41FA5}">
                      <a16:colId xmlns:a16="http://schemas.microsoft.com/office/drawing/2014/main" val="2219460117"/>
                    </a:ext>
                  </a:extLst>
                </a:gridCol>
                <a:gridCol w="1055228">
                  <a:extLst>
                    <a:ext uri="{9D8B030D-6E8A-4147-A177-3AD203B41FA5}">
                      <a16:colId xmlns:a16="http://schemas.microsoft.com/office/drawing/2014/main" val="1924105686"/>
                    </a:ext>
                  </a:extLst>
                </a:gridCol>
                <a:gridCol w="1055228">
                  <a:extLst>
                    <a:ext uri="{9D8B030D-6E8A-4147-A177-3AD203B41FA5}">
                      <a16:colId xmlns:a16="http://schemas.microsoft.com/office/drawing/2014/main" val="841369971"/>
                    </a:ext>
                  </a:extLst>
                </a:gridCol>
                <a:gridCol w="1450939">
                  <a:extLst>
                    <a:ext uri="{9D8B030D-6E8A-4147-A177-3AD203B41FA5}">
                      <a16:colId xmlns:a16="http://schemas.microsoft.com/office/drawing/2014/main" val="4154231959"/>
                    </a:ext>
                  </a:extLst>
                </a:gridCol>
                <a:gridCol w="1055228">
                  <a:extLst>
                    <a:ext uri="{9D8B030D-6E8A-4147-A177-3AD203B41FA5}">
                      <a16:colId xmlns:a16="http://schemas.microsoft.com/office/drawing/2014/main" val="1031594760"/>
                    </a:ext>
                  </a:extLst>
                </a:gridCol>
                <a:gridCol w="1077213">
                  <a:extLst>
                    <a:ext uri="{9D8B030D-6E8A-4147-A177-3AD203B41FA5}">
                      <a16:colId xmlns:a16="http://schemas.microsoft.com/office/drawing/2014/main" val="2486622374"/>
                    </a:ext>
                  </a:extLst>
                </a:gridCol>
              </a:tblGrid>
              <a:tr h="500743">
                <a:tc>
                  <a:txBody>
                    <a:bodyPr/>
                    <a:lstStyle/>
                    <a:p>
                      <a:pPr algn="ctr" fontAlgn="ctr"/>
                      <a:r>
                        <a:rPr lang="en-US" sz="2000" u="none" strike="noStrike" dirty="0">
                          <a:effectLst/>
                          <a:latin typeface="Times New Roman" panose="02020603050405020304" pitchFamily="18" charset="0"/>
                          <a:cs typeface="Times New Roman" panose="02020603050405020304" pitchFamily="18" charset="0"/>
                        </a:rPr>
                        <a:t>Design</a:t>
                      </a:r>
                      <a:endParaRPr lang="en-US" sz="20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Qrh</a:t>
                      </a:r>
                      <a:endParaRPr lang="en-US" sz="2000" b="1" i="0" u="none" strike="noStrike">
                        <a:solidFill>
                          <a:srgbClr val="FFFFFF"/>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m cond</a:t>
                      </a:r>
                      <a:endParaRPr lang="en-US" sz="2000" b="1" i="0" u="none" strike="noStrike">
                        <a:solidFill>
                          <a:srgbClr val="FFFFFF"/>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hfg</a:t>
                      </a:r>
                      <a:endParaRPr lang="en-US" sz="2000" b="1" i="0" u="none" strike="noStrike">
                        <a:solidFill>
                          <a:srgbClr val="FFFFFF"/>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l" fontAlgn="ctr"/>
                      <a:r>
                        <a:rPr lang="en-US" sz="2000" u="none" strike="noStrike">
                          <a:effectLst/>
                          <a:latin typeface="Times New Roman" panose="02020603050405020304" pitchFamily="18" charset="0"/>
                          <a:cs typeface="Times New Roman" panose="02020603050405020304" pitchFamily="18" charset="0"/>
                        </a:rPr>
                        <a:t>mdot</a:t>
                      </a:r>
                      <a:endParaRPr lang="en-US" sz="2000" b="1" i="0" u="none" strike="noStrike">
                        <a:solidFill>
                          <a:srgbClr val="FFFFFF"/>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l" fontAlgn="ctr"/>
                      <a:r>
                        <a:rPr lang="en-US" sz="2000" u="none" strike="noStrike">
                          <a:effectLst/>
                          <a:latin typeface="Times New Roman" panose="02020603050405020304" pitchFamily="18" charset="0"/>
                          <a:cs typeface="Times New Roman" panose="02020603050405020304" pitchFamily="18" charset="0"/>
                        </a:rPr>
                        <a:t>Cpa</a:t>
                      </a:r>
                      <a:endParaRPr lang="en-US" sz="2000" b="1" i="0" u="none" strike="noStrike">
                        <a:solidFill>
                          <a:srgbClr val="FFFFFF"/>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Ts</a:t>
                      </a:r>
                      <a:endParaRPr lang="en-US" sz="2000" b="1" i="0" u="none" strike="noStrike">
                        <a:solidFill>
                          <a:srgbClr val="FFFFFF"/>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fontAlgn="ctr"/>
                      <a:r>
                        <a:rPr lang="en-US" sz="2000" u="none" strike="noStrike" dirty="0">
                          <a:effectLst/>
                          <a:latin typeface="Times New Roman" panose="02020603050405020304" pitchFamily="18" charset="0"/>
                          <a:cs typeface="Times New Roman" panose="02020603050405020304" pitchFamily="18" charset="0"/>
                        </a:rPr>
                        <a:t>Qc (w)</a:t>
                      </a:r>
                      <a:endParaRPr lang="en-US" sz="20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6350" marR="6350" marT="6350" marB="0" anchor="ctr"/>
                </a:tc>
                <a:extLst>
                  <a:ext uri="{0D108BD9-81ED-4DB2-BD59-A6C34878D82A}">
                    <a16:rowId xmlns:a16="http://schemas.microsoft.com/office/drawing/2014/main" val="2961840814"/>
                  </a:ext>
                </a:extLst>
              </a:tr>
              <a:tr h="500743">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1</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fontAlgn="ctr"/>
                      <a:r>
                        <a:rPr lang="en-US" sz="2000" u="none" strike="noStrike" dirty="0">
                          <a:effectLst/>
                          <a:latin typeface="Times New Roman" panose="02020603050405020304" pitchFamily="18" charset="0"/>
                          <a:cs typeface="Times New Roman" panose="02020603050405020304" pitchFamily="18" charset="0"/>
                        </a:rPr>
                        <a:t>5185.4</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0.005101</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2257</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0.55</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1005</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18</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13756.84</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extLst>
                  <a:ext uri="{0D108BD9-81ED-4DB2-BD59-A6C34878D82A}">
                    <a16:rowId xmlns:a16="http://schemas.microsoft.com/office/drawing/2014/main" val="2907467660"/>
                  </a:ext>
                </a:extLst>
              </a:tr>
              <a:tr h="500743">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2</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3666.3</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fontAlgn="ctr"/>
                      <a:r>
                        <a:rPr lang="en-US" sz="2000" u="none" strike="noStrike" dirty="0">
                          <a:effectLst/>
                          <a:latin typeface="Times New Roman" panose="02020603050405020304" pitchFamily="18" charset="0"/>
                          <a:cs typeface="Times New Roman" panose="02020603050405020304" pitchFamily="18" charset="0"/>
                        </a:rPr>
                        <a:t>0.003491</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fontAlgn="ctr"/>
                      <a:r>
                        <a:rPr lang="en-US" sz="2000" u="none" strike="noStrike" dirty="0">
                          <a:effectLst/>
                          <a:latin typeface="Times New Roman" panose="02020603050405020304" pitchFamily="18" charset="0"/>
                          <a:cs typeface="Times New Roman" panose="02020603050405020304" pitchFamily="18" charset="0"/>
                        </a:rPr>
                        <a:t>2257</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0.37</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1005</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18</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9784.129</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extLst>
                  <a:ext uri="{0D108BD9-81ED-4DB2-BD59-A6C34878D82A}">
                    <a16:rowId xmlns:a16="http://schemas.microsoft.com/office/drawing/2014/main" val="1806433997"/>
                  </a:ext>
                </a:extLst>
              </a:tr>
              <a:tr h="500743">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3</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3769.975</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0.002941</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2257</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fontAlgn="ctr"/>
                      <a:r>
                        <a:rPr lang="en-US" sz="2000" u="none" strike="noStrike" dirty="0">
                          <a:effectLst/>
                          <a:latin typeface="Times New Roman" panose="02020603050405020304" pitchFamily="18" charset="0"/>
                          <a:cs typeface="Times New Roman" panose="02020603050405020304" pitchFamily="18" charset="0"/>
                        </a:rPr>
                        <a:t>0.28</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1005</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19</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fontAlgn="ctr"/>
                      <a:r>
                        <a:rPr lang="en-US" sz="2000" u="none" strike="noStrike" dirty="0">
                          <a:effectLst/>
                          <a:latin typeface="Times New Roman" panose="02020603050405020304" pitchFamily="18" charset="0"/>
                          <a:cs typeface="Times New Roman" panose="02020603050405020304" pitchFamily="18" charset="0"/>
                        </a:rPr>
                        <a:t>8165.2</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extLst>
                  <a:ext uri="{0D108BD9-81ED-4DB2-BD59-A6C34878D82A}">
                    <a16:rowId xmlns:a16="http://schemas.microsoft.com/office/drawing/2014/main" val="3638047652"/>
                  </a:ext>
                </a:extLst>
              </a:tr>
              <a:tr h="500743">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4</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3149.96</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0.002403</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2257</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0.22</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fontAlgn="ctr"/>
                      <a:r>
                        <a:rPr lang="en-US" sz="2000" u="none" strike="noStrike" dirty="0">
                          <a:effectLst/>
                          <a:latin typeface="Times New Roman" panose="02020603050405020304" pitchFamily="18" charset="0"/>
                          <a:cs typeface="Times New Roman" panose="02020603050405020304" pitchFamily="18" charset="0"/>
                        </a:rPr>
                        <a:t>1005</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19</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6787.254</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extLst>
                  <a:ext uri="{0D108BD9-81ED-4DB2-BD59-A6C34878D82A}">
                    <a16:rowId xmlns:a16="http://schemas.microsoft.com/office/drawing/2014/main" val="665669723"/>
                  </a:ext>
                </a:extLst>
              </a:tr>
              <a:tr h="500743">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5</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3415.317</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0.002179</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2257</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0.18</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fontAlgn="ctr"/>
                      <a:r>
                        <a:rPr lang="en-US" sz="2000" u="none" strike="noStrike" dirty="0">
                          <a:effectLst/>
                          <a:latin typeface="Times New Roman" panose="02020603050405020304" pitchFamily="18" charset="0"/>
                          <a:cs typeface="Times New Roman" panose="02020603050405020304" pitchFamily="18" charset="0"/>
                        </a:rPr>
                        <a:t>1005</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fontAlgn="ctr"/>
                      <a:r>
                        <a:rPr lang="en-US" sz="2000" u="none" strike="noStrike" dirty="0">
                          <a:effectLst/>
                          <a:latin typeface="Times New Roman" panose="02020603050405020304" pitchFamily="18" charset="0"/>
                          <a:cs typeface="Times New Roman" panose="02020603050405020304" pitchFamily="18" charset="0"/>
                        </a:rPr>
                        <a:t>20.5</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6234.584</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extLst>
                  <a:ext uri="{0D108BD9-81ED-4DB2-BD59-A6C34878D82A}">
                    <a16:rowId xmlns:a16="http://schemas.microsoft.com/office/drawing/2014/main" val="3052097842"/>
                  </a:ext>
                </a:extLst>
              </a:tr>
              <a:tr h="500743">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6</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3041.971</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0.001902</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2257</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0.16</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1005</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fontAlgn="ctr"/>
                      <a:r>
                        <a:rPr lang="en-US" sz="2000" u="none" strike="noStrike" dirty="0">
                          <a:effectLst/>
                          <a:latin typeface="Times New Roman" panose="02020603050405020304" pitchFamily="18" charset="0"/>
                          <a:cs typeface="Times New Roman" panose="02020603050405020304" pitchFamily="18" charset="0"/>
                        </a:rPr>
                        <a:t>20.5</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fontAlgn="ctr"/>
                      <a:r>
                        <a:rPr lang="en-US" sz="2000" u="none" strike="noStrike" dirty="0">
                          <a:effectLst/>
                          <a:latin typeface="Times New Roman" panose="02020603050405020304" pitchFamily="18" charset="0"/>
                          <a:cs typeface="Times New Roman" panose="02020603050405020304" pitchFamily="18" charset="0"/>
                        </a:rPr>
                        <a:t>5537.137</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extLst>
                  <a:ext uri="{0D108BD9-81ED-4DB2-BD59-A6C34878D82A}">
                    <a16:rowId xmlns:a16="http://schemas.microsoft.com/office/drawing/2014/main" val="1494753348"/>
                  </a:ext>
                </a:extLst>
              </a:tr>
            </a:tbl>
          </a:graphicData>
        </a:graphic>
      </p:graphicFrame>
    </p:spTree>
    <p:extLst>
      <p:ext uri="{BB962C8B-B14F-4D97-AF65-F5344CB8AC3E}">
        <p14:creationId xmlns:p14="http://schemas.microsoft.com/office/powerpoint/2010/main" val="30356818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C2396D46-058C-9F9A-245F-6F125FA8583B}"/>
                  </a:ext>
                </a:extLst>
              </p:cNvPr>
              <p:cNvSpPr txBox="1"/>
              <p:nvPr/>
            </p:nvSpPr>
            <p:spPr>
              <a:xfrm>
                <a:off x="2082800" y="213360"/>
                <a:ext cx="8554720" cy="4706032"/>
              </a:xfrm>
              <a:prstGeom prst="rect">
                <a:avLst/>
              </a:prstGeom>
              <a:noFill/>
            </p:spPr>
            <p:txBody>
              <a:bodyPr wrap="square" rtlCol="0">
                <a:spAutoFit/>
              </a:bodyPr>
              <a:lstStyle/>
              <a:p>
                <a:r>
                  <a:rPr lang="en-US" sz="2200" b="1" u="sng" dirty="0">
                    <a:latin typeface="Times New Roman" panose="02020603050405020304" pitchFamily="18" charset="0"/>
                    <a:cs typeface="Times New Roman" panose="02020603050405020304" pitchFamily="18" charset="0"/>
                  </a:rPr>
                  <a:t>Fan Power</a:t>
                </a:r>
              </a:p>
              <a:p>
                <a:endParaRPr lang="en-US" sz="2200" b="1" u="sng" dirty="0">
                  <a:latin typeface="Times New Roman" panose="02020603050405020304" pitchFamily="18"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sSub>
                        <m:sSubPr>
                          <m:ctrlPr>
                            <a:rPr lang="en-US" sz="1800" i="1" smtClea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𝑃</m:t>
                          </m:r>
                        </m:e>
                        <m:sub>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𝑓𝑎𝑛</m:t>
                          </m:r>
                        </m:sub>
                      </m:sSub>
                      <m:d>
                        <m:dPr>
                          <m:ctrlPr>
                            <a:rPr lang="en-US" sz="18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𝑘𝑊</m:t>
                          </m:r>
                        </m:e>
                      </m:d>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en-US" sz="1800" i="1">
                              <a:effectLst/>
                              <a:latin typeface="Cambria Math" panose="02040503050406030204" pitchFamily="18" charset="0"/>
                              <a:ea typeface="Times New Roman" panose="02020603050405020304" pitchFamily="18" charset="0"/>
                              <a:cs typeface="Times New Roman" panose="02020603050405020304" pitchFamily="18" charset="0"/>
                            </a:rPr>
                          </m:ctrlPr>
                        </m:fPr>
                        <m:num>
                          <m:sSub>
                            <m:sSubPr>
                              <m:ctrlPr>
                                <a:rPr lang="en-US" sz="1800" i="1">
                                  <a:effectLst/>
                                  <a:latin typeface="Cambria Math" panose="02040503050406030204" pitchFamily="18" charset="0"/>
                                  <a:ea typeface="Times New Roman" panose="02020603050405020304" pitchFamily="18" charset="0"/>
                                  <a:cs typeface="Times New Roman" panose="02020603050405020304" pitchFamily="18" charset="0"/>
                                </a:rPr>
                              </m:ctrlPr>
                            </m:sSubPr>
                            <m:e>
                              <m:acc>
                                <m:accPr>
                                  <m:chr m:val="̇"/>
                                  <m:ctrlPr>
                                    <a:rPr lang="en-US" sz="1800" i="1">
                                      <a:effectLst/>
                                      <a:latin typeface="Cambria Math" panose="02040503050406030204" pitchFamily="18" charset="0"/>
                                      <a:ea typeface="Times New Roman" panose="02020603050405020304" pitchFamily="18" charset="0"/>
                                      <a:cs typeface="Times New Roman" panose="02020603050405020304" pitchFamily="18" charset="0"/>
                                    </a:rPr>
                                  </m:ctrlPr>
                                </m:accPr>
                                <m:e>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𝑚</m:t>
                                  </m:r>
                                </m:e>
                              </m:acc>
                            </m:e>
                            <m:sub>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𝑠</m:t>
                              </m:r>
                            </m:sub>
                          </m:sSub>
                          <m:r>
                            <a:rPr lang="en-US" sz="1800">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en-US" sz="1800" i="1">
                                  <a:effectLst/>
                                  <a:latin typeface="Cambria Math" panose="02040503050406030204" pitchFamily="18" charset="0"/>
                                  <a:ea typeface="Times New Roman" panose="02020603050405020304" pitchFamily="18" charset="0"/>
                                  <a:cs typeface="Times New Roman" panose="02020603050405020304" pitchFamily="18" charset="0"/>
                                </a:rPr>
                              </m:ctrlPr>
                            </m:fPr>
                            <m:num>
                              <m:r>
                                <m:rPr>
                                  <m:sty m:val="p"/>
                                </m:rPr>
                                <a:rPr lang="en-US" sz="1800">
                                  <a:effectLst/>
                                  <a:latin typeface="Cambria Math" panose="02040503050406030204" pitchFamily="18" charset="0"/>
                                  <a:ea typeface="Times New Roman" panose="02020603050405020304" pitchFamily="18" charset="0"/>
                                  <a:cs typeface="Times New Roman" panose="02020603050405020304" pitchFamily="18" charset="0"/>
                                </a:rPr>
                                <m:t>kg</m:t>
                              </m:r>
                            </m:num>
                            <m:den>
                              <m:r>
                                <m:rPr>
                                  <m:sty m:val="p"/>
                                </m:rPr>
                                <a:rPr lang="en-US" sz="1800">
                                  <a:effectLst/>
                                  <a:latin typeface="Cambria Math" panose="02040503050406030204" pitchFamily="18" charset="0"/>
                                  <a:ea typeface="Times New Roman" panose="02020603050405020304" pitchFamily="18" charset="0"/>
                                  <a:cs typeface="Times New Roman" panose="02020603050405020304" pitchFamily="18" charset="0"/>
                                </a:rPr>
                                <m:t>s</m:t>
                              </m:r>
                            </m:den>
                          </m:f>
                          <m:r>
                            <a:rPr lang="en-US" sz="1800">
                              <a:effectLst/>
                              <a:latin typeface="Cambria Math" panose="02040503050406030204" pitchFamily="18" charset="0"/>
                              <a:ea typeface="Times New Roman" panose="02020603050405020304" pitchFamily="18" charset="0"/>
                              <a:cs typeface="Times New Roman" panose="02020603050405020304" pitchFamily="18" charset="0"/>
                            </a:rPr>
                            <m:t>)</m:t>
                          </m:r>
                          <m:r>
                            <m:rPr>
                              <m:sty m:val="p"/>
                            </m:rPr>
                            <a:rPr lang="en-US" sz="1800">
                              <a:effectLst/>
                              <a:latin typeface="Cambria Math" panose="02040503050406030204" pitchFamily="18" charset="0"/>
                              <a:ea typeface="Times New Roman" panose="02020603050405020304" pitchFamily="18" charset="0"/>
                              <a:cs typeface="Times New Roman" panose="02020603050405020304" pitchFamily="18" charset="0"/>
                            </a:rPr>
                            <m:t>Δ</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𝑝</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𝑘𝑃𝑎</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m:t>
                          </m:r>
                        </m:num>
                        <m:den>
                          <m:sSub>
                            <m:sSubPr>
                              <m:ctrlPr>
                                <a:rPr lang="en-US" sz="18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𝜂</m:t>
                              </m:r>
                            </m:e>
                            <m:sub>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𝑓𝑎𝑛</m:t>
                              </m:r>
                            </m:sub>
                          </m:sSub>
                          <m:sSub>
                            <m:sSubPr>
                              <m:ctrlPr>
                                <a:rPr lang="en-US" sz="18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𝜌</m:t>
                              </m:r>
                            </m:e>
                            <m:sub>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𝑎</m:t>
                              </m:r>
                            </m:sub>
                          </m:sSub>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m:t>
                          </m:r>
                          <m:f>
                            <m:fPr>
                              <m:ctrlPr>
                                <a:rPr lang="en-US" sz="1800" i="1">
                                  <a:effectLst/>
                                  <a:latin typeface="Cambria Math" panose="02040503050406030204" pitchFamily="18" charset="0"/>
                                  <a:ea typeface="Times New Roman" panose="02020603050405020304" pitchFamily="18" charset="0"/>
                                  <a:cs typeface="Times New Roman" panose="02020603050405020304" pitchFamily="18" charset="0"/>
                                </a:rPr>
                              </m:ctrlPr>
                            </m:fPr>
                            <m:num>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𝑘𝑔</m:t>
                              </m:r>
                            </m:num>
                            <m:den>
                              <m:sSup>
                                <m:sSupPr>
                                  <m:ctrlPr>
                                    <a:rPr lang="en-US" sz="1800" i="1">
                                      <a:effectLst/>
                                      <a:latin typeface="Cambria Math" panose="02040503050406030204" pitchFamily="18" charset="0"/>
                                      <a:ea typeface="Times New Roman" panose="02020603050405020304" pitchFamily="18" charset="0"/>
                                      <a:cs typeface="Times New Roman" panose="02020603050405020304" pitchFamily="18" charset="0"/>
                                    </a:rPr>
                                  </m:ctrlPr>
                                </m:sSupPr>
                                <m:e>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𝑚</m:t>
                                  </m:r>
                                </m:e>
                                <m:sup>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3</m:t>
                                  </m:r>
                                </m:sup>
                              </m:sSup>
                            </m:den>
                          </m:f>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m:t>
                          </m:r>
                        </m:den>
                      </m:f>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 </m:t>
                      </m:r>
                    </m:oMath>
                  </m:oMathPara>
                </a14:m>
                <a:endParaRPr lang="en-US" sz="1800" dirty="0">
                  <a:effectLst/>
                  <a:latin typeface="Calibri" panose="020F0502020204030204" pitchFamily="34" charset="0"/>
                  <a:ea typeface="Calibri" panose="020F0502020204030204" pitchFamily="34" charset="0"/>
                  <a:cs typeface="Arial" panose="020B0604020202020204" pitchFamily="34" charset="0"/>
                </a:endParaRPr>
              </a:p>
              <a:p>
                <a:pPr marL="285750" indent="-285750">
                  <a:buFont typeface="Arial" panose="020B0604020202020204" pitchFamily="34" charset="0"/>
                  <a:buChar char="•"/>
                </a:pPr>
                <a:endParaRPr lang="en-US" sz="1800" dirty="0">
                  <a:effectLst/>
                  <a:latin typeface="Times New Roman" panose="02020603050405020304" pitchFamily="18" charset="0"/>
                  <a:ea typeface="Calibri" panose="020F0502020204030204" pitchFamily="34" charset="0"/>
                  <a:cs typeface="Arial" panose="020B0604020202020204" pitchFamily="34" charset="0"/>
                </a:endParaRPr>
              </a:p>
              <a:p>
                <a:pPr marL="285750" indent="-285750">
                  <a:buFont typeface="Arial" panose="020B0604020202020204" pitchFamily="34" charset="0"/>
                  <a:buChar char="•"/>
                </a:pPr>
                <a:r>
                  <a:rPr lang="en-US" sz="1800" dirty="0">
                    <a:effectLst/>
                    <a:latin typeface="Times New Roman" panose="02020603050405020304" pitchFamily="18" charset="0"/>
                    <a:ea typeface="Calibri" panose="020F0502020204030204" pitchFamily="34" charset="0"/>
                    <a:cs typeface="Arial" panose="020B0604020202020204" pitchFamily="34" charset="0"/>
                  </a:rPr>
                  <a:t>The fan efficiency is 0.5 and the pressure difference is 1.5 kPa.</a:t>
                </a:r>
              </a:p>
              <a:p>
                <a:pPr marL="285750" indent="-285750">
                  <a:buFont typeface="Arial" panose="020B0604020202020204" pitchFamily="34" charset="0"/>
                  <a:buChar char="•"/>
                </a:pPr>
                <a:r>
                  <a:rPr lang="en-US" dirty="0">
                    <a:latin typeface="Times New Roman" panose="02020603050405020304" pitchFamily="18" charset="0"/>
                    <a:ea typeface="Calibri" panose="020F0502020204030204" pitchFamily="34" charset="0"/>
                    <a:cs typeface="Arial" panose="020B0604020202020204" pitchFamily="34" charset="0"/>
                  </a:rPr>
                  <a:t>The density of air is taken to be equal 1 kg/m^3</a:t>
                </a:r>
                <a:endParaRPr lang="en-US" sz="1800" dirty="0">
                  <a:effectLst/>
                  <a:latin typeface="Calibri" panose="020F0502020204030204" pitchFamily="34" charset="0"/>
                  <a:ea typeface="Calibri" panose="020F0502020204030204" pitchFamily="34" charset="0"/>
                  <a:cs typeface="Arial" panose="020B0604020202020204" pitchFamily="34" charset="0"/>
                </a:endParaRPr>
              </a:p>
              <a:p>
                <a:endParaRPr lang="en-US" sz="2000" dirty="0">
                  <a:latin typeface="Times New Roman" panose="02020603050405020304" pitchFamily="18" charset="0"/>
                  <a:cs typeface="Times New Roman" panose="02020603050405020304" pitchFamily="18" charset="0"/>
                </a:endParaRPr>
              </a:p>
              <a:p>
                <a:r>
                  <a:rPr lang="en-US" sz="2200" b="1" u="sng" dirty="0">
                    <a:latin typeface="Times New Roman" panose="02020603050405020304" pitchFamily="18" charset="0"/>
                    <a:cs typeface="Times New Roman" panose="02020603050405020304" pitchFamily="18" charset="0"/>
                  </a:rPr>
                  <a:t>Electrical Total; energy of DV system:</a:t>
                </a:r>
              </a:p>
              <a:p>
                <a:endParaRPr lang="en-US" sz="2200" b="1" u="sng" dirty="0">
                  <a:latin typeface="Times New Roman" panose="02020603050405020304" pitchFamily="18" charset="0"/>
                  <a:cs typeface="Times New Roman" panose="02020603050405020304" pitchFamily="18" charset="0"/>
                </a:endParaRPr>
              </a:p>
              <a:p>
                <a:pPr/>
                <a14:m>
                  <m:oMathPara xmlns:m="http://schemas.openxmlformats.org/officeDocument/2006/math">
                    <m:oMathParaPr>
                      <m:jc m:val="centerGroup"/>
                    </m:oMathParaPr>
                    <m:oMath xmlns:m="http://schemas.openxmlformats.org/officeDocument/2006/math">
                      <m:sSub>
                        <m:sSubPr>
                          <m:ctrlPr>
                            <a:rPr lang="en-US" sz="1800" i="1" smtClean="0">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𝐸</m:t>
                          </m:r>
                        </m:e>
                        <m:sub>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𝐷𝑉</m:t>
                          </m:r>
                        </m:sub>
                      </m:sSub>
                      <m:d>
                        <m:dPr>
                          <m:ctrlPr>
                            <a:rPr lang="en-US" sz="1800" i="1">
                              <a:effectLst/>
                              <a:latin typeface="Cambria Math" panose="02040503050406030204" pitchFamily="18" charset="0"/>
                              <a:ea typeface="Times New Roman" panose="02020603050405020304" pitchFamily="18" charset="0"/>
                              <a:cs typeface="Times New Roman" panose="02020603050405020304" pitchFamily="18" charset="0"/>
                            </a:rPr>
                          </m:ctrlPr>
                        </m:dPr>
                        <m:e>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𝑊</m:t>
                          </m:r>
                        </m:e>
                      </m:d>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=0.5</m:t>
                      </m:r>
                      <m:sSub>
                        <m:sSubPr>
                          <m:ctrlPr>
                            <a:rPr lang="en-US" sz="18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𝑄</m:t>
                          </m:r>
                        </m:e>
                        <m:sub>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𝑐</m:t>
                          </m:r>
                        </m:sub>
                      </m:sSub>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+0.33</m:t>
                      </m:r>
                      <m:sSub>
                        <m:sSubPr>
                          <m:ctrlPr>
                            <a:rPr lang="en-US" sz="18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𝑄</m:t>
                          </m:r>
                        </m:e>
                        <m:sub>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𝑅𝐻</m:t>
                          </m:r>
                        </m:sub>
                      </m:sSub>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m:t>
                      </m:r>
                      <m:sSub>
                        <m:sSubPr>
                          <m:ctrlPr>
                            <a:rPr lang="en-US" sz="1800" i="1">
                              <a:effectLst/>
                              <a:latin typeface="Cambria Math" panose="02040503050406030204" pitchFamily="18" charset="0"/>
                              <a:ea typeface="Times New Roman" panose="02020603050405020304" pitchFamily="18" charset="0"/>
                              <a:cs typeface="Times New Roman" panose="02020603050405020304" pitchFamily="18" charset="0"/>
                            </a:rPr>
                          </m:ctrlPr>
                        </m:sSubPr>
                        <m:e>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𝑃</m:t>
                          </m:r>
                        </m:e>
                        <m:sub>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𝑓𝑎𝑛</m:t>
                          </m:r>
                        </m:sub>
                      </m:sSub>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𝑊</m:t>
                      </m:r>
                      <m:r>
                        <a:rPr lang="en-US" sz="1800" i="1">
                          <a:effectLst/>
                          <a:latin typeface="Cambria Math" panose="02040503050406030204" pitchFamily="18" charset="0"/>
                          <a:ea typeface="Times New Roman" panose="02020603050405020304" pitchFamily="18" charset="0"/>
                          <a:cs typeface="Times New Roman" panose="02020603050405020304" pitchFamily="18" charset="0"/>
                        </a:rPr>
                        <m:t>)</m:t>
                      </m:r>
                    </m:oMath>
                  </m:oMathPara>
                </a14:m>
                <a:endParaRPr lang="en-US" sz="1800" dirty="0">
                  <a:effectLst/>
                  <a:latin typeface="Calibri" panose="020F0502020204030204" pitchFamily="34" charset="0"/>
                  <a:ea typeface="Calibri" panose="020F0502020204030204" pitchFamily="34" charset="0"/>
                  <a:cs typeface="Arial" panose="020B0604020202020204" pitchFamily="34" charset="0"/>
                </a:endParaRPr>
              </a:p>
              <a:p>
                <a:endParaRPr lang="en-US" dirty="0">
                  <a:latin typeface="Calibri" panose="020F0502020204030204" pitchFamily="34" charset="0"/>
                  <a:ea typeface="Calibri" panose="020F0502020204030204" pitchFamily="34" charset="0"/>
                  <a:cs typeface="Arial" panose="020B0604020202020204" pitchFamily="34" charset="0"/>
                </a:endParaRPr>
              </a:p>
              <a:p>
                <a:endParaRPr lang="en-US" sz="1800" dirty="0">
                  <a:effectLst/>
                  <a:latin typeface="Calibri" panose="020F0502020204030204" pitchFamily="34" charset="0"/>
                  <a:ea typeface="Calibri" panose="020F0502020204030204" pitchFamily="34" charset="0"/>
                  <a:cs typeface="Arial" panose="020B0604020202020204" pitchFamily="34" charset="0"/>
                </a:endParaRPr>
              </a:p>
              <a:p>
                <a:endParaRPr lang="en-US" sz="2000" dirty="0">
                  <a:latin typeface="Times New Roman" panose="02020603050405020304" pitchFamily="18" charset="0"/>
                  <a:cs typeface="Times New Roman" panose="02020603050405020304" pitchFamily="18" charset="0"/>
                </a:endParaRPr>
              </a:p>
            </p:txBody>
          </p:sp>
        </mc:Choice>
        <mc:Fallback xmlns="">
          <p:sp>
            <p:nvSpPr>
              <p:cNvPr id="2" name="TextBox 1">
                <a:extLst>
                  <a:ext uri="{FF2B5EF4-FFF2-40B4-BE49-F238E27FC236}">
                    <a16:creationId xmlns:a16="http://schemas.microsoft.com/office/drawing/2014/main" id="{C2396D46-058C-9F9A-245F-6F125FA8583B}"/>
                  </a:ext>
                </a:extLst>
              </p:cNvPr>
              <p:cNvSpPr txBox="1">
                <a:spLocks noRot="1" noChangeAspect="1" noMove="1" noResize="1" noEditPoints="1" noAdjustHandles="1" noChangeArrowheads="1" noChangeShapeType="1" noTextEdit="1"/>
              </p:cNvSpPr>
              <p:nvPr/>
            </p:nvSpPr>
            <p:spPr>
              <a:xfrm>
                <a:off x="2082800" y="213360"/>
                <a:ext cx="8554720" cy="4706032"/>
              </a:xfrm>
              <a:prstGeom prst="rect">
                <a:avLst/>
              </a:prstGeom>
              <a:blipFill>
                <a:blip r:embed="rId2"/>
                <a:stretch>
                  <a:fillRect l="-927" t="-907"/>
                </a:stretch>
              </a:blipFill>
            </p:spPr>
            <p:txBody>
              <a:bodyPr/>
              <a:lstStyle/>
              <a:p>
                <a:r>
                  <a:rPr lang="en-US">
                    <a:noFill/>
                  </a:rPr>
                  <a:t> </a:t>
                </a:r>
              </a:p>
            </p:txBody>
          </p:sp>
        </mc:Fallback>
      </mc:AlternateContent>
      <p:graphicFrame>
        <p:nvGraphicFramePr>
          <p:cNvPr id="3" name="Table 2">
            <a:extLst>
              <a:ext uri="{FF2B5EF4-FFF2-40B4-BE49-F238E27FC236}">
                <a16:creationId xmlns:a16="http://schemas.microsoft.com/office/drawing/2014/main" id="{BAD0A58F-B58B-88E7-0316-B9103760123F}"/>
              </a:ext>
            </a:extLst>
          </p:cNvPr>
          <p:cNvGraphicFramePr>
            <a:graphicFrameLocks noGrp="1"/>
          </p:cNvGraphicFramePr>
          <p:nvPr>
            <p:extLst>
              <p:ext uri="{D42A27DB-BD31-4B8C-83A1-F6EECF244321}">
                <p14:modId xmlns:p14="http://schemas.microsoft.com/office/powerpoint/2010/main" val="836644501"/>
              </p:ext>
            </p:extLst>
          </p:nvPr>
        </p:nvGraphicFramePr>
        <p:xfrm>
          <a:off x="2832100" y="4121292"/>
          <a:ext cx="7205980" cy="2523348"/>
        </p:xfrm>
        <a:graphic>
          <a:graphicData uri="http://schemas.openxmlformats.org/drawingml/2006/table">
            <a:tbl>
              <a:tblPr>
                <a:tableStyleId>{5C22544A-7EE6-4342-B048-85BDC9FD1C3A}</a:tableStyleId>
              </a:tblPr>
              <a:tblGrid>
                <a:gridCol w="1537276">
                  <a:extLst>
                    <a:ext uri="{9D8B030D-6E8A-4147-A177-3AD203B41FA5}">
                      <a16:colId xmlns:a16="http://schemas.microsoft.com/office/drawing/2014/main" val="425987397"/>
                    </a:ext>
                  </a:extLst>
                </a:gridCol>
                <a:gridCol w="1537276">
                  <a:extLst>
                    <a:ext uri="{9D8B030D-6E8A-4147-A177-3AD203B41FA5}">
                      <a16:colId xmlns:a16="http://schemas.microsoft.com/office/drawing/2014/main" val="3920108598"/>
                    </a:ext>
                  </a:extLst>
                </a:gridCol>
                <a:gridCol w="2562126">
                  <a:extLst>
                    <a:ext uri="{9D8B030D-6E8A-4147-A177-3AD203B41FA5}">
                      <a16:colId xmlns:a16="http://schemas.microsoft.com/office/drawing/2014/main" val="3453515718"/>
                    </a:ext>
                  </a:extLst>
                </a:gridCol>
                <a:gridCol w="1569302">
                  <a:extLst>
                    <a:ext uri="{9D8B030D-6E8A-4147-A177-3AD203B41FA5}">
                      <a16:colId xmlns:a16="http://schemas.microsoft.com/office/drawing/2014/main" val="1972540142"/>
                    </a:ext>
                  </a:extLst>
                </a:gridCol>
              </a:tblGrid>
              <a:tr h="483799">
                <a:tc>
                  <a:txBody>
                    <a:bodyPr/>
                    <a:lstStyle/>
                    <a:p>
                      <a:pPr algn="ctr" fontAlgn="ctr"/>
                      <a:r>
                        <a:rPr lang="en-US" sz="2000" u="none" strike="noStrike" dirty="0">
                          <a:effectLst/>
                          <a:latin typeface="Times New Roman" panose="02020603050405020304" pitchFamily="18" charset="0"/>
                          <a:cs typeface="Times New Roman" panose="02020603050405020304" pitchFamily="18" charset="0"/>
                        </a:rPr>
                        <a:t>Design</a:t>
                      </a:r>
                      <a:endParaRPr lang="en-US" sz="2000" b="1" i="0" u="none" strike="noStrike" dirty="0">
                        <a:solidFill>
                          <a:srgbClr val="FFFFFF"/>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l" fontAlgn="ctr"/>
                      <a:r>
                        <a:rPr lang="en-US" sz="2000" u="none" strike="noStrike">
                          <a:effectLst/>
                          <a:latin typeface="Times New Roman" panose="02020603050405020304" pitchFamily="18" charset="0"/>
                          <a:cs typeface="Times New Roman" panose="02020603050405020304" pitchFamily="18" charset="0"/>
                        </a:rPr>
                        <a:t>mdot</a:t>
                      </a:r>
                      <a:endParaRPr lang="en-US" sz="2000" b="1" i="0" u="none" strike="noStrike">
                        <a:solidFill>
                          <a:srgbClr val="FFFFFF"/>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fan power P (W)</a:t>
                      </a:r>
                      <a:endParaRPr lang="en-US" sz="2000" b="1" i="0" u="none" strike="noStrike">
                        <a:solidFill>
                          <a:srgbClr val="FFFFFF"/>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E DV</a:t>
                      </a:r>
                      <a:endParaRPr lang="en-US" sz="2000" b="1" i="0" u="none" strike="noStrike">
                        <a:solidFill>
                          <a:srgbClr val="FFFFFF"/>
                        </a:solidFill>
                        <a:effectLst/>
                        <a:latin typeface="Times New Roman" panose="02020603050405020304" pitchFamily="18" charset="0"/>
                        <a:cs typeface="Times New Roman" panose="02020603050405020304" pitchFamily="18" charset="0"/>
                      </a:endParaRPr>
                    </a:p>
                  </a:txBody>
                  <a:tcPr marL="6350" marR="6350" marT="6350" marB="0" anchor="ctr"/>
                </a:tc>
                <a:extLst>
                  <a:ext uri="{0D108BD9-81ED-4DB2-BD59-A6C34878D82A}">
                    <a16:rowId xmlns:a16="http://schemas.microsoft.com/office/drawing/2014/main" val="4137623538"/>
                  </a:ext>
                </a:extLst>
              </a:tr>
              <a:tr h="483799">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1</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fontAlgn="ctr"/>
                      <a:r>
                        <a:rPr lang="en-US" sz="2000" u="none" strike="noStrike" dirty="0">
                          <a:effectLst/>
                          <a:latin typeface="Times New Roman" panose="02020603050405020304" pitchFamily="18" charset="0"/>
                          <a:cs typeface="Times New Roman" panose="02020603050405020304" pitchFamily="18" charset="0"/>
                        </a:rPr>
                        <a:t>0.55</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1,650.00</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10,239.60</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extLst>
                  <a:ext uri="{0D108BD9-81ED-4DB2-BD59-A6C34878D82A}">
                    <a16:rowId xmlns:a16="http://schemas.microsoft.com/office/drawing/2014/main" val="3880401397"/>
                  </a:ext>
                </a:extLst>
              </a:tr>
              <a:tr h="269776">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2</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0.37</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fontAlgn="ctr"/>
                      <a:r>
                        <a:rPr lang="en-US" sz="2000" u="none" strike="noStrike" dirty="0">
                          <a:effectLst/>
                          <a:latin typeface="Times New Roman" panose="02020603050405020304" pitchFamily="18" charset="0"/>
                          <a:cs typeface="Times New Roman" panose="02020603050405020304" pitchFamily="18" charset="0"/>
                        </a:rPr>
                        <a:t>1,100.00</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7,201.94</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extLst>
                  <a:ext uri="{0D108BD9-81ED-4DB2-BD59-A6C34878D82A}">
                    <a16:rowId xmlns:a16="http://schemas.microsoft.com/office/drawing/2014/main" val="796382782"/>
                  </a:ext>
                </a:extLst>
              </a:tr>
              <a:tr h="269776">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3</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0.28</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825</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6,151.69</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extLst>
                  <a:ext uri="{0D108BD9-81ED-4DB2-BD59-A6C34878D82A}">
                    <a16:rowId xmlns:a16="http://schemas.microsoft.com/office/drawing/2014/main" val="1096229761"/>
                  </a:ext>
                </a:extLst>
              </a:tr>
              <a:tr h="269776">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4</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0.22</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fontAlgn="ctr"/>
                      <a:r>
                        <a:rPr lang="en-US" sz="2000" u="none" strike="noStrike" dirty="0">
                          <a:effectLst/>
                          <a:latin typeface="Times New Roman" panose="02020603050405020304" pitchFamily="18" charset="0"/>
                          <a:cs typeface="Times New Roman" panose="02020603050405020304" pitchFamily="18" charset="0"/>
                        </a:rPr>
                        <a:t>660</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5,093.11</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extLst>
                  <a:ext uri="{0D108BD9-81ED-4DB2-BD59-A6C34878D82A}">
                    <a16:rowId xmlns:a16="http://schemas.microsoft.com/office/drawing/2014/main" val="2583754347"/>
                  </a:ext>
                </a:extLst>
              </a:tr>
              <a:tr h="269776">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5</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0.18</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550</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fontAlgn="ctr"/>
                      <a:r>
                        <a:rPr lang="en-US" sz="2000" u="none" strike="noStrike" dirty="0">
                          <a:effectLst/>
                          <a:latin typeface="Times New Roman" panose="02020603050405020304" pitchFamily="18" charset="0"/>
                          <a:cs typeface="Times New Roman" panose="02020603050405020304" pitchFamily="18" charset="0"/>
                        </a:rPr>
                        <a:t>4,794.35</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extLst>
                  <a:ext uri="{0D108BD9-81ED-4DB2-BD59-A6C34878D82A}">
                    <a16:rowId xmlns:a16="http://schemas.microsoft.com/office/drawing/2014/main" val="149413835"/>
                  </a:ext>
                </a:extLst>
              </a:tr>
              <a:tr h="269776">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6</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0.16</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fontAlgn="ctr"/>
                      <a:r>
                        <a:rPr lang="en-US" sz="2000" u="none" strike="noStrike">
                          <a:effectLst/>
                          <a:latin typeface="Times New Roman" panose="02020603050405020304" pitchFamily="18" charset="0"/>
                          <a:cs typeface="Times New Roman" panose="02020603050405020304" pitchFamily="18" charset="0"/>
                        </a:rPr>
                        <a:t>471.43</a:t>
                      </a:r>
                      <a:endParaRPr lang="en-US" sz="2000" b="0" i="0" u="none" strike="noStrike">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tc>
                  <a:txBody>
                    <a:bodyPr/>
                    <a:lstStyle/>
                    <a:p>
                      <a:pPr algn="ctr" fontAlgn="ctr"/>
                      <a:r>
                        <a:rPr lang="en-US" sz="2000" u="none" strike="noStrike" dirty="0">
                          <a:effectLst/>
                          <a:latin typeface="Times New Roman" panose="02020603050405020304" pitchFamily="18" charset="0"/>
                          <a:cs typeface="Times New Roman" panose="02020603050405020304" pitchFamily="18" charset="0"/>
                        </a:rPr>
                        <a:t>4,243.85</a:t>
                      </a:r>
                      <a:endParaRPr lang="en-US" sz="2000" b="0" i="0" u="none" strike="noStrike" dirty="0">
                        <a:solidFill>
                          <a:srgbClr val="000000"/>
                        </a:solidFill>
                        <a:effectLst/>
                        <a:latin typeface="Times New Roman" panose="02020603050405020304" pitchFamily="18" charset="0"/>
                        <a:cs typeface="Times New Roman" panose="02020603050405020304" pitchFamily="18" charset="0"/>
                      </a:endParaRPr>
                    </a:p>
                  </a:txBody>
                  <a:tcPr marL="6350" marR="6350" marT="6350" marB="0" anchor="ctr"/>
                </a:tc>
                <a:extLst>
                  <a:ext uri="{0D108BD9-81ED-4DB2-BD59-A6C34878D82A}">
                    <a16:rowId xmlns:a16="http://schemas.microsoft.com/office/drawing/2014/main" val="2899141814"/>
                  </a:ext>
                </a:extLst>
              </a:tr>
            </a:tbl>
          </a:graphicData>
        </a:graphic>
      </p:graphicFrame>
    </p:spTree>
    <p:extLst>
      <p:ext uri="{BB962C8B-B14F-4D97-AF65-F5344CB8AC3E}">
        <p14:creationId xmlns:p14="http://schemas.microsoft.com/office/powerpoint/2010/main" val="4746701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atMod val="92000"/>
                <a:lumMod val="120000"/>
              </a:schemeClr>
            </a:gs>
            <a:gs pos="100000">
              <a:schemeClr val="bg2">
                <a:shade val="98000"/>
                <a:satMod val="120000"/>
                <a:lumMod val="98000"/>
              </a:schemeClr>
            </a:gs>
          </a:gsLst>
          <a:path path="circle">
            <a:fillToRect l="50000" t="50000" r="100000" b="100000"/>
          </a:path>
        </a:gra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166BF9EE-F7AC-4FA5-AC7E-001B3A642F7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9" y="228600"/>
            <a:ext cx="2851523" cy="6638625"/>
            <a:chOff x="2487613" y="285750"/>
            <a:chExt cx="2428875" cy="5654676"/>
          </a:xfrm>
        </p:grpSpPr>
        <p:sp>
          <p:nvSpPr>
            <p:cNvPr id="9" name="Freeform 11">
              <a:extLst>
                <a:ext uri="{FF2B5EF4-FFF2-40B4-BE49-F238E27FC236}">
                  <a16:creationId xmlns:a16="http://schemas.microsoft.com/office/drawing/2014/main" id="{3B48D182-44E3-4D8B-ACEF-F1A900BE44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487613" y="2284413"/>
              <a:ext cx="85725" cy="533400"/>
            </a:xfrm>
            <a:custGeom>
              <a:avLst/>
              <a:gdLst/>
              <a:ahLst/>
              <a:cxnLst/>
              <a:rect l="0" t="0" r="r" b="b"/>
              <a:pathLst>
                <a:path w="22" h="136">
                  <a:moveTo>
                    <a:pt x="22" y="136"/>
                  </a:moveTo>
                  <a:cubicBezTo>
                    <a:pt x="20" y="117"/>
                    <a:pt x="19" y="99"/>
                    <a:pt x="17" y="80"/>
                  </a:cubicBezTo>
                  <a:cubicBezTo>
                    <a:pt x="11" y="54"/>
                    <a:pt x="6" y="27"/>
                    <a:pt x="0" y="0"/>
                  </a:cubicBezTo>
                  <a:cubicBezTo>
                    <a:pt x="0" y="35"/>
                    <a:pt x="0" y="35"/>
                    <a:pt x="0" y="35"/>
                  </a:cubicBezTo>
                  <a:cubicBezTo>
                    <a:pt x="6" y="64"/>
                    <a:pt x="13" y="94"/>
                    <a:pt x="20" y="124"/>
                  </a:cubicBezTo>
                  <a:cubicBezTo>
                    <a:pt x="20" y="128"/>
                    <a:pt x="21" y="132"/>
                    <a:pt x="22" y="136"/>
                  </a:cubicBezTo>
                  <a:close/>
                </a:path>
              </a:pathLst>
            </a:custGeom>
            <a:solidFill>
              <a:schemeClr val="tx2">
                <a:alpha val="20000"/>
              </a:schemeClr>
            </a:solidFill>
            <a:ln>
              <a:noFill/>
            </a:ln>
          </p:spPr>
        </p:sp>
        <p:sp>
          <p:nvSpPr>
            <p:cNvPr id="10" name="Freeform 12">
              <a:extLst>
                <a:ext uri="{FF2B5EF4-FFF2-40B4-BE49-F238E27FC236}">
                  <a16:creationId xmlns:a16="http://schemas.microsoft.com/office/drawing/2014/main" id="{355A535A-A489-477F-A314-593AA8CAFB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97151" y="2779713"/>
              <a:ext cx="550863" cy="1978025"/>
            </a:xfrm>
            <a:custGeom>
              <a:avLst/>
              <a:gdLst/>
              <a:ahLst/>
              <a:cxnLst/>
              <a:rect l="0" t="0" r="r" b="b"/>
              <a:pathLst>
                <a:path w="140" h="504">
                  <a:moveTo>
                    <a:pt x="86" y="350"/>
                  </a:moveTo>
                  <a:cubicBezTo>
                    <a:pt x="103" y="402"/>
                    <a:pt x="120" y="453"/>
                    <a:pt x="139" y="504"/>
                  </a:cubicBezTo>
                  <a:cubicBezTo>
                    <a:pt x="139" y="495"/>
                    <a:pt x="139" y="487"/>
                    <a:pt x="140" y="478"/>
                  </a:cubicBezTo>
                  <a:cubicBezTo>
                    <a:pt x="124" y="435"/>
                    <a:pt x="109" y="391"/>
                    <a:pt x="95" y="347"/>
                  </a:cubicBezTo>
                  <a:cubicBezTo>
                    <a:pt x="58" y="233"/>
                    <a:pt x="27" y="117"/>
                    <a:pt x="0" y="0"/>
                  </a:cubicBezTo>
                  <a:cubicBezTo>
                    <a:pt x="2" y="20"/>
                    <a:pt x="4" y="41"/>
                    <a:pt x="6" y="61"/>
                  </a:cubicBezTo>
                  <a:cubicBezTo>
                    <a:pt x="30" y="158"/>
                    <a:pt x="56" y="255"/>
                    <a:pt x="86" y="350"/>
                  </a:cubicBezTo>
                  <a:close/>
                </a:path>
              </a:pathLst>
            </a:custGeom>
            <a:solidFill>
              <a:schemeClr val="tx2">
                <a:alpha val="20000"/>
              </a:schemeClr>
            </a:solidFill>
            <a:ln>
              <a:noFill/>
            </a:ln>
          </p:spPr>
        </p:sp>
        <p:sp>
          <p:nvSpPr>
            <p:cNvPr id="11" name="Freeform 13">
              <a:extLst>
                <a:ext uri="{FF2B5EF4-FFF2-40B4-BE49-F238E27FC236}">
                  <a16:creationId xmlns:a16="http://schemas.microsoft.com/office/drawing/2014/main" id="{954C2D4C-FD83-4EF4-9312-04442ABD66B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75001" y="4730750"/>
              <a:ext cx="519113" cy="1209675"/>
            </a:xfrm>
            <a:custGeom>
              <a:avLst/>
              <a:gdLst/>
              <a:ahLst/>
              <a:cxnLst/>
              <a:rect l="0" t="0" r="r" b="b"/>
              <a:pathLst>
                <a:path w="132" h="308">
                  <a:moveTo>
                    <a:pt x="8" y="22"/>
                  </a:moveTo>
                  <a:cubicBezTo>
                    <a:pt x="5" y="15"/>
                    <a:pt x="2" y="8"/>
                    <a:pt x="0" y="0"/>
                  </a:cubicBezTo>
                  <a:cubicBezTo>
                    <a:pt x="0" y="10"/>
                    <a:pt x="0" y="19"/>
                    <a:pt x="0" y="29"/>
                  </a:cubicBezTo>
                  <a:cubicBezTo>
                    <a:pt x="21" y="85"/>
                    <a:pt x="44" y="140"/>
                    <a:pt x="68" y="194"/>
                  </a:cubicBezTo>
                  <a:cubicBezTo>
                    <a:pt x="85" y="232"/>
                    <a:pt x="104" y="270"/>
                    <a:pt x="123" y="308"/>
                  </a:cubicBezTo>
                  <a:cubicBezTo>
                    <a:pt x="132" y="308"/>
                    <a:pt x="132" y="308"/>
                    <a:pt x="132" y="308"/>
                  </a:cubicBezTo>
                  <a:cubicBezTo>
                    <a:pt x="113" y="269"/>
                    <a:pt x="94" y="230"/>
                    <a:pt x="77" y="190"/>
                  </a:cubicBezTo>
                  <a:cubicBezTo>
                    <a:pt x="52" y="135"/>
                    <a:pt x="29" y="79"/>
                    <a:pt x="8" y="22"/>
                  </a:cubicBezTo>
                  <a:close/>
                </a:path>
              </a:pathLst>
            </a:custGeom>
            <a:solidFill>
              <a:schemeClr val="tx2">
                <a:alpha val="20000"/>
              </a:schemeClr>
            </a:solidFill>
            <a:ln>
              <a:noFill/>
            </a:ln>
          </p:spPr>
        </p:sp>
        <p:sp>
          <p:nvSpPr>
            <p:cNvPr id="12" name="Freeform 14">
              <a:extLst>
                <a:ext uri="{FF2B5EF4-FFF2-40B4-BE49-F238E27FC236}">
                  <a16:creationId xmlns:a16="http://schemas.microsoft.com/office/drawing/2014/main" id="{C20701C2-CD9A-4698-BC97-E1085820C2C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305176" y="5630863"/>
              <a:ext cx="146050" cy="309563"/>
            </a:xfrm>
            <a:custGeom>
              <a:avLst/>
              <a:gdLst/>
              <a:ahLst/>
              <a:cxnLst/>
              <a:rect l="0" t="0" r="r" b="b"/>
              <a:pathLst>
                <a:path w="37" h="79">
                  <a:moveTo>
                    <a:pt x="28" y="79"/>
                  </a:moveTo>
                  <a:cubicBezTo>
                    <a:pt x="37" y="79"/>
                    <a:pt x="37" y="79"/>
                    <a:pt x="37" y="79"/>
                  </a:cubicBezTo>
                  <a:cubicBezTo>
                    <a:pt x="24" y="53"/>
                    <a:pt x="12" y="27"/>
                    <a:pt x="0" y="0"/>
                  </a:cubicBezTo>
                  <a:cubicBezTo>
                    <a:pt x="8" y="27"/>
                    <a:pt x="17" y="53"/>
                    <a:pt x="28" y="79"/>
                  </a:cubicBezTo>
                  <a:close/>
                </a:path>
              </a:pathLst>
            </a:custGeom>
            <a:solidFill>
              <a:schemeClr val="tx2">
                <a:alpha val="20000"/>
              </a:schemeClr>
            </a:solidFill>
            <a:ln>
              <a:noFill/>
            </a:ln>
          </p:spPr>
        </p:sp>
        <p:sp>
          <p:nvSpPr>
            <p:cNvPr id="13" name="Freeform 15">
              <a:extLst>
                <a:ext uri="{FF2B5EF4-FFF2-40B4-BE49-F238E27FC236}">
                  <a16:creationId xmlns:a16="http://schemas.microsoft.com/office/drawing/2014/main" id="{62575C35-466F-42AE-87A1-D691849AB8C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73338" y="2817813"/>
              <a:ext cx="700088" cy="2835275"/>
            </a:xfrm>
            <a:custGeom>
              <a:avLst/>
              <a:gdLst/>
              <a:ahLst/>
              <a:cxnLst/>
              <a:rect l="0" t="0" r="r" b="b"/>
              <a:pathLst>
                <a:path w="178" h="722">
                  <a:moveTo>
                    <a:pt x="162" y="660"/>
                  </a:moveTo>
                  <a:cubicBezTo>
                    <a:pt x="145" y="618"/>
                    <a:pt x="130" y="576"/>
                    <a:pt x="116" y="534"/>
                  </a:cubicBezTo>
                  <a:cubicBezTo>
                    <a:pt x="84" y="437"/>
                    <a:pt x="59" y="337"/>
                    <a:pt x="40" y="236"/>
                  </a:cubicBezTo>
                  <a:cubicBezTo>
                    <a:pt x="29" y="175"/>
                    <a:pt x="20" y="113"/>
                    <a:pt x="12" y="51"/>
                  </a:cubicBezTo>
                  <a:cubicBezTo>
                    <a:pt x="8" y="34"/>
                    <a:pt x="4" y="17"/>
                    <a:pt x="0" y="0"/>
                  </a:cubicBezTo>
                  <a:cubicBezTo>
                    <a:pt x="8" y="79"/>
                    <a:pt x="19" y="159"/>
                    <a:pt x="33" y="237"/>
                  </a:cubicBezTo>
                  <a:cubicBezTo>
                    <a:pt x="51" y="339"/>
                    <a:pt x="76" y="439"/>
                    <a:pt x="107" y="537"/>
                  </a:cubicBezTo>
                  <a:cubicBezTo>
                    <a:pt x="123" y="586"/>
                    <a:pt x="141" y="634"/>
                    <a:pt x="160" y="681"/>
                  </a:cubicBezTo>
                  <a:cubicBezTo>
                    <a:pt x="166" y="695"/>
                    <a:pt x="172" y="708"/>
                    <a:pt x="178" y="722"/>
                  </a:cubicBezTo>
                  <a:cubicBezTo>
                    <a:pt x="176" y="717"/>
                    <a:pt x="175" y="713"/>
                    <a:pt x="174" y="708"/>
                  </a:cubicBezTo>
                  <a:cubicBezTo>
                    <a:pt x="169" y="692"/>
                    <a:pt x="165" y="676"/>
                    <a:pt x="162" y="660"/>
                  </a:cubicBezTo>
                  <a:close/>
                </a:path>
              </a:pathLst>
            </a:custGeom>
            <a:solidFill>
              <a:schemeClr val="tx2">
                <a:alpha val="20000"/>
              </a:schemeClr>
            </a:solidFill>
            <a:ln>
              <a:noFill/>
            </a:ln>
          </p:spPr>
        </p:sp>
        <p:sp>
          <p:nvSpPr>
            <p:cNvPr id="14" name="Freeform 16">
              <a:extLst>
                <a:ext uri="{FF2B5EF4-FFF2-40B4-BE49-F238E27FC236}">
                  <a16:creationId xmlns:a16="http://schemas.microsoft.com/office/drawing/2014/main" id="{58236F37-6119-45AC-80A0-CD2C311B505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06663" y="285750"/>
              <a:ext cx="90488" cy="2493963"/>
            </a:xfrm>
            <a:custGeom>
              <a:avLst/>
              <a:gdLst/>
              <a:ahLst/>
              <a:cxnLst/>
              <a:rect l="0" t="0" r="r" b="b"/>
              <a:pathLst>
                <a:path w="23" h="635">
                  <a:moveTo>
                    <a:pt x="11" y="577"/>
                  </a:moveTo>
                  <a:cubicBezTo>
                    <a:pt x="12" y="581"/>
                    <a:pt x="12" y="585"/>
                    <a:pt x="12" y="589"/>
                  </a:cubicBezTo>
                  <a:cubicBezTo>
                    <a:pt x="15" y="603"/>
                    <a:pt x="19" y="617"/>
                    <a:pt x="22" y="632"/>
                  </a:cubicBezTo>
                  <a:cubicBezTo>
                    <a:pt x="22" y="633"/>
                    <a:pt x="22" y="634"/>
                    <a:pt x="23" y="635"/>
                  </a:cubicBezTo>
                  <a:cubicBezTo>
                    <a:pt x="21" y="615"/>
                    <a:pt x="19" y="596"/>
                    <a:pt x="17" y="576"/>
                  </a:cubicBezTo>
                  <a:cubicBezTo>
                    <a:pt x="9" y="474"/>
                    <a:pt x="5" y="372"/>
                    <a:pt x="5" y="269"/>
                  </a:cubicBezTo>
                  <a:cubicBezTo>
                    <a:pt x="6" y="179"/>
                    <a:pt x="9" y="90"/>
                    <a:pt x="15" y="0"/>
                  </a:cubicBezTo>
                  <a:cubicBezTo>
                    <a:pt x="12" y="0"/>
                    <a:pt x="12" y="0"/>
                    <a:pt x="12" y="0"/>
                  </a:cubicBezTo>
                  <a:cubicBezTo>
                    <a:pt x="5" y="89"/>
                    <a:pt x="2" y="179"/>
                    <a:pt x="1" y="269"/>
                  </a:cubicBezTo>
                  <a:cubicBezTo>
                    <a:pt x="0" y="372"/>
                    <a:pt x="3" y="474"/>
                    <a:pt x="11" y="577"/>
                  </a:cubicBezTo>
                  <a:close/>
                </a:path>
              </a:pathLst>
            </a:custGeom>
            <a:solidFill>
              <a:schemeClr val="tx2">
                <a:alpha val="20000"/>
              </a:schemeClr>
            </a:solidFill>
            <a:ln>
              <a:noFill/>
            </a:ln>
          </p:spPr>
        </p:sp>
        <p:sp>
          <p:nvSpPr>
            <p:cNvPr id="15" name="Freeform 17">
              <a:extLst>
                <a:ext uri="{FF2B5EF4-FFF2-40B4-BE49-F238E27FC236}">
                  <a16:creationId xmlns:a16="http://schemas.microsoft.com/office/drawing/2014/main" id="{F3FDD799-39FE-4D6F-9A64-2F472B2150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2554288" y="2598738"/>
              <a:ext cx="66675" cy="420688"/>
            </a:xfrm>
            <a:custGeom>
              <a:avLst/>
              <a:gdLst/>
              <a:ahLst/>
              <a:cxnLst/>
              <a:rect l="0" t="0" r="r" b="b"/>
              <a:pathLst>
                <a:path w="17" h="107">
                  <a:moveTo>
                    <a:pt x="0" y="0"/>
                  </a:moveTo>
                  <a:cubicBezTo>
                    <a:pt x="2" y="19"/>
                    <a:pt x="3" y="37"/>
                    <a:pt x="5" y="56"/>
                  </a:cubicBezTo>
                  <a:cubicBezTo>
                    <a:pt x="9" y="73"/>
                    <a:pt x="13" y="90"/>
                    <a:pt x="17" y="107"/>
                  </a:cubicBezTo>
                  <a:cubicBezTo>
                    <a:pt x="15" y="87"/>
                    <a:pt x="13" y="66"/>
                    <a:pt x="11" y="46"/>
                  </a:cubicBezTo>
                  <a:cubicBezTo>
                    <a:pt x="10" y="45"/>
                    <a:pt x="10" y="44"/>
                    <a:pt x="10" y="43"/>
                  </a:cubicBezTo>
                  <a:cubicBezTo>
                    <a:pt x="7" y="28"/>
                    <a:pt x="3" y="14"/>
                    <a:pt x="0" y="0"/>
                  </a:cubicBezTo>
                  <a:close/>
                </a:path>
              </a:pathLst>
            </a:custGeom>
            <a:solidFill>
              <a:schemeClr val="tx2">
                <a:alpha val="20000"/>
              </a:schemeClr>
            </a:solidFill>
            <a:ln>
              <a:noFill/>
            </a:ln>
          </p:spPr>
        </p:sp>
        <p:sp>
          <p:nvSpPr>
            <p:cNvPr id="16" name="Freeform 18">
              <a:extLst>
                <a:ext uri="{FF2B5EF4-FFF2-40B4-BE49-F238E27FC236}">
                  <a16:creationId xmlns:a16="http://schemas.microsoft.com/office/drawing/2014/main" id="{9820D241-1D49-442C-A95A-00BC1BF9E29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757738"/>
              <a:ext cx="161925" cy="873125"/>
            </a:xfrm>
            <a:custGeom>
              <a:avLst/>
              <a:gdLst/>
              <a:ahLst/>
              <a:cxnLst/>
              <a:rect l="0" t="0" r="r" b="b"/>
              <a:pathLst>
                <a:path w="41" h="222">
                  <a:moveTo>
                    <a:pt x="0" y="0"/>
                  </a:moveTo>
                  <a:cubicBezTo>
                    <a:pt x="0" y="31"/>
                    <a:pt x="2" y="62"/>
                    <a:pt x="5" y="93"/>
                  </a:cubicBezTo>
                  <a:cubicBezTo>
                    <a:pt x="8" y="117"/>
                    <a:pt x="12" y="142"/>
                    <a:pt x="17" y="166"/>
                  </a:cubicBezTo>
                  <a:cubicBezTo>
                    <a:pt x="19" y="172"/>
                    <a:pt x="22" y="178"/>
                    <a:pt x="24" y="184"/>
                  </a:cubicBezTo>
                  <a:cubicBezTo>
                    <a:pt x="30" y="197"/>
                    <a:pt x="35" y="209"/>
                    <a:pt x="41" y="222"/>
                  </a:cubicBezTo>
                  <a:cubicBezTo>
                    <a:pt x="40" y="219"/>
                    <a:pt x="39" y="215"/>
                    <a:pt x="38" y="212"/>
                  </a:cubicBezTo>
                  <a:cubicBezTo>
                    <a:pt x="26" y="172"/>
                    <a:pt x="18" y="132"/>
                    <a:pt x="13" y="92"/>
                  </a:cubicBezTo>
                  <a:cubicBezTo>
                    <a:pt x="11" y="68"/>
                    <a:pt x="9" y="45"/>
                    <a:pt x="8" y="22"/>
                  </a:cubicBezTo>
                  <a:cubicBezTo>
                    <a:pt x="8" y="21"/>
                    <a:pt x="7" y="20"/>
                    <a:pt x="7" y="18"/>
                  </a:cubicBezTo>
                  <a:cubicBezTo>
                    <a:pt x="5" y="12"/>
                    <a:pt x="2" y="6"/>
                    <a:pt x="0" y="0"/>
                  </a:cubicBezTo>
                  <a:close/>
                </a:path>
              </a:pathLst>
            </a:custGeom>
            <a:solidFill>
              <a:schemeClr val="tx2">
                <a:alpha val="20000"/>
              </a:schemeClr>
            </a:solidFill>
            <a:ln>
              <a:noFill/>
            </a:ln>
          </p:spPr>
        </p:sp>
        <p:sp>
          <p:nvSpPr>
            <p:cNvPr id="17" name="Freeform 19">
              <a:extLst>
                <a:ext uri="{FF2B5EF4-FFF2-40B4-BE49-F238E27FC236}">
                  <a16:creationId xmlns:a16="http://schemas.microsoft.com/office/drawing/2014/main" id="{EBC2197C-B383-4866-8ABD-74222400BE8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8013" y="1282700"/>
              <a:ext cx="1768475" cy="3448050"/>
            </a:xfrm>
            <a:custGeom>
              <a:avLst/>
              <a:gdLst/>
              <a:ahLst/>
              <a:cxnLst/>
              <a:rect l="0" t="0" r="r" b="b"/>
              <a:pathLst>
                <a:path w="450" h="878">
                  <a:moveTo>
                    <a:pt x="7" y="854"/>
                  </a:moveTo>
                  <a:cubicBezTo>
                    <a:pt x="10" y="772"/>
                    <a:pt x="26" y="691"/>
                    <a:pt x="50" y="613"/>
                  </a:cubicBezTo>
                  <a:cubicBezTo>
                    <a:pt x="75" y="535"/>
                    <a:pt x="109" y="460"/>
                    <a:pt x="149" y="388"/>
                  </a:cubicBezTo>
                  <a:cubicBezTo>
                    <a:pt x="189" y="316"/>
                    <a:pt x="235" y="248"/>
                    <a:pt x="285" y="183"/>
                  </a:cubicBezTo>
                  <a:cubicBezTo>
                    <a:pt x="310" y="151"/>
                    <a:pt x="337" y="119"/>
                    <a:pt x="364" y="89"/>
                  </a:cubicBezTo>
                  <a:cubicBezTo>
                    <a:pt x="378" y="74"/>
                    <a:pt x="392" y="58"/>
                    <a:pt x="406" y="44"/>
                  </a:cubicBezTo>
                  <a:cubicBezTo>
                    <a:pt x="421" y="29"/>
                    <a:pt x="435" y="15"/>
                    <a:pt x="450" y="1"/>
                  </a:cubicBezTo>
                  <a:cubicBezTo>
                    <a:pt x="450" y="0"/>
                    <a:pt x="450" y="0"/>
                    <a:pt x="450" y="0"/>
                  </a:cubicBezTo>
                  <a:cubicBezTo>
                    <a:pt x="434" y="14"/>
                    <a:pt x="420" y="28"/>
                    <a:pt x="405" y="43"/>
                  </a:cubicBezTo>
                  <a:cubicBezTo>
                    <a:pt x="391" y="57"/>
                    <a:pt x="377" y="72"/>
                    <a:pt x="363" y="88"/>
                  </a:cubicBezTo>
                  <a:cubicBezTo>
                    <a:pt x="335" y="118"/>
                    <a:pt x="308" y="149"/>
                    <a:pt x="283" y="181"/>
                  </a:cubicBezTo>
                  <a:cubicBezTo>
                    <a:pt x="232" y="246"/>
                    <a:pt x="185" y="314"/>
                    <a:pt x="145" y="386"/>
                  </a:cubicBezTo>
                  <a:cubicBezTo>
                    <a:pt x="104" y="457"/>
                    <a:pt x="70" y="533"/>
                    <a:pt x="45" y="611"/>
                  </a:cubicBezTo>
                  <a:cubicBezTo>
                    <a:pt x="19" y="690"/>
                    <a:pt x="3" y="771"/>
                    <a:pt x="0" y="854"/>
                  </a:cubicBezTo>
                  <a:cubicBezTo>
                    <a:pt x="0" y="856"/>
                    <a:pt x="0" y="857"/>
                    <a:pt x="0" y="859"/>
                  </a:cubicBezTo>
                  <a:cubicBezTo>
                    <a:pt x="2" y="865"/>
                    <a:pt x="4" y="872"/>
                    <a:pt x="7" y="878"/>
                  </a:cubicBezTo>
                  <a:cubicBezTo>
                    <a:pt x="7" y="870"/>
                    <a:pt x="7" y="862"/>
                    <a:pt x="7" y="854"/>
                  </a:cubicBezTo>
                  <a:close/>
                </a:path>
              </a:pathLst>
            </a:custGeom>
            <a:solidFill>
              <a:schemeClr val="tx2">
                <a:alpha val="20000"/>
              </a:schemeClr>
            </a:solidFill>
            <a:ln>
              <a:noFill/>
            </a:ln>
          </p:spPr>
        </p:sp>
        <p:sp>
          <p:nvSpPr>
            <p:cNvPr id="18" name="Freeform 20">
              <a:extLst>
                <a:ext uri="{FF2B5EF4-FFF2-40B4-BE49-F238E27FC236}">
                  <a16:creationId xmlns:a16="http://schemas.microsoft.com/office/drawing/2014/main" id="{404B06AA-FC93-4471-9DE4-56A401E70A5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73426" y="5653088"/>
              <a:ext cx="138113" cy="287338"/>
            </a:xfrm>
            <a:custGeom>
              <a:avLst/>
              <a:gdLst/>
              <a:ahLst/>
              <a:cxnLst/>
              <a:rect l="0" t="0" r="r" b="b"/>
              <a:pathLst>
                <a:path w="35" h="73">
                  <a:moveTo>
                    <a:pt x="0" y="0"/>
                  </a:moveTo>
                  <a:cubicBezTo>
                    <a:pt x="7" y="24"/>
                    <a:pt x="16" y="49"/>
                    <a:pt x="26" y="73"/>
                  </a:cubicBezTo>
                  <a:cubicBezTo>
                    <a:pt x="35" y="73"/>
                    <a:pt x="35" y="73"/>
                    <a:pt x="35" y="73"/>
                  </a:cubicBezTo>
                  <a:cubicBezTo>
                    <a:pt x="23" y="49"/>
                    <a:pt x="11" y="24"/>
                    <a:pt x="0" y="0"/>
                  </a:cubicBezTo>
                  <a:close/>
                </a:path>
              </a:pathLst>
            </a:custGeom>
            <a:solidFill>
              <a:schemeClr val="tx2">
                <a:alpha val="20000"/>
              </a:schemeClr>
            </a:solidFill>
            <a:ln>
              <a:noFill/>
            </a:ln>
          </p:spPr>
        </p:sp>
        <p:sp>
          <p:nvSpPr>
            <p:cNvPr id="19" name="Freeform 21">
              <a:extLst>
                <a:ext uri="{FF2B5EF4-FFF2-40B4-BE49-F238E27FC236}">
                  <a16:creationId xmlns:a16="http://schemas.microsoft.com/office/drawing/2014/main" id="{E580600C-013F-4FAF-8FB7-4CC0FA80A92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143251" y="4656138"/>
              <a:ext cx="31750" cy="188913"/>
            </a:xfrm>
            <a:custGeom>
              <a:avLst/>
              <a:gdLst/>
              <a:ahLst/>
              <a:cxnLst/>
              <a:rect l="0" t="0" r="r" b="b"/>
              <a:pathLst>
                <a:path w="8" h="48">
                  <a:moveTo>
                    <a:pt x="7" y="44"/>
                  </a:moveTo>
                  <a:cubicBezTo>
                    <a:pt x="7" y="46"/>
                    <a:pt x="8" y="47"/>
                    <a:pt x="8" y="48"/>
                  </a:cubicBezTo>
                  <a:cubicBezTo>
                    <a:pt x="8" y="38"/>
                    <a:pt x="8" y="29"/>
                    <a:pt x="8" y="19"/>
                  </a:cubicBezTo>
                  <a:cubicBezTo>
                    <a:pt x="5" y="13"/>
                    <a:pt x="3" y="6"/>
                    <a:pt x="1" y="0"/>
                  </a:cubicBezTo>
                  <a:cubicBezTo>
                    <a:pt x="0" y="9"/>
                    <a:pt x="0" y="17"/>
                    <a:pt x="0" y="26"/>
                  </a:cubicBezTo>
                  <a:cubicBezTo>
                    <a:pt x="2" y="32"/>
                    <a:pt x="5" y="38"/>
                    <a:pt x="7" y="44"/>
                  </a:cubicBezTo>
                  <a:close/>
                </a:path>
              </a:pathLst>
            </a:custGeom>
            <a:solidFill>
              <a:schemeClr val="tx2">
                <a:alpha val="20000"/>
              </a:schemeClr>
            </a:solidFill>
            <a:ln>
              <a:noFill/>
            </a:ln>
          </p:spPr>
        </p:sp>
        <p:sp>
          <p:nvSpPr>
            <p:cNvPr id="20" name="Freeform 22">
              <a:extLst>
                <a:ext uri="{FF2B5EF4-FFF2-40B4-BE49-F238E27FC236}">
                  <a16:creationId xmlns:a16="http://schemas.microsoft.com/office/drawing/2014/main" id="{9BFCF199-64B2-4AEE-88C4-E954ABF362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3211513" y="5410200"/>
              <a:ext cx="203200" cy="530225"/>
            </a:xfrm>
            <a:custGeom>
              <a:avLst/>
              <a:gdLst/>
              <a:ahLst/>
              <a:cxnLst/>
              <a:rect l="0" t="0" r="r" b="b"/>
              <a:pathLst>
                <a:path w="52" h="135">
                  <a:moveTo>
                    <a:pt x="7" y="18"/>
                  </a:moveTo>
                  <a:cubicBezTo>
                    <a:pt x="5" y="12"/>
                    <a:pt x="2" y="6"/>
                    <a:pt x="0" y="0"/>
                  </a:cubicBezTo>
                  <a:cubicBezTo>
                    <a:pt x="3" y="16"/>
                    <a:pt x="7" y="32"/>
                    <a:pt x="12" y="48"/>
                  </a:cubicBezTo>
                  <a:cubicBezTo>
                    <a:pt x="13" y="53"/>
                    <a:pt x="14" y="57"/>
                    <a:pt x="16" y="62"/>
                  </a:cubicBezTo>
                  <a:cubicBezTo>
                    <a:pt x="27" y="86"/>
                    <a:pt x="39" y="111"/>
                    <a:pt x="51" y="135"/>
                  </a:cubicBezTo>
                  <a:cubicBezTo>
                    <a:pt x="52" y="135"/>
                    <a:pt x="52" y="135"/>
                    <a:pt x="52" y="135"/>
                  </a:cubicBezTo>
                  <a:cubicBezTo>
                    <a:pt x="41" y="109"/>
                    <a:pt x="32" y="83"/>
                    <a:pt x="24" y="56"/>
                  </a:cubicBezTo>
                  <a:cubicBezTo>
                    <a:pt x="18" y="43"/>
                    <a:pt x="13" y="31"/>
                    <a:pt x="7" y="18"/>
                  </a:cubicBezTo>
                  <a:close/>
                </a:path>
              </a:pathLst>
            </a:custGeom>
            <a:solidFill>
              <a:schemeClr val="tx2">
                <a:alpha val="20000"/>
              </a:schemeClr>
            </a:solidFill>
            <a:ln>
              <a:noFill/>
            </a:ln>
          </p:spPr>
        </p:sp>
      </p:grpSp>
      <p:grpSp>
        <p:nvGrpSpPr>
          <p:cNvPr id="22" name="Group 21">
            <a:extLst>
              <a:ext uri="{FF2B5EF4-FFF2-40B4-BE49-F238E27FC236}">
                <a16:creationId xmlns:a16="http://schemas.microsoft.com/office/drawing/2014/main" id="{E312DBA5-56D8-42B2-BA94-28168C2A670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7224" y="-786"/>
            <a:ext cx="2356675" cy="6854040"/>
            <a:chOff x="6627813" y="194833"/>
            <a:chExt cx="1952625" cy="5678918"/>
          </a:xfrm>
        </p:grpSpPr>
        <p:sp>
          <p:nvSpPr>
            <p:cNvPr id="23" name="Freeform 27">
              <a:extLst>
                <a:ext uri="{FF2B5EF4-FFF2-40B4-BE49-F238E27FC236}">
                  <a16:creationId xmlns:a16="http://schemas.microsoft.com/office/drawing/2014/main" id="{7AD46C74-3117-46B0-B267-0F61B57CAC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627813" y="194833"/>
              <a:ext cx="409575" cy="3646488"/>
            </a:xfrm>
            <a:custGeom>
              <a:avLst/>
              <a:gdLst/>
              <a:ahLst/>
              <a:cxnLst/>
              <a:rect l="0" t="0" r="r" b="b"/>
              <a:pathLst>
                <a:path w="103" h="920">
                  <a:moveTo>
                    <a:pt x="7" y="210"/>
                  </a:moveTo>
                  <a:cubicBezTo>
                    <a:pt x="11" y="288"/>
                    <a:pt x="17" y="367"/>
                    <a:pt x="26" y="445"/>
                  </a:cubicBezTo>
                  <a:cubicBezTo>
                    <a:pt x="34" y="523"/>
                    <a:pt x="44" y="601"/>
                    <a:pt x="57" y="679"/>
                  </a:cubicBezTo>
                  <a:cubicBezTo>
                    <a:pt x="69" y="757"/>
                    <a:pt x="84" y="834"/>
                    <a:pt x="101" y="911"/>
                  </a:cubicBezTo>
                  <a:cubicBezTo>
                    <a:pt x="102" y="914"/>
                    <a:pt x="103" y="917"/>
                    <a:pt x="103" y="920"/>
                  </a:cubicBezTo>
                  <a:cubicBezTo>
                    <a:pt x="102" y="905"/>
                    <a:pt x="100" y="889"/>
                    <a:pt x="99" y="874"/>
                  </a:cubicBezTo>
                  <a:cubicBezTo>
                    <a:pt x="99" y="871"/>
                    <a:pt x="99" y="868"/>
                    <a:pt x="99" y="866"/>
                  </a:cubicBezTo>
                  <a:cubicBezTo>
                    <a:pt x="85" y="803"/>
                    <a:pt x="73" y="741"/>
                    <a:pt x="63" y="678"/>
                  </a:cubicBezTo>
                  <a:cubicBezTo>
                    <a:pt x="50" y="600"/>
                    <a:pt x="39" y="523"/>
                    <a:pt x="30" y="444"/>
                  </a:cubicBezTo>
                  <a:cubicBezTo>
                    <a:pt x="21" y="366"/>
                    <a:pt x="14" y="288"/>
                    <a:pt x="9" y="209"/>
                  </a:cubicBezTo>
                  <a:cubicBezTo>
                    <a:pt x="7" y="170"/>
                    <a:pt x="5" y="131"/>
                    <a:pt x="3" y="92"/>
                  </a:cubicBezTo>
                  <a:cubicBezTo>
                    <a:pt x="2" y="61"/>
                    <a:pt x="1" y="31"/>
                    <a:pt x="1" y="0"/>
                  </a:cubicBezTo>
                  <a:cubicBezTo>
                    <a:pt x="0" y="0"/>
                    <a:pt x="0" y="0"/>
                    <a:pt x="0" y="0"/>
                  </a:cubicBezTo>
                  <a:cubicBezTo>
                    <a:pt x="0" y="31"/>
                    <a:pt x="1" y="61"/>
                    <a:pt x="1" y="92"/>
                  </a:cubicBezTo>
                  <a:cubicBezTo>
                    <a:pt x="3" y="131"/>
                    <a:pt x="4" y="170"/>
                    <a:pt x="7" y="210"/>
                  </a:cubicBezTo>
                  <a:close/>
                </a:path>
              </a:pathLst>
            </a:custGeom>
            <a:solidFill>
              <a:schemeClr val="tx2"/>
            </a:solidFill>
            <a:ln>
              <a:noFill/>
            </a:ln>
          </p:spPr>
        </p:sp>
        <p:sp>
          <p:nvSpPr>
            <p:cNvPr id="24" name="Freeform 28">
              <a:extLst>
                <a:ext uri="{FF2B5EF4-FFF2-40B4-BE49-F238E27FC236}">
                  <a16:creationId xmlns:a16="http://schemas.microsoft.com/office/drawing/2014/main" id="{8C13B810-9664-45D8-8510-D6ED0ADD72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61201" y="3771900"/>
              <a:ext cx="350838" cy="1309688"/>
            </a:xfrm>
            <a:custGeom>
              <a:avLst/>
              <a:gdLst/>
              <a:ahLst/>
              <a:cxnLst/>
              <a:rect l="0" t="0" r="r" b="b"/>
              <a:pathLst>
                <a:path w="88" h="330">
                  <a:moveTo>
                    <a:pt x="53" y="229"/>
                  </a:moveTo>
                  <a:cubicBezTo>
                    <a:pt x="64" y="263"/>
                    <a:pt x="75" y="297"/>
                    <a:pt x="88" y="330"/>
                  </a:cubicBezTo>
                  <a:cubicBezTo>
                    <a:pt x="88" y="323"/>
                    <a:pt x="88" y="315"/>
                    <a:pt x="88" y="308"/>
                  </a:cubicBezTo>
                  <a:cubicBezTo>
                    <a:pt x="88" y="307"/>
                    <a:pt x="88" y="305"/>
                    <a:pt x="88" y="304"/>
                  </a:cubicBezTo>
                  <a:cubicBezTo>
                    <a:pt x="79" y="278"/>
                    <a:pt x="70" y="252"/>
                    <a:pt x="62" y="226"/>
                  </a:cubicBezTo>
                  <a:cubicBezTo>
                    <a:pt x="38" y="152"/>
                    <a:pt x="17" y="76"/>
                    <a:pt x="0" y="0"/>
                  </a:cubicBezTo>
                  <a:cubicBezTo>
                    <a:pt x="2" y="21"/>
                    <a:pt x="4" y="42"/>
                    <a:pt x="7" y="63"/>
                  </a:cubicBezTo>
                  <a:cubicBezTo>
                    <a:pt x="21" y="119"/>
                    <a:pt x="36" y="174"/>
                    <a:pt x="53" y="229"/>
                  </a:cubicBezTo>
                  <a:close/>
                </a:path>
              </a:pathLst>
            </a:custGeom>
            <a:solidFill>
              <a:schemeClr val="tx2"/>
            </a:solidFill>
            <a:ln>
              <a:noFill/>
            </a:ln>
          </p:spPr>
        </p:sp>
        <p:sp>
          <p:nvSpPr>
            <p:cNvPr id="25" name="Freeform 29">
              <a:extLst>
                <a:ext uri="{FF2B5EF4-FFF2-40B4-BE49-F238E27FC236}">
                  <a16:creationId xmlns:a16="http://schemas.microsoft.com/office/drawing/2014/main" id="{10306E52-A922-4458-BCCE-C3C840CC755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053013"/>
              <a:ext cx="357188" cy="820738"/>
            </a:xfrm>
            <a:custGeom>
              <a:avLst/>
              <a:gdLst/>
              <a:ahLst/>
              <a:cxnLst/>
              <a:rect l="0" t="0" r="r" b="b"/>
              <a:pathLst>
                <a:path w="90" h="207">
                  <a:moveTo>
                    <a:pt x="6" y="15"/>
                  </a:moveTo>
                  <a:cubicBezTo>
                    <a:pt x="4" y="10"/>
                    <a:pt x="2" y="5"/>
                    <a:pt x="0" y="0"/>
                  </a:cubicBezTo>
                  <a:cubicBezTo>
                    <a:pt x="0" y="9"/>
                    <a:pt x="0" y="19"/>
                    <a:pt x="1" y="29"/>
                  </a:cubicBezTo>
                  <a:cubicBezTo>
                    <a:pt x="14" y="62"/>
                    <a:pt x="27" y="95"/>
                    <a:pt x="42" y="127"/>
                  </a:cubicBezTo>
                  <a:cubicBezTo>
                    <a:pt x="54" y="154"/>
                    <a:pt x="67" y="181"/>
                    <a:pt x="80" y="207"/>
                  </a:cubicBezTo>
                  <a:cubicBezTo>
                    <a:pt x="90" y="207"/>
                    <a:pt x="90" y="207"/>
                    <a:pt x="90" y="207"/>
                  </a:cubicBezTo>
                  <a:cubicBezTo>
                    <a:pt x="76" y="180"/>
                    <a:pt x="63" y="152"/>
                    <a:pt x="50" y="123"/>
                  </a:cubicBezTo>
                  <a:cubicBezTo>
                    <a:pt x="34" y="88"/>
                    <a:pt x="20" y="51"/>
                    <a:pt x="6" y="15"/>
                  </a:cubicBezTo>
                  <a:close/>
                </a:path>
              </a:pathLst>
            </a:custGeom>
            <a:solidFill>
              <a:schemeClr val="tx2"/>
            </a:solidFill>
            <a:ln>
              <a:noFill/>
            </a:ln>
          </p:spPr>
        </p:sp>
        <p:sp>
          <p:nvSpPr>
            <p:cNvPr id="26" name="Freeform 30">
              <a:extLst>
                <a:ext uri="{FF2B5EF4-FFF2-40B4-BE49-F238E27FC236}">
                  <a16:creationId xmlns:a16="http://schemas.microsoft.com/office/drawing/2014/main" id="{CB578819-B7E7-4250-932F-52AE2A2A9A5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37388" y="3811588"/>
              <a:ext cx="457200" cy="1852613"/>
            </a:xfrm>
            <a:custGeom>
              <a:avLst/>
              <a:gdLst/>
              <a:ahLst/>
              <a:cxnLst/>
              <a:rect l="0" t="0" r="r" b="b"/>
              <a:pathLst>
                <a:path w="115" h="467">
                  <a:moveTo>
                    <a:pt x="101" y="409"/>
                  </a:moveTo>
                  <a:cubicBezTo>
                    <a:pt x="93" y="388"/>
                    <a:pt x="85" y="366"/>
                    <a:pt x="78" y="344"/>
                  </a:cubicBezTo>
                  <a:cubicBezTo>
                    <a:pt x="57" y="281"/>
                    <a:pt x="41" y="216"/>
                    <a:pt x="29" y="151"/>
                  </a:cubicBezTo>
                  <a:cubicBezTo>
                    <a:pt x="22" y="119"/>
                    <a:pt x="17" y="86"/>
                    <a:pt x="13" y="53"/>
                  </a:cubicBezTo>
                  <a:cubicBezTo>
                    <a:pt x="9" y="35"/>
                    <a:pt x="4" y="18"/>
                    <a:pt x="0" y="0"/>
                  </a:cubicBezTo>
                  <a:cubicBezTo>
                    <a:pt x="5" y="51"/>
                    <a:pt x="12" y="102"/>
                    <a:pt x="21" y="152"/>
                  </a:cubicBezTo>
                  <a:cubicBezTo>
                    <a:pt x="33" y="218"/>
                    <a:pt x="49" y="283"/>
                    <a:pt x="69" y="347"/>
                  </a:cubicBezTo>
                  <a:cubicBezTo>
                    <a:pt x="79" y="378"/>
                    <a:pt x="90" y="410"/>
                    <a:pt x="103" y="441"/>
                  </a:cubicBezTo>
                  <a:cubicBezTo>
                    <a:pt x="107" y="449"/>
                    <a:pt x="111" y="458"/>
                    <a:pt x="115" y="467"/>
                  </a:cubicBezTo>
                  <a:cubicBezTo>
                    <a:pt x="114" y="464"/>
                    <a:pt x="113" y="461"/>
                    <a:pt x="112" y="458"/>
                  </a:cubicBezTo>
                  <a:cubicBezTo>
                    <a:pt x="108" y="442"/>
                    <a:pt x="104" y="425"/>
                    <a:pt x="101" y="409"/>
                  </a:cubicBezTo>
                  <a:close/>
                </a:path>
              </a:pathLst>
            </a:custGeom>
            <a:solidFill>
              <a:schemeClr val="tx2"/>
            </a:solidFill>
            <a:ln>
              <a:noFill/>
            </a:ln>
          </p:spPr>
        </p:sp>
        <p:sp>
          <p:nvSpPr>
            <p:cNvPr id="27" name="Freeform 31">
              <a:extLst>
                <a:ext uri="{FF2B5EF4-FFF2-40B4-BE49-F238E27FC236}">
                  <a16:creationId xmlns:a16="http://schemas.microsoft.com/office/drawing/2014/main" id="{454B9C91-B623-424A-B16E-F764F189D30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6992938" y="1263650"/>
              <a:ext cx="144463" cy="2508250"/>
            </a:xfrm>
            <a:custGeom>
              <a:avLst/>
              <a:gdLst/>
              <a:ahLst/>
              <a:cxnLst/>
              <a:rect l="0" t="0" r="r" b="b"/>
              <a:pathLst>
                <a:path w="36" h="633">
                  <a:moveTo>
                    <a:pt x="17" y="633"/>
                  </a:moveTo>
                  <a:cubicBezTo>
                    <a:pt x="15" y="621"/>
                    <a:pt x="14" y="609"/>
                    <a:pt x="13" y="597"/>
                  </a:cubicBezTo>
                  <a:cubicBezTo>
                    <a:pt x="8" y="530"/>
                    <a:pt x="5" y="464"/>
                    <a:pt x="5" y="398"/>
                  </a:cubicBezTo>
                  <a:cubicBezTo>
                    <a:pt x="5" y="331"/>
                    <a:pt x="8" y="265"/>
                    <a:pt x="13" y="198"/>
                  </a:cubicBezTo>
                  <a:cubicBezTo>
                    <a:pt x="15" y="165"/>
                    <a:pt x="18" y="132"/>
                    <a:pt x="22" y="99"/>
                  </a:cubicBezTo>
                  <a:cubicBezTo>
                    <a:pt x="26" y="66"/>
                    <a:pt x="30" y="33"/>
                    <a:pt x="36" y="0"/>
                  </a:cubicBezTo>
                  <a:cubicBezTo>
                    <a:pt x="35" y="0"/>
                    <a:pt x="35" y="0"/>
                    <a:pt x="35" y="0"/>
                  </a:cubicBezTo>
                  <a:cubicBezTo>
                    <a:pt x="29" y="33"/>
                    <a:pt x="24" y="66"/>
                    <a:pt x="20" y="99"/>
                  </a:cubicBezTo>
                  <a:cubicBezTo>
                    <a:pt x="16" y="132"/>
                    <a:pt x="13" y="165"/>
                    <a:pt x="10" y="198"/>
                  </a:cubicBezTo>
                  <a:cubicBezTo>
                    <a:pt x="4" y="264"/>
                    <a:pt x="1" y="331"/>
                    <a:pt x="1" y="398"/>
                  </a:cubicBezTo>
                  <a:cubicBezTo>
                    <a:pt x="0" y="461"/>
                    <a:pt x="2" y="525"/>
                    <a:pt x="7" y="589"/>
                  </a:cubicBezTo>
                  <a:cubicBezTo>
                    <a:pt x="10" y="603"/>
                    <a:pt x="13" y="618"/>
                    <a:pt x="16" y="632"/>
                  </a:cubicBezTo>
                  <a:cubicBezTo>
                    <a:pt x="16" y="632"/>
                    <a:pt x="17" y="633"/>
                    <a:pt x="17" y="633"/>
                  </a:cubicBezTo>
                  <a:close/>
                </a:path>
              </a:pathLst>
            </a:custGeom>
            <a:solidFill>
              <a:schemeClr val="tx2"/>
            </a:solidFill>
            <a:ln>
              <a:noFill/>
            </a:ln>
          </p:spPr>
        </p:sp>
        <p:sp>
          <p:nvSpPr>
            <p:cNvPr id="28" name="Freeform 32">
              <a:extLst>
                <a:ext uri="{FF2B5EF4-FFF2-40B4-BE49-F238E27FC236}">
                  <a16:creationId xmlns:a16="http://schemas.microsoft.com/office/drawing/2014/main" id="{EFD03C4A-8484-41E6-B458-032F1DCA70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526338" y="5640388"/>
              <a:ext cx="111125" cy="233363"/>
            </a:xfrm>
            <a:custGeom>
              <a:avLst/>
              <a:gdLst/>
              <a:ahLst/>
              <a:cxnLst/>
              <a:rect l="0" t="0" r="r" b="b"/>
              <a:pathLst>
                <a:path w="28" h="59">
                  <a:moveTo>
                    <a:pt x="22" y="59"/>
                  </a:moveTo>
                  <a:cubicBezTo>
                    <a:pt x="28" y="59"/>
                    <a:pt x="28" y="59"/>
                    <a:pt x="28" y="59"/>
                  </a:cubicBezTo>
                  <a:cubicBezTo>
                    <a:pt x="18" y="40"/>
                    <a:pt x="9" y="20"/>
                    <a:pt x="0" y="0"/>
                  </a:cubicBezTo>
                  <a:cubicBezTo>
                    <a:pt x="6" y="20"/>
                    <a:pt x="13" y="40"/>
                    <a:pt x="22" y="59"/>
                  </a:cubicBezTo>
                  <a:close/>
                </a:path>
              </a:pathLst>
            </a:custGeom>
            <a:solidFill>
              <a:schemeClr val="tx2"/>
            </a:solidFill>
            <a:ln>
              <a:noFill/>
            </a:ln>
          </p:spPr>
        </p:sp>
        <p:sp>
          <p:nvSpPr>
            <p:cNvPr id="29" name="Freeform 33">
              <a:extLst>
                <a:ext uri="{FF2B5EF4-FFF2-40B4-BE49-F238E27FC236}">
                  <a16:creationId xmlns:a16="http://schemas.microsoft.com/office/drawing/2014/main" id="{DDC2F3C3-1D4E-4913-9C5C-F9A65B47E5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021513" y="3598863"/>
              <a:ext cx="68263" cy="423863"/>
            </a:xfrm>
            <a:custGeom>
              <a:avLst/>
              <a:gdLst/>
              <a:ahLst/>
              <a:cxnLst/>
              <a:rect l="0" t="0" r="r" b="b"/>
              <a:pathLst>
                <a:path w="17" h="107">
                  <a:moveTo>
                    <a:pt x="4" y="54"/>
                  </a:moveTo>
                  <a:cubicBezTo>
                    <a:pt x="8" y="72"/>
                    <a:pt x="13" y="89"/>
                    <a:pt x="17" y="107"/>
                  </a:cubicBezTo>
                  <a:cubicBezTo>
                    <a:pt x="14" y="86"/>
                    <a:pt x="12" y="65"/>
                    <a:pt x="10" y="44"/>
                  </a:cubicBezTo>
                  <a:cubicBezTo>
                    <a:pt x="10" y="44"/>
                    <a:pt x="9" y="43"/>
                    <a:pt x="9" y="43"/>
                  </a:cubicBezTo>
                  <a:cubicBezTo>
                    <a:pt x="6" y="29"/>
                    <a:pt x="3" y="14"/>
                    <a:pt x="0" y="0"/>
                  </a:cubicBezTo>
                  <a:cubicBezTo>
                    <a:pt x="0" y="2"/>
                    <a:pt x="0" y="5"/>
                    <a:pt x="0" y="8"/>
                  </a:cubicBezTo>
                  <a:cubicBezTo>
                    <a:pt x="1" y="23"/>
                    <a:pt x="3" y="39"/>
                    <a:pt x="4" y="54"/>
                  </a:cubicBezTo>
                  <a:close/>
                </a:path>
              </a:pathLst>
            </a:custGeom>
            <a:solidFill>
              <a:schemeClr val="tx2"/>
            </a:solidFill>
            <a:ln>
              <a:noFill/>
            </a:ln>
          </p:spPr>
        </p:sp>
        <p:sp>
          <p:nvSpPr>
            <p:cNvPr id="30" name="Freeform 34">
              <a:extLst>
                <a:ext uri="{FF2B5EF4-FFF2-40B4-BE49-F238E27FC236}">
                  <a16:creationId xmlns:a16="http://schemas.microsoft.com/office/drawing/2014/main" id="{1E15BCA2-2420-4C53-ADE9-40FBAC23844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2801938"/>
              <a:ext cx="1168400" cy="2251075"/>
            </a:xfrm>
            <a:custGeom>
              <a:avLst/>
              <a:gdLst/>
              <a:ahLst/>
              <a:cxnLst/>
              <a:rect l="0" t="0" r="r" b="b"/>
              <a:pathLst>
                <a:path w="294" h="568">
                  <a:moveTo>
                    <a:pt x="8" y="553"/>
                  </a:moveTo>
                  <a:cubicBezTo>
                    <a:pt x="9" y="501"/>
                    <a:pt x="19" y="448"/>
                    <a:pt x="35" y="397"/>
                  </a:cubicBezTo>
                  <a:cubicBezTo>
                    <a:pt x="51" y="347"/>
                    <a:pt x="73" y="298"/>
                    <a:pt x="99" y="252"/>
                  </a:cubicBezTo>
                  <a:cubicBezTo>
                    <a:pt x="124" y="205"/>
                    <a:pt x="154" y="161"/>
                    <a:pt x="187" y="119"/>
                  </a:cubicBezTo>
                  <a:cubicBezTo>
                    <a:pt x="203" y="98"/>
                    <a:pt x="220" y="77"/>
                    <a:pt x="238" y="58"/>
                  </a:cubicBezTo>
                  <a:cubicBezTo>
                    <a:pt x="247" y="48"/>
                    <a:pt x="256" y="38"/>
                    <a:pt x="265" y="28"/>
                  </a:cubicBezTo>
                  <a:cubicBezTo>
                    <a:pt x="274" y="19"/>
                    <a:pt x="284" y="9"/>
                    <a:pt x="294" y="0"/>
                  </a:cubicBezTo>
                  <a:cubicBezTo>
                    <a:pt x="293" y="0"/>
                    <a:pt x="293" y="0"/>
                    <a:pt x="293" y="0"/>
                  </a:cubicBezTo>
                  <a:cubicBezTo>
                    <a:pt x="283" y="9"/>
                    <a:pt x="273" y="18"/>
                    <a:pt x="264" y="27"/>
                  </a:cubicBezTo>
                  <a:cubicBezTo>
                    <a:pt x="255" y="37"/>
                    <a:pt x="246" y="47"/>
                    <a:pt x="237" y="56"/>
                  </a:cubicBezTo>
                  <a:cubicBezTo>
                    <a:pt x="218" y="76"/>
                    <a:pt x="201" y="96"/>
                    <a:pt x="185" y="117"/>
                  </a:cubicBezTo>
                  <a:cubicBezTo>
                    <a:pt x="151" y="159"/>
                    <a:pt x="121" y="203"/>
                    <a:pt x="95" y="249"/>
                  </a:cubicBezTo>
                  <a:cubicBezTo>
                    <a:pt x="68" y="296"/>
                    <a:pt x="46" y="345"/>
                    <a:pt x="30" y="396"/>
                  </a:cubicBezTo>
                  <a:cubicBezTo>
                    <a:pt x="13" y="445"/>
                    <a:pt x="3" y="497"/>
                    <a:pt x="0" y="549"/>
                  </a:cubicBezTo>
                  <a:cubicBezTo>
                    <a:pt x="3" y="555"/>
                    <a:pt x="5" y="561"/>
                    <a:pt x="7" y="568"/>
                  </a:cubicBezTo>
                  <a:cubicBezTo>
                    <a:pt x="7" y="563"/>
                    <a:pt x="7" y="558"/>
                    <a:pt x="8" y="553"/>
                  </a:cubicBezTo>
                  <a:close/>
                </a:path>
              </a:pathLst>
            </a:custGeom>
            <a:solidFill>
              <a:schemeClr val="tx2"/>
            </a:solidFill>
            <a:ln>
              <a:noFill/>
            </a:ln>
          </p:spPr>
        </p:sp>
        <p:sp>
          <p:nvSpPr>
            <p:cNvPr id="31" name="Freeform 35">
              <a:extLst>
                <a:ext uri="{FF2B5EF4-FFF2-40B4-BE49-F238E27FC236}">
                  <a16:creationId xmlns:a16="http://schemas.microsoft.com/office/drawing/2014/main" id="{73D5FBF4-7129-4C51-B603-E3BC3341951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94588" y="5664200"/>
              <a:ext cx="100013" cy="209550"/>
            </a:xfrm>
            <a:custGeom>
              <a:avLst/>
              <a:gdLst/>
              <a:ahLst/>
              <a:cxnLst/>
              <a:rect l="0" t="0" r="r" b="b"/>
              <a:pathLst>
                <a:path w="25" h="53">
                  <a:moveTo>
                    <a:pt x="0" y="0"/>
                  </a:moveTo>
                  <a:cubicBezTo>
                    <a:pt x="5" y="18"/>
                    <a:pt x="12" y="36"/>
                    <a:pt x="19" y="53"/>
                  </a:cubicBezTo>
                  <a:cubicBezTo>
                    <a:pt x="25" y="53"/>
                    <a:pt x="25" y="53"/>
                    <a:pt x="25" y="53"/>
                  </a:cubicBezTo>
                  <a:cubicBezTo>
                    <a:pt x="16" y="36"/>
                    <a:pt x="8" y="18"/>
                    <a:pt x="0" y="0"/>
                  </a:cubicBezTo>
                  <a:close/>
                </a:path>
              </a:pathLst>
            </a:custGeom>
            <a:solidFill>
              <a:schemeClr val="tx2"/>
            </a:solidFill>
            <a:ln>
              <a:noFill/>
            </a:ln>
          </p:spPr>
        </p:sp>
        <p:sp>
          <p:nvSpPr>
            <p:cNvPr id="32" name="Freeform 36">
              <a:extLst>
                <a:ext uri="{FF2B5EF4-FFF2-40B4-BE49-F238E27FC236}">
                  <a16:creationId xmlns:a16="http://schemas.microsoft.com/office/drawing/2014/main" id="{0165B164-CE2A-494C-88FC-507232B37C0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5081588"/>
              <a:ext cx="114300" cy="558800"/>
            </a:xfrm>
            <a:custGeom>
              <a:avLst/>
              <a:gdLst/>
              <a:ahLst/>
              <a:cxnLst/>
              <a:rect l="0" t="0" r="r" b="b"/>
              <a:pathLst>
                <a:path w="29" h="141">
                  <a:moveTo>
                    <a:pt x="0" y="0"/>
                  </a:moveTo>
                  <a:cubicBezTo>
                    <a:pt x="0" y="30"/>
                    <a:pt x="2" y="60"/>
                    <a:pt x="7" y="89"/>
                  </a:cubicBezTo>
                  <a:cubicBezTo>
                    <a:pt x="11" y="98"/>
                    <a:pt x="14" y="108"/>
                    <a:pt x="18" y="117"/>
                  </a:cubicBezTo>
                  <a:cubicBezTo>
                    <a:pt x="22" y="125"/>
                    <a:pt x="25" y="133"/>
                    <a:pt x="29" y="141"/>
                  </a:cubicBezTo>
                  <a:cubicBezTo>
                    <a:pt x="28" y="139"/>
                    <a:pt x="28" y="137"/>
                    <a:pt x="27" y="135"/>
                  </a:cubicBezTo>
                  <a:cubicBezTo>
                    <a:pt x="16" y="98"/>
                    <a:pt x="10" y="60"/>
                    <a:pt x="8" y="22"/>
                  </a:cubicBezTo>
                  <a:cubicBezTo>
                    <a:pt x="7" y="18"/>
                    <a:pt x="5" y="15"/>
                    <a:pt x="4" y="11"/>
                  </a:cubicBezTo>
                  <a:cubicBezTo>
                    <a:pt x="2" y="7"/>
                    <a:pt x="1" y="3"/>
                    <a:pt x="0" y="0"/>
                  </a:cubicBezTo>
                  <a:close/>
                </a:path>
              </a:pathLst>
            </a:custGeom>
            <a:solidFill>
              <a:schemeClr val="tx2"/>
            </a:solidFill>
            <a:ln>
              <a:noFill/>
            </a:ln>
          </p:spPr>
        </p:sp>
        <p:sp>
          <p:nvSpPr>
            <p:cNvPr id="33" name="Freeform 37">
              <a:extLst>
                <a:ext uri="{FF2B5EF4-FFF2-40B4-BE49-F238E27FC236}">
                  <a16:creationId xmlns:a16="http://schemas.microsoft.com/office/drawing/2014/main" id="{87F127E5-B10B-4D18-BCF0-E7C3C7F401E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12038" y="4978400"/>
              <a:ext cx="31750" cy="188913"/>
            </a:xfrm>
            <a:custGeom>
              <a:avLst/>
              <a:gdLst/>
              <a:ahLst/>
              <a:cxnLst/>
              <a:rect l="0" t="0" r="r" b="b"/>
              <a:pathLst>
                <a:path w="8" h="48">
                  <a:moveTo>
                    <a:pt x="0" y="26"/>
                  </a:moveTo>
                  <a:cubicBezTo>
                    <a:pt x="1" y="29"/>
                    <a:pt x="2" y="33"/>
                    <a:pt x="4" y="37"/>
                  </a:cubicBezTo>
                  <a:cubicBezTo>
                    <a:pt x="5" y="41"/>
                    <a:pt x="7" y="44"/>
                    <a:pt x="8" y="48"/>
                  </a:cubicBezTo>
                  <a:cubicBezTo>
                    <a:pt x="7" y="38"/>
                    <a:pt x="7" y="28"/>
                    <a:pt x="7" y="19"/>
                  </a:cubicBezTo>
                  <a:cubicBezTo>
                    <a:pt x="5" y="12"/>
                    <a:pt x="3" y="6"/>
                    <a:pt x="0" y="0"/>
                  </a:cubicBezTo>
                  <a:cubicBezTo>
                    <a:pt x="0" y="1"/>
                    <a:pt x="0" y="3"/>
                    <a:pt x="0" y="4"/>
                  </a:cubicBezTo>
                  <a:cubicBezTo>
                    <a:pt x="0" y="11"/>
                    <a:pt x="0" y="19"/>
                    <a:pt x="0" y="26"/>
                  </a:cubicBezTo>
                  <a:close/>
                </a:path>
              </a:pathLst>
            </a:custGeom>
            <a:solidFill>
              <a:schemeClr val="tx2"/>
            </a:solidFill>
            <a:ln>
              <a:noFill/>
            </a:ln>
          </p:spPr>
        </p:sp>
        <p:sp>
          <p:nvSpPr>
            <p:cNvPr id="34" name="Freeform 38">
              <a:extLst>
                <a:ext uri="{FF2B5EF4-FFF2-40B4-BE49-F238E27FC236}">
                  <a16:creationId xmlns:a16="http://schemas.microsoft.com/office/drawing/2014/main" id="{FC692D59-F28D-4E42-B435-225F2C6CFA3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bwMode="auto">
            <a:xfrm>
              <a:off x="7439026" y="5434013"/>
              <a:ext cx="174625" cy="439738"/>
            </a:xfrm>
            <a:custGeom>
              <a:avLst/>
              <a:gdLst/>
              <a:ahLst/>
              <a:cxnLst/>
              <a:rect l="0" t="0" r="r" b="b"/>
              <a:pathLst>
                <a:path w="44" h="111">
                  <a:moveTo>
                    <a:pt x="11" y="28"/>
                  </a:moveTo>
                  <a:cubicBezTo>
                    <a:pt x="7" y="19"/>
                    <a:pt x="4" y="9"/>
                    <a:pt x="0" y="0"/>
                  </a:cubicBezTo>
                  <a:cubicBezTo>
                    <a:pt x="3" y="16"/>
                    <a:pt x="7" y="33"/>
                    <a:pt x="11" y="49"/>
                  </a:cubicBezTo>
                  <a:cubicBezTo>
                    <a:pt x="12" y="52"/>
                    <a:pt x="13" y="55"/>
                    <a:pt x="14" y="58"/>
                  </a:cubicBezTo>
                  <a:cubicBezTo>
                    <a:pt x="22" y="76"/>
                    <a:pt x="30" y="94"/>
                    <a:pt x="39" y="111"/>
                  </a:cubicBezTo>
                  <a:cubicBezTo>
                    <a:pt x="44" y="111"/>
                    <a:pt x="44" y="111"/>
                    <a:pt x="44" y="111"/>
                  </a:cubicBezTo>
                  <a:cubicBezTo>
                    <a:pt x="35" y="92"/>
                    <a:pt x="28" y="72"/>
                    <a:pt x="22" y="52"/>
                  </a:cubicBezTo>
                  <a:cubicBezTo>
                    <a:pt x="18" y="44"/>
                    <a:pt x="15" y="36"/>
                    <a:pt x="11" y="28"/>
                  </a:cubicBezTo>
                  <a:close/>
                </a:path>
              </a:pathLst>
            </a:custGeom>
            <a:solidFill>
              <a:schemeClr val="tx2"/>
            </a:solidFill>
            <a:ln>
              <a:noFill/>
            </a:ln>
          </p:spPr>
        </p:sp>
      </p:grpSp>
      <p:sp>
        <p:nvSpPr>
          <p:cNvPr id="36" name="Rectangle 35">
            <a:extLst>
              <a:ext uri="{FF2B5EF4-FFF2-40B4-BE49-F238E27FC236}">
                <a16:creationId xmlns:a16="http://schemas.microsoft.com/office/drawing/2014/main" id="{1996130F-9AB5-4DE9-8574-3AF891C5C1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p:sp>
        <p:nvSpPr>
          <p:cNvPr id="38" name="Freeform 11">
            <a:extLst>
              <a:ext uri="{FF2B5EF4-FFF2-40B4-BE49-F238E27FC236}">
                <a16:creationId xmlns:a16="http://schemas.microsoft.com/office/drawing/2014/main" id="{7326F4E6-9131-42DA-97B2-0BA8D1E258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auto">
          <a:xfrm flipV="1">
            <a:off x="-4189" y="714375"/>
            <a:ext cx="1588527" cy="507297"/>
          </a:xfrm>
          <a:custGeom>
            <a:avLst/>
            <a:gdLst/>
            <a:ahLst/>
            <a:cxnLst/>
            <a:rect l="l" t="t" r="r" b="b"/>
            <a:pathLst>
              <a:path w="9248" h="10000">
                <a:moveTo>
                  <a:pt x="9248" y="4701"/>
                </a:moveTo>
                <a:lnTo>
                  <a:pt x="7915" y="188"/>
                </a:lnTo>
                <a:cubicBezTo>
                  <a:pt x="7906" y="156"/>
                  <a:pt x="7895" y="126"/>
                  <a:pt x="7886" y="94"/>
                </a:cubicBezTo>
                <a:cubicBezTo>
                  <a:pt x="7859" y="0"/>
                  <a:pt x="7831" y="0"/>
                  <a:pt x="7803" y="0"/>
                </a:cubicBezTo>
                <a:lnTo>
                  <a:pt x="7275" y="0"/>
                </a:lnTo>
                <a:lnTo>
                  <a:pt x="0" y="70"/>
                </a:lnTo>
                <a:cubicBezTo>
                  <a:pt x="8" y="3380"/>
                  <a:pt x="17" y="6690"/>
                  <a:pt x="25" y="10000"/>
                </a:cubicBezTo>
                <a:lnTo>
                  <a:pt x="7275" y="9966"/>
                </a:lnTo>
                <a:lnTo>
                  <a:pt x="7803" y="9966"/>
                </a:lnTo>
                <a:cubicBezTo>
                  <a:pt x="7831" y="9966"/>
                  <a:pt x="7859" y="9872"/>
                  <a:pt x="7886" y="9872"/>
                </a:cubicBezTo>
                <a:cubicBezTo>
                  <a:pt x="7886" y="9778"/>
                  <a:pt x="7915" y="9778"/>
                  <a:pt x="7915" y="9778"/>
                </a:cubicBezTo>
                <a:lnTo>
                  <a:pt x="9248" y="5265"/>
                </a:lnTo>
                <a:cubicBezTo>
                  <a:pt x="9303" y="5077"/>
                  <a:pt x="9303" y="4889"/>
                  <a:pt x="9248" y="4701"/>
                </a:cubicBezTo>
                <a:close/>
              </a:path>
            </a:pathLst>
          </a:custGeom>
          <a:solidFill>
            <a:schemeClr val="accent1"/>
          </a:solidFill>
          <a:ln>
            <a:noFill/>
          </a:ln>
        </p:spPr>
      </p:sp>
      <p:sp useBgFill="1">
        <p:nvSpPr>
          <p:cNvPr id="40" name="Rectangle 39">
            <a:extLst>
              <a:ext uri="{FF2B5EF4-FFF2-40B4-BE49-F238E27FC236}">
                <a16:creationId xmlns:a16="http://schemas.microsoft.com/office/drawing/2014/main" id="{E491B121-12B5-4977-A064-636AB0B9B0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786"/>
            <a:ext cx="12192000" cy="685403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Rectangle 41">
            <a:extLst>
              <a:ext uri="{FF2B5EF4-FFF2-40B4-BE49-F238E27FC236}">
                <a16:creationId xmlns:a16="http://schemas.microsoft.com/office/drawing/2014/main" id="{2ED05F70-AB3E-4472-B26B-EFE6A5A59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82880" cy="6858000"/>
          </a:xfrm>
          <a:prstGeom prst="rect">
            <a:avLst/>
          </a:prstGeom>
          <a:solidFill>
            <a:schemeClr val="tx2"/>
          </a:solidFill>
          <a:ln>
            <a:noFill/>
          </a:ln>
          <a:effectLst/>
        </p:spPr>
        <p:style>
          <a:lnRef idx="1">
            <a:schemeClr val="accent1"/>
          </a:lnRef>
          <a:fillRef idx="3">
            <a:schemeClr val="accent1"/>
          </a:fillRef>
          <a:effectRef idx="2">
            <a:schemeClr val="accent1"/>
          </a:effectRef>
          <a:fontRef idx="minor">
            <a:schemeClr val="lt1"/>
          </a:fontRef>
        </p:style>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9592EADE-5672-D2EF-6839-C891F9D69F65}"/>
                  </a:ext>
                </a:extLst>
              </p:cNvPr>
              <p:cNvSpPr txBox="1"/>
              <p:nvPr/>
            </p:nvSpPr>
            <p:spPr>
              <a:xfrm>
                <a:off x="544825" y="377800"/>
                <a:ext cx="6574535" cy="5605365"/>
              </a:xfrm>
              <a:prstGeom prst="rect">
                <a:avLst/>
              </a:prstGeom>
            </p:spPr>
            <p:txBody>
              <a:bodyPr vert="horz" lIns="91440" tIns="45720" rIns="91440" bIns="45720" rtlCol="0">
                <a:noAutofit/>
              </a:bodyPr>
              <a:lstStyle/>
              <a:p>
                <a:pPr>
                  <a:lnSpc>
                    <a:spcPct val="90000"/>
                  </a:lnSpc>
                  <a:spcBef>
                    <a:spcPts val="1000"/>
                  </a:spcBef>
                  <a:buClr>
                    <a:schemeClr val="accent1"/>
                  </a:buClr>
                  <a:buFont typeface="Wingdings 3" charset="2"/>
                  <a:buChar char=""/>
                </a:pPr>
                <a:r>
                  <a:rPr lang="en-US" b="1" u="sng" dirty="0">
                    <a:solidFill>
                      <a:schemeClr val="tx1">
                        <a:lumMod val="75000"/>
                        <a:lumOff val="25000"/>
                      </a:schemeClr>
                    </a:solidFill>
                  </a:rPr>
                  <a:t>Chilled ceiling water exiting temperature </a:t>
                </a:r>
                <a:r>
                  <a:rPr lang="en-US" b="1" u="sng" dirty="0" err="1">
                    <a:solidFill>
                      <a:schemeClr val="tx1">
                        <a:lumMod val="75000"/>
                        <a:lumOff val="25000"/>
                      </a:schemeClr>
                    </a:solidFill>
                  </a:rPr>
                  <a:t>Tw,out</a:t>
                </a:r>
                <a:r>
                  <a:rPr lang="en-US" b="1" u="sng" dirty="0">
                    <a:solidFill>
                      <a:schemeClr val="tx1">
                        <a:lumMod val="75000"/>
                        <a:lumOff val="25000"/>
                      </a:schemeClr>
                    </a:solidFill>
                  </a:rPr>
                  <a:t>:</a:t>
                </a:r>
              </a:p>
              <a:p>
                <a:pPr>
                  <a:lnSpc>
                    <a:spcPct val="90000"/>
                  </a:lnSpc>
                  <a:spcBef>
                    <a:spcPts val="1000"/>
                  </a:spcBef>
                  <a:buClr>
                    <a:schemeClr val="accent1"/>
                  </a:buClr>
                </a:pPr>
                <a:endParaRPr lang="en-US" b="1" u="sng" dirty="0">
                  <a:solidFill>
                    <a:schemeClr val="tx1">
                      <a:lumMod val="75000"/>
                      <a:lumOff val="25000"/>
                    </a:schemeClr>
                  </a:solidFill>
                </a:endParaRPr>
              </a:p>
              <a:p>
                <a:pPr>
                  <a:lnSpc>
                    <a:spcPct val="90000"/>
                  </a:lnSpc>
                  <a:spcBef>
                    <a:spcPts val="1000"/>
                  </a:spcBef>
                  <a:buClr>
                    <a:schemeClr val="accent1"/>
                  </a:buClr>
                </a:pPr>
                <a14:m>
                  <m:oMathPara xmlns:m="http://schemas.openxmlformats.org/officeDocument/2006/math">
                    <m:oMathParaPr>
                      <m:jc m:val="centerGroup"/>
                    </m:oMathParaPr>
                    <m:oMath xmlns:m="http://schemas.openxmlformats.org/officeDocument/2006/math">
                      <m:sSub>
                        <m:sSubPr>
                          <m:ctrlPr>
                            <a:rPr lang="en-US" i="1" smtClean="0">
                              <a:solidFill>
                                <a:schemeClr val="tx1">
                                  <a:lumMod val="75000"/>
                                  <a:lumOff val="25000"/>
                                </a:schemeClr>
                              </a:solidFill>
                              <a:effectLst/>
                              <a:latin typeface="Cambria Math" panose="02040503050406030204" pitchFamily="18" charset="0"/>
                            </a:rPr>
                          </m:ctrlPr>
                        </m:sSubPr>
                        <m:e>
                          <m:r>
                            <a:rPr lang="en-US" i="1">
                              <a:solidFill>
                                <a:schemeClr val="tx1">
                                  <a:lumMod val="75000"/>
                                  <a:lumOff val="25000"/>
                                </a:schemeClr>
                              </a:solidFill>
                              <a:effectLst/>
                              <a:latin typeface="Cambria Math" panose="02040503050406030204" pitchFamily="18" charset="0"/>
                            </a:rPr>
                            <m:t>𝑇</m:t>
                          </m:r>
                        </m:e>
                        <m:sub>
                          <m:r>
                            <a:rPr lang="en-US" i="1">
                              <a:solidFill>
                                <a:schemeClr val="tx1">
                                  <a:lumMod val="75000"/>
                                  <a:lumOff val="25000"/>
                                </a:schemeClr>
                              </a:solidFill>
                              <a:effectLst/>
                              <a:latin typeface="Cambria Math" panose="02040503050406030204" pitchFamily="18" charset="0"/>
                            </a:rPr>
                            <m:t>𝑤</m:t>
                          </m:r>
                          <m:r>
                            <a:rPr lang="en-US" i="1">
                              <a:solidFill>
                                <a:schemeClr val="tx1">
                                  <a:lumMod val="75000"/>
                                  <a:lumOff val="25000"/>
                                </a:schemeClr>
                              </a:solidFill>
                              <a:effectLst/>
                              <a:latin typeface="Cambria Math" panose="02040503050406030204" pitchFamily="18" charset="0"/>
                            </a:rPr>
                            <m:t>,</m:t>
                          </m:r>
                          <m:r>
                            <a:rPr lang="en-US" i="1">
                              <a:solidFill>
                                <a:schemeClr val="tx1">
                                  <a:lumMod val="75000"/>
                                  <a:lumOff val="25000"/>
                                </a:schemeClr>
                              </a:solidFill>
                              <a:effectLst/>
                              <a:latin typeface="Cambria Math" panose="02040503050406030204" pitchFamily="18" charset="0"/>
                            </a:rPr>
                            <m:t>𝑜𝑢𝑡</m:t>
                          </m:r>
                        </m:sub>
                      </m:sSub>
                      <m:r>
                        <a:rPr lang="en-US" i="1">
                          <a:solidFill>
                            <a:schemeClr val="tx1">
                              <a:lumMod val="75000"/>
                              <a:lumOff val="25000"/>
                            </a:schemeClr>
                          </a:solidFill>
                          <a:effectLst/>
                          <a:latin typeface="Cambria Math" panose="02040503050406030204" pitchFamily="18" charset="0"/>
                        </a:rPr>
                        <m:t>=2</m:t>
                      </m:r>
                      <m:sSub>
                        <m:sSubPr>
                          <m:ctrlPr>
                            <a:rPr lang="en-US" i="1">
                              <a:solidFill>
                                <a:schemeClr val="tx1">
                                  <a:lumMod val="75000"/>
                                  <a:lumOff val="25000"/>
                                </a:schemeClr>
                              </a:solidFill>
                              <a:effectLst/>
                              <a:latin typeface="Cambria Math" panose="02040503050406030204" pitchFamily="18" charset="0"/>
                            </a:rPr>
                          </m:ctrlPr>
                        </m:sSubPr>
                        <m:e>
                          <m:r>
                            <a:rPr lang="en-US" i="1">
                              <a:solidFill>
                                <a:schemeClr val="tx1">
                                  <a:lumMod val="75000"/>
                                  <a:lumOff val="25000"/>
                                </a:schemeClr>
                              </a:solidFill>
                              <a:effectLst/>
                              <a:latin typeface="Cambria Math" panose="02040503050406030204" pitchFamily="18" charset="0"/>
                            </a:rPr>
                            <m:t>𝑇</m:t>
                          </m:r>
                        </m:e>
                        <m:sub>
                          <m:r>
                            <a:rPr lang="en-US" i="1">
                              <a:solidFill>
                                <a:schemeClr val="tx1">
                                  <a:lumMod val="75000"/>
                                  <a:lumOff val="25000"/>
                                </a:schemeClr>
                              </a:solidFill>
                              <a:effectLst/>
                              <a:latin typeface="Cambria Math" panose="02040503050406030204" pitchFamily="18" charset="0"/>
                            </a:rPr>
                            <m:t>𝑐</m:t>
                          </m:r>
                        </m:sub>
                      </m:sSub>
                      <m:r>
                        <a:rPr lang="en-US" i="1">
                          <a:solidFill>
                            <a:schemeClr val="tx1">
                              <a:lumMod val="75000"/>
                              <a:lumOff val="25000"/>
                            </a:schemeClr>
                          </a:solidFill>
                          <a:effectLst/>
                          <a:latin typeface="Cambria Math" panose="02040503050406030204" pitchFamily="18" charset="0"/>
                        </a:rPr>
                        <m:t>−</m:t>
                      </m:r>
                      <m:sSub>
                        <m:sSubPr>
                          <m:ctrlPr>
                            <a:rPr lang="en-US" i="1">
                              <a:solidFill>
                                <a:schemeClr val="tx1">
                                  <a:lumMod val="75000"/>
                                  <a:lumOff val="25000"/>
                                </a:schemeClr>
                              </a:solidFill>
                              <a:effectLst/>
                              <a:latin typeface="Cambria Math" panose="02040503050406030204" pitchFamily="18" charset="0"/>
                            </a:rPr>
                          </m:ctrlPr>
                        </m:sSubPr>
                        <m:e>
                          <m:r>
                            <a:rPr lang="en-US" i="1">
                              <a:solidFill>
                                <a:schemeClr val="tx1">
                                  <a:lumMod val="75000"/>
                                  <a:lumOff val="25000"/>
                                </a:schemeClr>
                              </a:solidFill>
                              <a:effectLst/>
                              <a:latin typeface="Cambria Math" panose="02040503050406030204" pitchFamily="18" charset="0"/>
                            </a:rPr>
                            <m:t>𝑇</m:t>
                          </m:r>
                        </m:e>
                        <m:sub>
                          <m:r>
                            <a:rPr lang="en-US" i="1">
                              <a:solidFill>
                                <a:schemeClr val="tx1">
                                  <a:lumMod val="75000"/>
                                  <a:lumOff val="25000"/>
                                </a:schemeClr>
                              </a:solidFill>
                              <a:effectLst/>
                              <a:latin typeface="Cambria Math" panose="02040503050406030204" pitchFamily="18" charset="0"/>
                            </a:rPr>
                            <m:t>𝑤</m:t>
                          </m:r>
                          <m:r>
                            <a:rPr lang="en-US" i="1">
                              <a:solidFill>
                                <a:schemeClr val="tx1">
                                  <a:lumMod val="75000"/>
                                  <a:lumOff val="25000"/>
                                </a:schemeClr>
                              </a:solidFill>
                              <a:effectLst/>
                              <a:latin typeface="Cambria Math" panose="02040503050406030204" pitchFamily="18" charset="0"/>
                            </a:rPr>
                            <m:t>,</m:t>
                          </m:r>
                          <m:r>
                            <a:rPr lang="en-US" i="1">
                              <a:solidFill>
                                <a:schemeClr val="tx1">
                                  <a:lumMod val="75000"/>
                                  <a:lumOff val="25000"/>
                                </a:schemeClr>
                              </a:solidFill>
                              <a:effectLst/>
                              <a:latin typeface="Cambria Math" panose="02040503050406030204" pitchFamily="18" charset="0"/>
                            </a:rPr>
                            <m:t>𝑖𝑚</m:t>
                          </m:r>
                        </m:sub>
                      </m:sSub>
                    </m:oMath>
                  </m:oMathPara>
                </a14:m>
                <a:endParaRPr lang="en-US" b="1" u="sng" dirty="0">
                  <a:solidFill>
                    <a:schemeClr val="tx1">
                      <a:lumMod val="75000"/>
                      <a:lumOff val="25000"/>
                    </a:schemeClr>
                  </a:solidFill>
                </a:endParaRPr>
              </a:p>
              <a:p>
                <a:pPr>
                  <a:lnSpc>
                    <a:spcPct val="90000"/>
                  </a:lnSpc>
                  <a:spcBef>
                    <a:spcPts val="1000"/>
                  </a:spcBef>
                  <a:buClr>
                    <a:schemeClr val="accent1"/>
                  </a:buClr>
                </a:pPr>
                <a:endParaRPr lang="en-US" b="1" u="sng" dirty="0">
                  <a:solidFill>
                    <a:schemeClr val="tx1">
                      <a:lumMod val="75000"/>
                      <a:lumOff val="25000"/>
                    </a:schemeClr>
                  </a:solidFill>
                </a:endParaRPr>
              </a:p>
              <a:p>
                <a:pPr>
                  <a:lnSpc>
                    <a:spcPct val="90000"/>
                  </a:lnSpc>
                  <a:spcBef>
                    <a:spcPts val="1000"/>
                  </a:spcBef>
                  <a:buClr>
                    <a:schemeClr val="accent1"/>
                  </a:buClr>
                  <a:buFont typeface="Wingdings 3" charset="2"/>
                  <a:buChar char=""/>
                </a:pPr>
                <a:r>
                  <a:rPr lang="en-US" b="1" u="sng" dirty="0">
                    <a:solidFill>
                      <a:schemeClr val="tx1">
                        <a:lumMod val="75000"/>
                        <a:lumOff val="25000"/>
                      </a:schemeClr>
                    </a:solidFill>
                  </a:rPr>
                  <a:t>Pump’s mass flow rate </a:t>
                </a:r>
                <a14:m>
                  <m:oMath xmlns:m="http://schemas.openxmlformats.org/officeDocument/2006/math">
                    <m:sSub>
                      <m:sSubPr>
                        <m:ctrlPr>
                          <a:rPr lang="en-US" b="1" i="1">
                            <a:solidFill>
                              <a:schemeClr val="tx1">
                                <a:lumMod val="75000"/>
                                <a:lumOff val="25000"/>
                              </a:schemeClr>
                            </a:solidFill>
                            <a:effectLst/>
                            <a:latin typeface="Cambria Math" panose="02040503050406030204" pitchFamily="18" charset="0"/>
                          </a:rPr>
                        </m:ctrlPr>
                      </m:sSubPr>
                      <m:e>
                        <m:acc>
                          <m:accPr>
                            <m:chr m:val="̇"/>
                            <m:ctrlPr>
                              <a:rPr lang="en-US" b="1" i="1">
                                <a:solidFill>
                                  <a:schemeClr val="tx1">
                                    <a:lumMod val="75000"/>
                                    <a:lumOff val="25000"/>
                                  </a:schemeClr>
                                </a:solidFill>
                                <a:effectLst/>
                                <a:latin typeface="Cambria Math" panose="02040503050406030204" pitchFamily="18" charset="0"/>
                              </a:rPr>
                            </m:ctrlPr>
                          </m:accPr>
                          <m:e>
                            <m:r>
                              <a:rPr lang="en-US" b="1" i="1">
                                <a:solidFill>
                                  <a:schemeClr val="tx1">
                                    <a:lumMod val="75000"/>
                                    <a:lumOff val="25000"/>
                                  </a:schemeClr>
                                </a:solidFill>
                                <a:effectLst/>
                                <a:latin typeface="Cambria Math" panose="02040503050406030204" pitchFamily="18" charset="0"/>
                              </a:rPr>
                              <m:t>𝒎</m:t>
                            </m:r>
                          </m:e>
                        </m:acc>
                      </m:e>
                      <m:sub>
                        <m:r>
                          <a:rPr lang="en-US" b="1" i="1">
                            <a:solidFill>
                              <a:schemeClr val="tx1">
                                <a:lumMod val="75000"/>
                                <a:lumOff val="25000"/>
                              </a:schemeClr>
                            </a:solidFill>
                            <a:effectLst/>
                            <a:latin typeface="Cambria Math" panose="02040503050406030204" pitchFamily="18" charset="0"/>
                          </a:rPr>
                          <m:t>𝒘</m:t>
                        </m:r>
                      </m:sub>
                    </m:sSub>
                    <m:r>
                      <a:rPr lang="en-US" i="1">
                        <a:solidFill>
                          <a:schemeClr val="tx1">
                            <a:lumMod val="75000"/>
                            <a:lumOff val="25000"/>
                          </a:schemeClr>
                        </a:solidFill>
                        <a:effectLst/>
                        <a:latin typeface="Cambria Math" panose="02040503050406030204" pitchFamily="18" charset="0"/>
                      </a:rPr>
                      <m:t> </m:t>
                    </m:r>
                  </m:oMath>
                </a14:m>
                <a:r>
                  <a:rPr lang="en-US" b="1" u="sng" dirty="0">
                    <a:solidFill>
                      <a:schemeClr val="tx1">
                        <a:lumMod val="75000"/>
                        <a:lumOff val="25000"/>
                      </a:schemeClr>
                    </a:solidFill>
                  </a:rPr>
                  <a:t>:</a:t>
                </a:r>
              </a:p>
              <a:p>
                <a:pPr>
                  <a:lnSpc>
                    <a:spcPct val="90000"/>
                  </a:lnSpc>
                  <a:spcBef>
                    <a:spcPts val="1000"/>
                  </a:spcBef>
                  <a:buClr>
                    <a:schemeClr val="accent1"/>
                  </a:buClr>
                  <a:buFont typeface="Wingdings 3" charset="2"/>
                  <a:buChar char=""/>
                </a:pPr>
                <a:endParaRPr lang="en-US" b="1" u="sng" dirty="0">
                  <a:solidFill>
                    <a:schemeClr val="tx1">
                      <a:lumMod val="75000"/>
                      <a:lumOff val="25000"/>
                    </a:schemeClr>
                  </a:solidFill>
                </a:endParaRPr>
              </a:p>
              <a:p>
                <a:pPr>
                  <a:lnSpc>
                    <a:spcPct val="90000"/>
                  </a:lnSpc>
                  <a:spcBef>
                    <a:spcPts val="1000"/>
                  </a:spcBef>
                  <a:buClr>
                    <a:schemeClr val="accent1"/>
                  </a:buClr>
                </a:pPr>
                <a14:m>
                  <m:oMathPara xmlns:m="http://schemas.openxmlformats.org/officeDocument/2006/math">
                    <m:oMathParaPr>
                      <m:jc m:val="centerGroup"/>
                    </m:oMathParaPr>
                    <m:oMath xmlns:m="http://schemas.openxmlformats.org/officeDocument/2006/math">
                      <m:sSub>
                        <m:sSubPr>
                          <m:ctrlPr>
                            <a:rPr lang="en-US" i="1">
                              <a:solidFill>
                                <a:schemeClr val="tx1">
                                  <a:lumMod val="75000"/>
                                  <a:lumOff val="25000"/>
                                </a:schemeClr>
                              </a:solidFill>
                              <a:effectLst/>
                              <a:latin typeface="Cambria Math" panose="02040503050406030204" pitchFamily="18" charset="0"/>
                            </a:rPr>
                          </m:ctrlPr>
                        </m:sSubPr>
                        <m:e>
                          <m:acc>
                            <m:accPr>
                              <m:chr m:val="̇"/>
                              <m:ctrlPr>
                                <a:rPr lang="en-US" i="1">
                                  <a:solidFill>
                                    <a:schemeClr val="tx1">
                                      <a:lumMod val="75000"/>
                                      <a:lumOff val="25000"/>
                                    </a:schemeClr>
                                  </a:solidFill>
                                  <a:effectLst/>
                                  <a:latin typeface="Cambria Math" panose="02040503050406030204" pitchFamily="18" charset="0"/>
                                </a:rPr>
                              </m:ctrlPr>
                            </m:accPr>
                            <m:e>
                              <m:r>
                                <a:rPr lang="en-US" i="1">
                                  <a:solidFill>
                                    <a:schemeClr val="tx1">
                                      <a:lumMod val="75000"/>
                                      <a:lumOff val="25000"/>
                                    </a:schemeClr>
                                  </a:solidFill>
                                  <a:effectLst/>
                                  <a:latin typeface="Cambria Math" panose="02040503050406030204" pitchFamily="18" charset="0"/>
                                </a:rPr>
                                <m:t>𝑚</m:t>
                              </m:r>
                            </m:e>
                          </m:acc>
                        </m:e>
                        <m:sub>
                          <m:r>
                            <a:rPr lang="en-US" i="1">
                              <a:solidFill>
                                <a:schemeClr val="tx1">
                                  <a:lumMod val="75000"/>
                                  <a:lumOff val="25000"/>
                                </a:schemeClr>
                              </a:solidFill>
                              <a:effectLst/>
                              <a:latin typeface="Cambria Math" panose="02040503050406030204" pitchFamily="18" charset="0"/>
                            </a:rPr>
                            <m:t>𝑤</m:t>
                          </m:r>
                        </m:sub>
                      </m:sSub>
                      <m:r>
                        <a:rPr lang="en-US" i="1">
                          <a:solidFill>
                            <a:schemeClr val="tx1">
                              <a:lumMod val="75000"/>
                              <a:lumOff val="25000"/>
                            </a:schemeClr>
                          </a:solidFill>
                          <a:effectLst/>
                          <a:latin typeface="Cambria Math" panose="02040503050406030204" pitchFamily="18" charset="0"/>
                        </a:rPr>
                        <m:t>=</m:t>
                      </m:r>
                      <m:f>
                        <m:fPr>
                          <m:ctrlPr>
                            <a:rPr lang="en-US" i="1">
                              <a:solidFill>
                                <a:schemeClr val="tx1">
                                  <a:lumMod val="75000"/>
                                  <a:lumOff val="25000"/>
                                </a:schemeClr>
                              </a:solidFill>
                              <a:effectLst/>
                              <a:latin typeface="Cambria Math" panose="02040503050406030204" pitchFamily="18" charset="0"/>
                            </a:rPr>
                          </m:ctrlPr>
                        </m:fPr>
                        <m:num>
                          <m:sSub>
                            <m:sSubPr>
                              <m:ctrlPr>
                                <a:rPr lang="en-US" i="1">
                                  <a:solidFill>
                                    <a:schemeClr val="tx1">
                                      <a:lumMod val="75000"/>
                                      <a:lumOff val="25000"/>
                                    </a:schemeClr>
                                  </a:solidFill>
                                  <a:effectLst/>
                                  <a:latin typeface="Cambria Math" panose="02040503050406030204" pitchFamily="18" charset="0"/>
                                </a:rPr>
                              </m:ctrlPr>
                            </m:sSubPr>
                            <m:e>
                              <m:r>
                                <a:rPr lang="en-US" i="1">
                                  <a:solidFill>
                                    <a:schemeClr val="tx1">
                                      <a:lumMod val="75000"/>
                                      <a:lumOff val="25000"/>
                                    </a:schemeClr>
                                  </a:solidFill>
                                  <a:effectLst/>
                                  <a:latin typeface="Cambria Math" panose="02040503050406030204" pitchFamily="18" charset="0"/>
                                </a:rPr>
                                <m:t>𝑄</m:t>
                              </m:r>
                            </m:e>
                            <m:sub>
                              <m:r>
                                <a:rPr lang="en-US" i="1">
                                  <a:solidFill>
                                    <a:schemeClr val="tx1">
                                      <a:lumMod val="75000"/>
                                      <a:lumOff val="25000"/>
                                    </a:schemeClr>
                                  </a:solidFill>
                                  <a:effectLst/>
                                  <a:latin typeface="Cambria Math" panose="02040503050406030204" pitchFamily="18" charset="0"/>
                                </a:rPr>
                                <m:t>𝑐𝑐</m:t>
                              </m:r>
                            </m:sub>
                          </m:sSub>
                        </m:num>
                        <m:den>
                          <m:sSub>
                            <m:sSubPr>
                              <m:ctrlPr>
                                <a:rPr lang="en-US" i="1">
                                  <a:solidFill>
                                    <a:schemeClr val="tx1">
                                      <a:lumMod val="75000"/>
                                      <a:lumOff val="25000"/>
                                    </a:schemeClr>
                                  </a:solidFill>
                                  <a:effectLst/>
                                  <a:latin typeface="Cambria Math" panose="02040503050406030204" pitchFamily="18" charset="0"/>
                                </a:rPr>
                              </m:ctrlPr>
                            </m:sSubPr>
                            <m:e>
                              <m:r>
                                <a:rPr lang="en-US" i="1">
                                  <a:solidFill>
                                    <a:schemeClr val="tx1">
                                      <a:lumMod val="75000"/>
                                      <a:lumOff val="25000"/>
                                    </a:schemeClr>
                                  </a:solidFill>
                                  <a:effectLst/>
                                  <a:latin typeface="Cambria Math" panose="02040503050406030204" pitchFamily="18" charset="0"/>
                                </a:rPr>
                                <m:t>𝑐</m:t>
                              </m:r>
                            </m:e>
                            <m:sub>
                              <m:r>
                                <a:rPr lang="en-US" i="1">
                                  <a:solidFill>
                                    <a:schemeClr val="tx1">
                                      <a:lumMod val="75000"/>
                                      <a:lumOff val="25000"/>
                                    </a:schemeClr>
                                  </a:solidFill>
                                  <a:effectLst/>
                                  <a:latin typeface="Cambria Math" panose="02040503050406030204" pitchFamily="18" charset="0"/>
                                </a:rPr>
                                <m:t>𝑝𝑤</m:t>
                              </m:r>
                            </m:sub>
                          </m:sSub>
                          <m:d>
                            <m:dPr>
                              <m:ctrlPr>
                                <a:rPr lang="en-US" i="1">
                                  <a:solidFill>
                                    <a:schemeClr val="tx1">
                                      <a:lumMod val="75000"/>
                                      <a:lumOff val="25000"/>
                                    </a:schemeClr>
                                  </a:solidFill>
                                  <a:effectLst/>
                                  <a:latin typeface="Cambria Math" panose="02040503050406030204" pitchFamily="18" charset="0"/>
                                </a:rPr>
                              </m:ctrlPr>
                            </m:dPr>
                            <m:e>
                              <m:sSub>
                                <m:sSubPr>
                                  <m:ctrlPr>
                                    <a:rPr lang="en-US" i="1">
                                      <a:solidFill>
                                        <a:schemeClr val="tx1">
                                          <a:lumMod val="75000"/>
                                          <a:lumOff val="25000"/>
                                        </a:schemeClr>
                                      </a:solidFill>
                                      <a:effectLst/>
                                      <a:latin typeface="Cambria Math" panose="02040503050406030204" pitchFamily="18" charset="0"/>
                                    </a:rPr>
                                  </m:ctrlPr>
                                </m:sSubPr>
                                <m:e>
                                  <m:r>
                                    <a:rPr lang="en-US" i="1">
                                      <a:solidFill>
                                        <a:schemeClr val="tx1">
                                          <a:lumMod val="75000"/>
                                          <a:lumOff val="25000"/>
                                        </a:schemeClr>
                                      </a:solidFill>
                                      <a:effectLst/>
                                      <a:latin typeface="Cambria Math" panose="02040503050406030204" pitchFamily="18" charset="0"/>
                                    </a:rPr>
                                    <m:t>𝑇</m:t>
                                  </m:r>
                                </m:e>
                                <m:sub>
                                  <m:r>
                                    <a:rPr lang="en-US" i="1">
                                      <a:solidFill>
                                        <a:schemeClr val="tx1">
                                          <a:lumMod val="75000"/>
                                          <a:lumOff val="25000"/>
                                        </a:schemeClr>
                                      </a:solidFill>
                                      <a:effectLst/>
                                      <a:latin typeface="Cambria Math" panose="02040503050406030204" pitchFamily="18" charset="0"/>
                                    </a:rPr>
                                    <m:t>𝑤</m:t>
                                  </m:r>
                                  <m:r>
                                    <a:rPr lang="en-US" i="1">
                                      <a:solidFill>
                                        <a:schemeClr val="tx1">
                                          <a:lumMod val="75000"/>
                                          <a:lumOff val="25000"/>
                                        </a:schemeClr>
                                      </a:solidFill>
                                      <a:effectLst/>
                                      <a:latin typeface="Cambria Math" panose="02040503050406030204" pitchFamily="18" charset="0"/>
                                    </a:rPr>
                                    <m:t>,</m:t>
                                  </m:r>
                                  <m:r>
                                    <a:rPr lang="en-US" i="1">
                                      <a:solidFill>
                                        <a:schemeClr val="tx1">
                                          <a:lumMod val="75000"/>
                                          <a:lumOff val="25000"/>
                                        </a:schemeClr>
                                      </a:solidFill>
                                      <a:effectLst/>
                                      <a:latin typeface="Cambria Math" panose="02040503050406030204" pitchFamily="18" charset="0"/>
                                    </a:rPr>
                                    <m:t>𝑜𝑢𝑡</m:t>
                                  </m:r>
                                </m:sub>
                              </m:sSub>
                              <m:r>
                                <a:rPr lang="en-US" i="1">
                                  <a:solidFill>
                                    <a:schemeClr val="tx1">
                                      <a:lumMod val="75000"/>
                                      <a:lumOff val="25000"/>
                                    </a:schemeClr>
                                  </a:solidFill>
                                  <a:effectLst/>
                                  <a:latin typeface="Cambria Math" panose="02040503050406030204" pitchFamily="18" charset="0"/>
                                </a:rPr>
                                <m:t>−</m:t>
                              </m:r>
                              <m:sSub>
                                <m:sSubPr>
                                  <m:ctrlPr>
                                    <a:rPr lang="en-US" i="1">
                                      <a:solidFill>
                                        <a:schemeClr val="tx1">
                                          <a:lumMod val="75000"/>
                                          <a:lumOff val="25000"/>
                                        </a:schemeClr>
                                      </a:solidFill>
                                      <a:effectLst/>
                                      <a:latin typeface="Cambria Math" panose="02040503050406030204" pitchFamily="18" charset="0"/>
                                    </a:rPr>
                                  </m:ctrlPr>
                                </m:sSubPr>
                                <m:e>
                                  <m:r>
                                    <a:rPr lang="en-US" i="1">
                                      <a:solidFill>
                                        <a:schemeClr val="tx1">
                                          <a:lumMod val="75000"/>
                                          <a:lumOff val="25000"/>
                                        </a:schemeClr>
                                      </a:solidFill>
                                      <a:effectLst/>
                                      <a:latin typeface="Cambria Math" panose="02040503050406030204" pitchFamily="18" charset="0"/>
                                    </a:rPr>
                                    <m:t>𝑇</m:t>
                                  </m:r>
                                </m:e>
                                <m:sub>
                                  <m:r>
                                    <a:rPr lang="en-US" i="1">
                                      <a:solidFill>
                                        <a:schemeClr val="tx1">
                                          <a:lumMod val="75000"/>
                                          <a:lumOff val="25000"/>
                                        </a:schemeClr>
                                      </a:solidFill>
                                      <a:effectLst/>
                                      <a:latin typeface="Cambria Math" panose="02040503050406030204" pitchFamily="18" charset="0"/>
                                    </a:rPr>
                                    <m:t>𝑤</m:t>
                                  </m:r>
                                  <m:r>
                                    <a:rPr lang="en-US" i="1">
                                      <a:solidFill>
                                        <a:schemeClr val="tx1">
                                          <a:lumMod val="75000"/>
                                          <a:lumOff val="25000"/>
                                        </a:schemeClr>
                                      </a:solidFill>
                                      <a:effectLst/>
                                      <a:latin typeface="Cambria Math" panose="02040503050406030204" pitchFamily="18" charset="0"/>
                                    </a:rPr>
                                    <m:t>,</m:t>
                                  </m:r>
                                  <m:r>
                                    <a:rPr lang="en-US" i="1">
                                      <a:solidFill>
                                        <a:schemeClr val="tx1">
                                          <a:lumMod val="75000"/>
                                          <a:lumOff val="25000"/>
                                        </a:schemeClr>
                                      </a:solidFill>
                                      <a:effectLst/>
                                      <a:latin typeface="Cambria Math" panose="02040503050406030204" pitchFamily="18" charset="0"/>
                                    </a:rPr>
                                    <m:t>𝑖𝑛</m:t>
                                  </m:r>
                                </m:sub>
                              </m:sSub>
                            </m:e>
                          </m:d>
                        </m:den>
                      </m:f>
                    </m:oMath>
                  </m:oMathPara>
                </a14:m>
                <a:endParaRPr lang="en-US" b="1" u="sng" dirty="0">
                  <a:solidFill>
                    <a:schemeClr val="tx1">
                      <a:lumMod val="75000"/>
                      <a:lumOff val="25000"/>
                    </a:schemeClr>
                  </a:solidFill>
                </a:endParaRPr>
              </a:p>
              <a:p>
                <a:pPr>
                  <a:lnSpc>
                    <a:spcPct val="90000"/>
                  </a:lnSpc>
                  <a:spcBef>
                    <a:spcPts val="1000"/>
                  </a:spcBef>
                  <a:buClr>
                    <a:schemeClr val="accent1"/>
                  </a:buClr>
                </a:pPr>
                <a:endParaRPr lang="en-US" b="1" u="sng" dirty="0">
                  <a:solidFill>
                    <a:schemeClr val="tx1">
                      <a:lumMod val="75000"/>
                      <a:lumOff val="25000"/>
                    </a:schemeClr>
                  </a:solidFill>
                </a:endParaRPr>
              </a:p>
              <a:p>
                <a:pPr>
                  <a:lnSpc>
                    <a:spcPct val="90000"/>
                  </a:lnSpc>
                  <a:spcBef>
                    <a:spcPts val="1000"/>
                  </a:spcBef>
                  <a:buClr>
                    <a:schemeClr val="accent1"/>
                  </a:buClr>
                  <a:buFont typeface="Wingdings 3" charset="2"/>
                  <a:buChar char=""/>
                </a:pPr>
                <a:r>
                  <a:rPr lang="en-US" b="1" u="sng" dirty="0">
                    <a:solidFill>
                      <a:schemeClr val="tx1">
                        <a:lumMod val="75000"/>
                        <a:lumOff val="25000"/>
                      </a:schemeClr>
                    </a:solidFill>
                  </a:rPr>
                  <a:t>Pump Power:</a:t>
                </a:r>
                <a:endParaRPr lang="en-US" dirty="0">
                  <a:solidFill>
                    <a:schemeClr val="tx1">
                      <a:lumMod val="75000"/>
                      <a:lumOff val="25000"/>
                    </a:schemeClr>
                  </a:solidFill>
                </a:endParaRPr>
              </a:p>
              <a:p>
                <a:pPr>
                  <a:lnSpc>
                    <a:spcPct val="90000"/>
                  </a:lnSpc>
                  <a:spcBef>
                    <a:spcPts val="1000"/>
                  </a:spcBef>
                  <a:buClr>
                    <a:schemeClr val="accent1"/>
                  </a:buClr>
                  <a:buFont typeface="Wingdings 3" charset="2"/>
                  <a:buChar char=""/>
                </a:pPr>
                <a:endParaRPr lang="en-US" dirty="0">
                  <a:solidFill>
                    <a:schemeClr val="tx1">
                      <a:lumMod val="75000"/>
                      <a:lumOff val="25000"/>
                    </a:schemeClr>
                  </a:solidFill>
                  <a:effectLst/>
                </a:endParaRPr>
              </a:p>
              <a:p>
                <a:pPr>
                  <a:lnSpc>
                    <a:spcPct val="90000"/>
                  </a:lnSpc>
                  <a:spcBef>
                    <a:spcPts val="1000"/>
                  </a:spcBef>
                  <a:buClr>
                    <a:schemeClr val="accent1"/>
                  </a:buClr>
                </a:pPr>
                <a14:m>
                  <m:oMathPara xmlns:m="http://schemas.openxmlformats.org/officeDocument/2006/math">
                    <m:oMathParaPr>
                      <m:jc m:val="centerGroup"/>
                    </m:oMathParaPr>
                    <m:oMath xmlns:m="http://schemas.openxmlformats.org/officeDocument/2006/math">
                      <m:sSub>
                        <m:sSubPr>
                          <m:ctrlPr>
                            <a:rPr lang="en-US" i="1">
                              <a:solidFill>
                                <a:schemeClr val="tx1">
                                  <a:lumMod val="75000"/>
                                  <a:lumOff val="25000"/>
                                </a:schemeClr>
                              </a:solidFill>
                              <a:effectLst/>
                              <a:latin typeface="Cambria Math" panose="02040503050406030204" pitchFamily="18" charset="0"/>
                            </a:rPr>
                          </m:ctrlPr>
                        </m:sSubPr>
                        <m:e>
                          <m:r>
                            <a:rPr lang="en-US" i="1">
                              <a:solidFill>
                                <a:schemeClr val="tx1">
                                  <a:lumMod val="75000"/>
                                  <a:lumOff val="25000"/>
                                </a:schemeClr>
                              </a:solidFill>
                              <a:effectLst/>
                              <a:latin typeface="Cambria Math" panose="02040503050406030204" pitchFamily="18" charset="0"/>
                            </a:rPr>
                            <m:t>𝑃</m:t>
                          </m:r>
                        </m:e>
                        <m:sub>
                          <m:r>
                            <a:rPr lang="en-US" i="1">
                              <a:solidFill>
                                <a:schemeClr val="tx1">
                                  <a:lumMod val="75000"/>
                                  <a:lumOff val="25000"/>
                                </a:schemeClr>
                              </a:solidFill>
                              <a:effectLst/>
                              <a:latin typeface="Cambria Math" panose="02040503050406030204" pitchFamily="18" charset="0"/>
                            </a:rPr>
                            <m:t>𝑝𝑢𝑚𝑝</m:t>
                          </m:r>
                        </m:sub>
                      </m:sSub>
                      <m:r>
                        <a:rPr lang="en-US" i="1">
                          <a:solidFill>
                            <a:schemeClr val="tx1">
                              <a:lumMod val="75000"/>
                              <a:lumOff val="25000"/>
                            </a:schemeClr>
                          </a:solidFill>
                          <a:effectLst/>
                          <a:latin typeface="Cambria Math" panose="02040503050406030204" pitchFamily="18" charset="0"/>
                        </a:rPr>
                        <m:t>=</m:t>
                      </m:r>
                      <m:f>
                        <m:fPr>
                          <m:ctrlPr>
                            <a:rPr lang="en-US" i="1">
                              <a:solidFill>
                                <a:schemeClr val="tx1">
                                  <a:lumMod val="75000"/>
                                  <a:lumOff val="25000"/>
                                </a:schemeClr>
                              </a:solidFill>
                              <a:effectLst/>
                              <a:latin typeface="Cambria Math" panose="02040503050406030204" pitchFamily="18" charset="0"/>
                            </a:rPr>
                          </m:ctrlPr>
                        </m:fPr>
                        <m:num>
                          <m:sSub>
                            <m:sSubPr>
                              <m:ctrlPr>
                                <a:rPr lang="en-US" i="1">
                                  <a:solidFill>
                                    <a:schemeClr val="tx1">
                                      <a:lumMod val="75000"/>
                                      <a:lumOff val="25000"/>
                                    </a:schemeClr>
                                  </a:solidFill>
                                  <a:effectLst/>
                                  <a:latin typeface="Cambria Math" panose="02040503050406030204" pitchFamily="18" charset="0"/>
                                </a:rPr>
                              </m:ctrlPr>
                            </m:sSubPr>
                            <m:e>
                              <m:acc>
                                <m:accPr>
                                  <m:chr m:val="̇"/>
                                  <m:ctrlPr>
                                    <a:rPr lang="en-US" i="1">
                                      <a:solidFill>
                                        <a:schemeClr val="tx1">
                                          <a:lumMod val="75000"/>
                                          <a:lumOff val="25000"/>
                                        </a:schemeClr>
                                      </a:solidFill>
                                      <a:effectLst/>
                                      <a:latin typeface="Cambria Math" panose="02040503050406030204" pitchFamily="18" charset="0"/>
                                    </a:rPr>
                                  </m:ctrlPr>
                                </m:accPr>
                                <m:e>
                                  <m:r>
                                    <a:rPr lang="en-US" i="1">
                                      <a:solidFill>
                                        <a:schemeClr val="tx1">
                                          <a:lumMod val="75000"/>
                                          <a:lumOff val="25000"/>
                                        </a:schemeClr>
                                      </a:solidFill>
                                      <a:effectLst/>
                                      <a:latin typeface="Cambria Math" panose="02040503050406030204" pitchFamily="18" charset="0"/>
                                    </a:rPr>
                                    <m:t>𝑚</m:t>
                                  </m:r>
                                </m:e>
                              </m:acc>
                            </m:e>
                            <m:sub>
                              <m:r>
                                <a:rPr lang="en-US" i="1">
                                  <a:solidFill>
                                    <a:schemeClr val="tx1">
                                      <a:lumMod val="75000"/>
                                      <a:lumOff val="25000"/>
                                    </a:schemeClr>
                                  </a:solidFill>
                                  <a:effectLst/>
                                  <a:latin typeface="Cambria Math" panose="02040503050406030204" pitchFamily="18" charset="0"/>
                                </a:rPr>
                                <m:t>𝑤</m:t>
                              </m:r>
                            </m:sub>
                          </m:sSub>
                          <m:r>
                            <a:rPr lang="en-US" i="1">
                              <a:solidFill>
                                <a:schemeClr val="tx1">
                                  <a:lumMod val="75000"/>
                                  <a:lumOff val="25000"/>
                                </a:schemeClr>
                              </a:solidFill>
                              <a:effectLst/>
                              <a:latin typeface="Cambria Math" panose="02040503050406030204" pitchFamily="18" charset="0"/>
                            </a:rPr>
                            <m:t>𝑔</m:t>
                          </m:r>
                          <m:sSub>
                            <m:sSubPr>
                              <m:ctrlPr>
                                <a:rPr lang="en-US" i="1">
                                  <a:solidFill>
                                    <a:schemeClr val="tx1">
                                      <a:lumMod val="75000"/>
                                      <a:lumOff val="25000"/>
                                    </a:schemeClr>
                                  </a:solidFill>
                                  <a:effectLst/>
                                  <a:latin typeface="Cambria Math" panose="02040503050406030204" pitchFamily="18" charset="0"/>
                                </a:rPr>
                              </m:ctrlPr>
                            </m:sSubPr>
                            <m:e>
                              <m:r>
                                <a:rPr lang="en-US" i="1">
                                  <a:solidFill>
                                    <a:schemeClr val="tx1">
                                      <a:lumMod val="75000"/>
                                      <a:lumOff val="25000"/>
                                    </a:schemeClr>
                                  </a:solidFill>
                                  <a:effectLst/>
                                  <a:latin typeface="Cambria Math" panose="02040503050406030204" pitchFamily="18" charset="0"/>
                                </a:rPr>
                                <m:t>𝐻</m:t>
                              </m:r>
                            </m:e>
                            <m:sub>
                              <m:r>
                                <a:rPr lang="en-US" i="1">
                                  <a:solidFill>
                                    <a:schemeClr val="tx1">
                                      <a:lumMod val="75000"/>
                                      <a:lumOff val="25000"/>
                                    </a:schemeClr>
                                  </a:solidFill>
                                  <a:effectLst/>
                                  <a:latin typeface="Cambria Math" panose="02040503050406030204" pitchFamily="18" charset="0"/>
                                </a:rPr>
                                <m:t>𝑝</m:t>
                              </m:r>
                            </m:sub>
                          </m:sSub>
                        </m:num>
                        <m:den>
                          <m:sSub>
                            <m:sSubPr>
                              <m:ctrlPr>
                                <a:rPr lang="en-US" i="1">
                                  <a:solidFill>
                                    <a:schemeClr val="tx1">
                                      <a:lumMod val="75000"/>
                                      <a:lumOff val="25000"/>
                                    </a:schemeClr>
                                  </a:solidFill>
                                  <a:effectLst/>
                                  <a:latin typeface="Cambria Math" panose="02040503050406030204" pitchFamily="18" charset="0"/>
                                </a:rPr>
                              </m:ctrlPr>
                            </m:sSubPr>
                            <m:e>
                              <m:r>
                                <a:rPr lang="en-US" i="1">
                                  <a:solidFill>
                                    <a:schemeClr val="tx1">
                                      <a:lumMod val="75000"/>
                                      <a:lumOff val="25000"/>
                                    </a:schemeClr>
                                  </a:solidFill>
                                  <a:effectLst/>
                                  <a:latin typeface="Cambria Math" panose="02040503050406030204" pitchFamily="18" charset="0"/>
                                </a:rPr>
                                <m:t>𝜂</m:t>
                              </m:r>
                            </m:e>
                            <m:sub>
                              <m:r>
                                <a:rPr lang="en-US" i="1">
                                  <a:solidFill>
                                    <a:schemeClr val="tx1">
                                      <a:lumMod val="75000"/>
                                      <a:lumOff val="25000"/>
                                    </a:schemeClr>
                                  </a:solidFill>
                                  <a:effectLst/>
                                  <a:latin typeface="Cambria Math" panose="02040503050406030204" pitchFamily="18" charset="0"/>
                                </a:rPr>
                                <m:t>𝑝</m:t>
                              </m:r>
                            </m:sub>
                          </m:sSub>
                        </m:den>
                      </m:f>
                    </m:oMath>
                  </m:oMathPara>
                </a14:m>
                <a:endParaRPr lang="en-US" dirty="0">
                  <a:solidFill>
                    <a:schemeClr val="tx1">
                      <a:lumMod val="75000"/>
                      <a:lumOff val="25000"/>
                    </a:schemeClr>
                  </a:solidFill>
                  <a:effectLst/>
                </a:endParaRPr>
              </a:p>
              <a:p>
                <a:pPr>
                  <a:lnSpc>
                    <a:spcPct val="90000"/>
                  </a:lnSpc>
                  <a:spcBef>
                    <a:spcPts val="1000"/>
                  </a:spcBef>
                  <a:buClr>
                    <a:schemeClr val="accent1"/>
                  </a:buClr>
                </a:pPr>
                <a:endParaRPr lang="en-US" dirty="0">
                  <a:solidFill>
                    <a:schemeClr val="tx1">
                      <a:lumMod val="75000"/>
                      <a:lumOff val="25000"/>
                    </a:schemeClr>
                  </a:solidFill>
                  <a:effectLst/>
                </a:endParaRPr>
              </a:p>
              <a:p>
                <a:pPr>
                  <a:lnSpc>
                    <a:spcPct val="90000"/>
                  </a:lnSpc>
                  <a:spcBef>
                    <a:spcPts val="1000"/>
                  </a:spcBef>
                  <a:buClr>
                    <a:schemeClr val="accent1"/>
                  </a:buClr>
                  <a:buFont typeface="Wingdings 3" charset="2"/>
                  <a:buChar char=""/>
                </a:pPr>
                <a:r>
                  <a:rPr lang="en-US" b="1" u="sng" dirty="0">
                    <a:solidFill>
                      <a:schemeClr val="tx1">
                        <a:lumMod val="75000"/>
                        <a:lumOff val="25000"/>
                      </a:schemeClr>
                    </a:solidFill>
                  </a:rPr>
                  <a:t>Total System Electrical Energy:</a:t>
                </a:r>
                <a:endParaRPr lang="en-US" dirty="0">
                  <a:solidFill>
                    <a:schemeClr val="tx1">
                      <a:lumMod val="75000"/>
                      <a:lumOff val="25000"/>
                    </a:schemeClr>
                  </a:solidFill>
                </a:endParaRPr>
              </a:p>
              <a:p>
                <a:pPr>
                  <a:lnSpc>
                    <a:spcPct val="90000"/>
                  </a:lnSpc>
                  <a:spcBef>
                    <a:spcPts val="1000"/>
                  </a:spcBef>
                  <a:buClr>
                    <a:schemeClr val="accent1"/>
                  </a:buClr>
                </a:pPr>
                <a:endParaRPr lang="en-US" dirty="0">
                  <a:solidFill>
                    <a:schemeClr val="tx1">
                      <a:lumMod val="75000"/>
                      <a:lumOff val="25000"/>
                    </a:schemeClr>
                  </a:solidFill>
                </a:endParaRPr>
              </a:p>
              <a:p>
                <a:pPr>
                  <a:lnSpc>
                    <a:spcPct val="90000"/>
                  </a:lnSpc>
                  <a:spcBef>
                    <a:spcPts val="1000"/>
                  </a:spcBef>
                  <a:buClr>
                    <a:schemeClr val="accent1"/>
                  </a:buClr>
                </a:pPr>
                <a14:m>
                  <m:oMathPara xmlns:m="http://schemas.openxmlformats.org/officeDocument/2006/math">
                    <m:oMathParaPr>
                      <m:jc m:val="centerGroup"/>
                    </m:oMathParaPr>
                    <m:oMath xmlns:m="http://schemas.openxmlformats.org/officeDocument/2006/math">
                      <m:sSub>
                        <m:sSubPr>
                          <m:ctrlPr>
                            <a:rPr lang="en-US" i="1">
                              <a:solidFill>
                                <a:schemeClr val="tx1">
                                  <a:lumMod val="75000"/>
                                  <a:lumOff val="25000"/>
                                </a:schemeClr>
                              </a:solidFill>
                              <a:effectLst/>
                              <a:latin typeface="Cambria Math" panose="02040503050406030204" pitchFamily="18" charset="0"/>
                            </a:rPr>
                          </m:ctrlPr>
                        </m:sSubPr>
                        <m:e>
                          <m:r>
                            <a:rPr lang="en-US" i="1">
                              <a:solidFill>
                                <a:schemeClr val="tx1">
                                  <a:lumMod val="75000"/>
                                  <a:lumOff val="25000"/>
                                </a:schemeClr>
                              </a:solidFill>
                              <a:effectLst/>
                              <a:latin typeface="Cambria Math" panose="02040503050406030204" pitchFamily="18" charset="0"/>
                            </a:rPr>
                            <m:t>𝐸</m:t>
                          </m:r>
                        </m:e>
                        <m:sub>
                          <m:r>
                            <a:rPr lang="en-US" i="1">
                              <a:solidFill>
                                <a:schemeClr val="tx1">
                                  <a:lumMod val="75000"/>
                                  <a:lumOff val="25000"/>
                                </a:schemeClr>
                              </a:solidFill>
                              <a:effectLst/>
                              <a:latin typeface="Cambria Math" panose="02040503050406030204" pitchFamily="18" charset="0"/>
                            </a:rPr>
                            <m:t>𝑡𝑜𝑡𝑎𝑙</m:t>
                          </m:r>
                        </m:sub>
                      </m:sSub>
                      <m:r>
                        <a:rPr lang="en-US" i="1">
                          <a:solidFill>
                            <a:schemeClr val="tx1">
                              <a:lumMod val="75000"/>
                              <a:lumOff val="25000"/>
                            </a:schemeClr>
                          </a:solidFill>
                          <a:effectLst/>
                          <a:latin typeface="Cambria Math" panose="02040503050406030204" pitchFamily="18" charset="0"/>
                        </a:rPr>
                        <m:t>=</m:t>
                      </m:r>
                      <m:sSub>
                        <m:sSubPr>
                          <m:ctrlPr>
                            <a:rPr lang="en-US" i="1">
                              <a:solidFill>
                                <a:schemeClr val="tx1">
                                  <a:lumMod val="75000"/>
                                  <a:lumOff val="25000"/>
                                </a:schemeClr>
                              </a:solidFill>
                              <a:effectLst/>
                              <a:latin typeface="Cambria Math" panose="02040503050406030204" pitchFamily="18" charset="0"/>
                            </a:rPr>
                          </m:ctrlPr>
                        </m:sSubPr>
                        <m:e>
                          <m:r>
                            <a:rPr lang="en-US" i="1">
                              <a:solidFill>
                                <a:schemeClr val="tx1">
                                  <a:lumMod val="75000"/>
                                  <a:lumOff val="25000"/>
                                </a:schemeClr>
                              </a:solidFill>
                              <a:effectLst/>
                              <a:latin typeface="Cambria Math" panose="02040503050406030204" pitchFamily="18" charset="0"/>
                            </a:rPr>
                            <m:t>𝑃</m:t>
                          </m:r>
                        </m:e>
                        <m:sub>
                          <m:r>
                            <a:rPr lang="en-US" i="1">
                              <a:solidFill>
                                <a:schemeClr val="tx1">
                                  <a:lumMod val="75000"/>
                                  <a:lumOff val="25000"/>
                                </a:schemeClr>
                              </a:solidFill>
                              <a:effectLst/>
                              <a:latin typeface="Cambria Math" panose="02040503050406030204" pitchFamily="18" charset="0"/>
                            </a:rPr>
                            <m:t>𝑝𝑢𝑚𝑝</m:t>
                          </m:r>
                        </m:sub>
                      </m:sSub>
                      <m:r>
                        <a:rPr lang="en-US" i="1">
                          <a:solidFill>
                            <a:schemeClr val="tx1">
                              <a:lumMod val="75000"/>
                              <a:lumOff val="25000"/>
                            </a:schemeClr>
                          </a:solidFill>
                          <a:effectLst/>
                          <a:latin typeface="Cambria Math" panose="02040503050406030204" pitchFamily="18" charset="0"/>
                        </a:rPr>
                        <m:t>+</m:t>
                      </m:r>
                      <m:sSub>
                        <m:sSubPr>
                          <m:ctrlPr>
                            <a:rPr lang="en-US" i="1">
                              <a:solidFill>
                                <a:schemeClr val="tx1">
                                  <a:lumMod val="75000"/>
                                  <a:lumOff val="25000"/>
                                </a:schemeClr>
                              </a:solidFill>
                              <a:effectLst/>
                              <a:latin typeface="Cambria Math" panose="02040503050406030204" pitchFamily="18" charset="0"/>
                            </a:rPr>
                          </m:ctrlPr>
                        </m:sSubPr>
                        <m:e>
                          <m:r>
                            <a:rPr lang="en-US" i="1">
                              <a:solidFill>
                                <a:schemeClr val="tx1">
                                  <a:lumMod val="75000"/>
                                  <a:lumOff val="25000"/>
                                </a:schemeClr>
                              </a:solidFill>
                              <a:effectLst/>
                              <a:latin typeface="Cambria Math" panose="02040503050406030204" pitchFamily="18" charset="0"/>
                            </a:rPr>
                            <m:t>𝐸</m:t>
                          </m:r>
                        </m:e>
                        <m:sub>
                          <m:r>
                            <a:rPr lang="en-US" i="1">
                              <a:solidFill>
                                <a:schemeClr val="tx1">
                                  <a:lumMod val="75000"/>
                                  <a:lumOff val="25000"/>
                                </a:schemeClr>
                              </a:solidFill>
                              <a:effectLst/>
                              <a:latin typeface="Cambria Math" panose="02040503050406030204" pitchFamily="18" charset="0"/>
                            </a:rPr>
                            <m:t>𝐷𝑉</m:t>
                          </m:r>
                        </m:sub>
                      </m:sSub>
                    </m:oMath>
                  </m:oMathPara>
                </a14:m>
                <a:endParaRPr lang="en-US" dirty="0">
                  <a:solidFill>
                    <a:schemeClr val="tx1">
                      <a:lumMod val="75000"/>
                      <a:lumOff val="25000"/>
                    </a:schemeClr>
                  </a:solidFill>
                  <a:effectLst/>
                </a:endParaRPr>
              </a:p>
              <a:p>
                <a:pPr>
                  <a:lnSpc>
                    <a:spcPct val="90000"/>
                  </a:lnSpc>
                  <a:spcBef>
                    <a:spcPts val="1000"/>
                  </a:spcBef>
                  <a:buClr>
                    <a:schemeClr val="accent1"/>
                  </a:buClr>
                  <a:buFont typeface="Wingdings 3" charset="2"/>
                  <a:buChar char=""/>
                </a:pPr>
                <a:endParaRPr lang="en-US" dirty="0">
                  <a:solidFill>
                    <a:schemeClr val="tx1">
                      <a:lumMod val="75000"/>
                      <a:lumOff val="25000"/>
                    </a:schemeClr>
                  </a:solidFill>
                  <a:effectLst/>
                </a:endParaRPr>
              </a:p>
              <a:p>
                <a:pPr>
                  <a:lnSpc>
                    <a:spcPct val="90000"/>
                  </a:lnSpc>
                  <a:spcBef>
                    <a:spcPts val="1000"/>
                  </a:spcBef>
                  <a:buClr>
                    <a:schemeClr val="accent1"/>
                  </a:buClr>
                  <a:buFont typeface="Wingdings 3" charset="2"/>
                  <a:buChar char=""/>
                </a:pPr>
                <a:endParaRPr lang="en-US" dirty="0">
                  <a:solidFill>
                    <a:schemeClr val="tx1">
                      <a:lumMod val="75000"/>
                      <a:lumOff val="25000"/>
                    </a:schemeClr>
                  </a:solidFill>
                  <a:effectLst/>
                </a:endParaRPr>
              </a:p>
            </p:txBody>
          </p:sp>
        </mc:Choice>
        <mc:Fallback xmlns="">
          <p:sp>
            <p:nvSpPr>
              <p:cNvPr id="2" name="TextBox 1">
                <a:extLst>
                  <a:ext uri="{FF2B5EF4-FFF2-40B4-BE49-F238E27FC236}">
                    <a16:creationId xmlns:a16="http://schemas.microsoft.com/office/drawing/2014/main" id="{9592EADE-5672-D2EF-6839-C891F9D69F65}"/>
                  </a:ext>
                </a:extLst>
              </p:cNvPr>
              <p:cNvSpPr txBox="1">
                <a:spLocks noRot="1" noChangeAspect="1" noMove="1" noResize="1" noEditPoints="1" noAdjustHandles="1" noChangeArrowheads="1" noChangeShapeType="1" noTextEdit="1"/>
              </p:cNvSpPr>
              <p:nvPr/>
            </p:nvSpPr>
            <p:spPr>
              <a:xfrm>
                <a:off x="544825" y="377800"/>
                <a:ext cx="6574535" cy="5605365"/>
              </a:xfrm>
              <a:prstGeom prst="rect">
                <a:avLst/>
              </a:prstGeom>
              <a:blipFill>
                <a:blip r:embed="rId2"/>
                <a:stretch>
                  <a:fillRect l="-649" t="-1197" b="-2067"/>
                </a:stretch>
              </a:blipFill>
            </p:spPr>
            <p:txBody>
              <a:bodyPr/>
              <a:lstStyle/>
              <a:p>
                <a:r>
                  <a:rPr lang="en-US">
                    <a:noFill/>
                  </a:rPr>
                  <a:t> </a:t>
                </a:r>
              </a:p>
            </p:txBody>
          </p:sp>
        </mc:Fallback>
      </mc:AlternateContent>
      <p:sp>
        <p:nvSpPr>
          <p:cNvPr id="44" name="Freeform 11">
            <a:extLst>
              <a:ext uri="{FF2B5EF4-FFF2-40B4-BE49-F238E27FC236}">
                <a16:creationId xmlns:a16="http://schemas.microsoft.com/office/drawing/2014/main" id="{21F6BE39-9E37-45F0-B10C-92305CFB7C7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6061223"/>
            <a:ext cx="1038036" cy="506277"/>
          </a:xfrm>
          <a:custGeom>
            <a:avLst/>
            <a:gdLst>
              <a:gd name="connsiteX0" fmla="*/ 0 w 1038036"/>
              <a:gd name="connsiteY0" fmla="*/ 0 h 506277"/>
              <a:gd name="connsiteX1" fmla="*/ 182880 w 1038036"/>
              <a:gd name="connsiteY1" fmla="*/ 0 h 506277"/>
              <a:gd name="connsiteX2" fmla="*/ 291705 w 1038036"/>
              <a:gd name="connsiteY2" fmla="*/ 0 h 506277"/>
              <a:gd name="connsiteX3" fmla="*/ 291705 w 1038036"/>
              <a:gd name="connsiteY3" fmla="*/ 151 h 506277"/>
              <a:gd name="connsiteX4" fmla="*/ 692049 w 1038036"/>
              <a:gd name="connsiteY4" fmla="*/ 705 h 506277"/>
              <a:gd name="connsiteX5" fmla="*/ 782744 w 1038036"/>
              <a:gd name="connsiteY5" fmla="*/ 705 h 506277"/>
              <a:gd name="connsiteX6" fmla="*/ 797001 w 1038036"/>
              <a:gd name="connsiteY6" fmla="*/ 5473 h 506277"/>
              <a:gd name="connsiteX7" fmla="*/ 801982 w 1038036"/>
              <a:gd name="connsiteY7" fmla="*/ 10242 h 506277"/>
              <a:gd name="connsiteX8" fmla="*/ 1030951 w 1038036"/>
              <a:gd name="connsiteY8" fmla="*/ 239185 h 506277"/>
              <a:gd name="connsiteX9" fmla="*/ 1030951 w 1038036"/>
              <a:gd name="connsiteY9" fmla="*/ 267797 h 506277"/>
              <a:gd name="connsiteX10" fmla="*/ 801982 w 1038036"/>
              <a:gd name="connsiteY10" fmla="*/ 496740 h 506277"/>
              <a:gd name="connsiteX11" fmla="*/ 797001 w 1038036"/>
              <a:gd name="connsiteY11" fmla="*/ 501508 h 506277"/>
              <a:gd name="connsiteX12" fmla="*/ 782744 w 1038036"/>
              <a:gd name="connsiteY12" fmla="*/ 506277 h 506277"/>
              <a:gd name="connsiteX13" fmla="*/ 692049 w 1038036"/>
              <a:gd name="connsiteY13" fmla="*/ 506277 h 506277"/>
              <a:gd name="connsiteX14" fmla="*/ 291705 w 1038036"/>
              <a:gd name="connsiteY14" fmla="*/ 505140 h 506277"/>
              <a:gd name="connsiteX15" fmla="*/ 291705 w 1038036"/>
              <a:gd name="connsiteY15" fmla="*/ 506277 h 506277"/>
              <a:gd name="connsiteX16" fmla="*/ 0 w 1038036"/>
              <a:gd name="connsiteY16" fmla="*/ 506277 h 5062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38036" h="506277">
                <a:moveTo>
                  <a:pt x="0" y="0"/>
                </a:moveTo>
                <a:lnTo>
                  <a:pt x="182880" y="0"/>
                </a:lnTo>
                <a:lnTo>
                  <a:pt x="291705" y="0"/>
                </a:lnTo>
                <a:lnTo>
                  <a:pt x="291705" y="151"/>
                </a:lnTo>
                <a:lnTo>
                  <a:pt x="692049" y="705"/>
                </a:lnTo>
                <a:lnTo>
                  <a:pt x="782744" y="705"/>
                </a:lnTo>
                <a:cubicBezTo>
                  <a:pt x="787553" y="705"/>
                  <a:pt x="792363" y="5473"/>
                  <a:pt x="797001" y="5473"/>
                </a:cubicBezTo>
                <a:cubicBezTo>
                  <a:pt x="797001" y="10242"/>
                  <a:pt x="801982" y="10242"/>
                  <a:pt x="801982" y="10242"/>
                </a:cubicBezTo>
                <a:lnTo>
                  <a:pt x="1030951" y="239185"/>
                </a:lnTo>
                <a:cubicBezTo>
                  <a:pt x="1040398" y="248722"/>
                  <a:pt x="1040398" y="258259"/>
                  <a:pt x="1030951" y="267797"/>
                </a:cubicBezTo>
                <a:lnTo>
                  <a:pt x="801982" y="496740"/>
                </a:lnTo>
                <a:cubicBezTo>
                  <a:pt x="800436" y="498363"/>
                  <a:pt x="798547" y="499885"/>
                  <a:pt x="797001" y="501508"/>
                </a:cubicBezTo>
                <a:cubicBezTo>
                  <a:pt x="792363" y="506277"/>
                  <a:pt x="787553" y="506277"/>
                  <a:pt x="782744" y="506277"/>
                </a:cubicBezTo>
                <a:lnTo>
                  <a:pt x="692049" y="506277"/>
                </a:lnTo>
                <a:lnTo>
                  <a:pt x="291705" y="505140"/>
                </a:lnTo>
                <a:lnTo>
                  <a:pt x="291705" y="506277"/>
                </a:lnTo>
                <a:lnTo>
                  <a:pt x="0" y="506277"/>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3" name="Table 2">
            <a:extLst>
              <a:ext uri="{FF2B5EF4-FFF2-40B4-BE49-F238E27FC236}">
                <a16:creationId xmlns:a16="http://schemas.microsoft.com/office/drawing/2014/main" id="{186CC19E-F387-21E2-090B-C3560ECAF547}"/>
              </a:ext>
            </a:extLst>
          </p:cNvPr>
          <p:cNvGraphicFramePr>
            <a:graphicFrameLocks noGrp="1"/>
          </p:cNvGraphicFramePr>
          <p:nvPr>
            <p:extLst>
              <p:ext uri="{D42A27DB-BD31-4B8C-83A1-F6EECF244321}">
                <p14:modId xmlns:p14="http://schemas.microsoft.com/office/powerpoint/2010/main" val="4290273296"/>
              </p:ext>
            </p:extLst>
          </p:nvPr>
        </p:nvGraphicFramePr>
        <p:xfrm>
          <a:off x="5292345" y="1994817"/>
          <a:ext cx="6574535" cy="4085530"/>
        </p:xfrm>
        <a:graphic>
          <a:graphicData uri="http://schemas.openxmlformats.org/drawingml/2006/table">
            <a:tbl>
              <a:tblPr firstRow="1" firstCol="1" bandRow="1">
                <a:tableStyleId>{5C22544A-7EE6-4342-B048-85BDC9FD1C3A}</a:tableStyleId>
              </a:tblPr>
              <a:tblGrid>
                <a:gridCol w="1123361">
                  <a:extLst>
                    <a:ext uri="{9D8B030D-6E8A-4147-A177-3AD203B41FA5}">
                      <a16:colId xmlns:a16="http://schemas.microsoft.com/office/drawing/2014/main" val="3956960730"/>
                    </a:ext>
                  </a:extLst>
                </a:gridCol>
                <a:gridCol w="1366761">
                  <a:extLst>
                    <a:ext uri="{9D8B030D-6E8A-4147-A177-3AD203B41FA5}">
                      <a16:colId xmlns:a16="http://schemas.microsoft.com/office/drawing/2014/main" val="1526914106"/>
                    </a:ext>
                  </a:extLst>
                </a:gridCol>
                <a:gridCol w="1223897">
                  <a:extLst>
                    <a:ext uri="{9D8B030D-6E8A-4147-A177-3AD203B41FA5}">
                      <a16:colId xmlns:a16="http://schemas.microsoft.com/office/drawing/2014/main" val="3516538447"/>
                    </a:ext>
                  </a:extLst>
                </a:gridCol>
                <a:gridCol w="1366761">
                  <a:extLst>
                    <a:ext uri="{9D8B030D-6E8A-4147-A177-3AD203B41FA5}">
                      <a16:colId xmlns:a16="http://schemas.microsoft.com/office/drawing/2014/main" val="2492691985"/>
                    </a:ext>
                  </a:extLst>
                </a:gridCol>
                <a:gridCol w="1493755">
                  <a:extLst>
                    <a:ext uri="{9D8B030D-6E8A-4147-A177-3AD203B41FA5}">
                      <a16:colId xmlns:a16="http://schemas.microsoft.com/office/drawing/2014/main" val="1467277456"/>
                    </a:ext>
                  </a:extLst>
                </a:gridCol>
              </a:tblGrid>
              <a:tr h="275769">
                <a:tc>
                  <a:txBody>
                    <a:bodyPr/>
                    <a:lstStyle/>
                    <a:p>
                      <a:pPr marL="0" marR="0" algn="ctr">
                        <a:lnSpc>
                          <a:spcPct val="107000"/>
                        </a:lnSpc>
                        <a:spcBef>
                          <a:spcPts val="0"/>
                        </a:spcBef>
                        <a:spcAft>
                          <a:spcPts val="0"/>
                        </a:spcAft>
                      </a:pPr>
                      <a:r>
                        <a:rPr lang="en-US" sz="2000" dirty="0">
                          <a:effectLst/>
                          <a:latin typeface="Times New Roman" panose="02020603050405020304" pitchFamily="18" charset="0"/>
                          <a:cs typeface="Times New Roman" panose="02020603050405020304" pitchFamily="18" charset="0"/>
                        </a:rPr>
                        <a:t>Design</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9215" marR="69215" marT="0" marB="0" anchor="b"/>
                </a:tc>
                <a:tc>
                  <a:txBody>
                    <a:bodyPr/>
                    <a:lstStyle/>
                    <a:p>
                      <a:pPr marL="0" marR="0" algn="ctr">
                        <a:lnSpc>
                          <a:spcPct val="107000"/>
                        </a:lnSpc>
                        <a:spcBef>
                          <a:spcPts val="0"/>
                        </a:spcBef>
                        <a:spcAft>
                          <a:spcPts val="0"/>
                        </a:spcAft>
                      </a:pPr>
                      <a:r>
                        <a:rPr lang="en-US" sz="2000">
                          <a:effectLst/>
                          <a:latin typeface="Times New Roman" panose="02020603050405020304" pitchFamily="18" charset="0"/>
                          <a:cs typeface="Times New Roman" panose="02020603050405020304" pitchFamily="18" charset="0"/>
                        </a:rPr>
                        <a:t>mw</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9215" marR="69215" marT="0" marB="0" anchor="b"/>
                </a:tc>
                <a:tc>
                  <a:txBody>
                    <a:bodyPr/>
                    <a:lstStyle/>
                    <a:p>
                      <a:pPr marL="0" marR="0" algn="ctr">
                        <a:lnSpc>
                          <a:spcPct val="107000"/>
                        </a:lnSpc>
                        <a:spcBef>
                          <a:spcPts val="0"/>
                        </a:spcBef>
                        <a:spcAft>
                          <a:spcPts val="0"/>
                        </a:spcAft>
                      </a:pPr>
                      <a:r>
                        <a:rPr lang="en-US" sz="2000">
                          <a:effectLst/>
                          <a:latin typeface="Times New Roman" panose="02020603050405020304" pitchFamily="18" charset="0"/>
                          <a:cs typeface="Times New Roman" panose="02020603050405020304" pitchFamily="18" charset="0"/>
                        </a:rPr>
                        <a:t> Tw_out</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9215" marR="69215" marT="0" marB="0" anchor="b"/>
                </a:tc>
                <a:tc>
                  <a:txBody>
                    <a:bodyPr/>
                    <a:lstStyle/>
                    <a:p>
                      <a:pPr marL="0" marR="0" algn="ctr">
                        <a:lnSpc>
                          <a:spcPct val="107000"/>
                        </a:lnSpc>
                        <a:spcBef>
                          <a:spcPts val="0"/>
                        </a:spcBef>
                        <a:spcAft>
                          <a:spcPts val="0"/>
                        </a:spcAft>
                      </a:pPr>
                      <a:r>
                        <a:rPr lang="en-US" sz="2000">
                          <a:effectLst/>
                          <a:latin typeface="Times New Roman" panose="02020603050405020304" pitchFamily="18" charset="0"/>
                          <a:cs typeface="Times New Roman" panose="02020603050405020304" pitchFamily="18" charset="0"/>
                        </a:rPr>
                        <a:t>Ppump</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9215" marR="69215" marT="0" marB="0" anchor="b"/>
                </a:tc>
                <a:tc>
                  <a:txBody>
                    <a:bodyPr/>
                    <a:lstStyle/>
                    <a:p>
                      <a:pPr marL="0" marR="0" algn="ctr">
                        <a:lnSpc>
                          <a:spcPct val="107000"/>
                        </a:lnSpc>
                        <a:spcBef>
                          <a:spcPts val="0"/>
                        </a:spcBef>
                        <a:spcAft>
                          <a:spcPts val="0"/>
                        </a:spcAft>
                      </a:pPr>
                      <a:r>
                        <a:rPr lang="en-US" sz="2000">
                          <a:effectLst/>
                          <a:latin typeface="Times New Roman" panose="02020603050405020304" pitchFamily="18" charset="0"/>
                          <a:cs typeface="Times New Roman" panose="02020603050405020304" pitchFamily="18" charset="0"/>
                        </a:rPr>
                        <a:t>E total</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9215" marR="69215" marT="0" marB="0" anchor="b"/>
                </a:tc>
                <a:extLst>
                  <a:ext uri="{0D108BD9-81ED-4DB2-BD59-A6C34878D82A}">
                    <a16:rowId xmlns:a16="http://schemas.microsoft.com/office/drawing/2014/main" val="3924838795"/>
                  </a:ext>
                </a:extLst>
              </a:tr>
              <a:tr h="514813">
                <a:tc>
                  <a:txBody>
                    <a:bodyPr/>
                    <a:lstStyle/>
                    <a:p>
                      <a:pPr marL="0" marR="0" algn="ctr">
                        <a:lnSpc>
                          <a:spcPct val="107000"/>
                        </a:lnSpc>
                        <a:spcBef>
                          <a:spcPts val="0"/>
                        </a:spcBef>
                        <a:spcAft>
                          <a:spcPts val="0"/>
                        </a:spcAft>
                      </a:pPr>
                      <a:r>
                        <a:rPr lang="en-US" sz="2000">
                          <a:effectLst/>
                          <a:latin typeface="Times New Roman" panose="02020603050405020304" pitchFamily="18" charset="0"/>
                          <a:cs typeface="Times New Roman" panose="02020603050405020304" pitchFamily="18" charset="0"/>
                        </a:rPr>
                        <a:t>1</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9215" marR="69215" marT="0" marB="0" anchor="b"/>
                </a:tc>
                <a:tc>
                  <a:txBody>
                    <a:bodyPr/>
                    <a:lstStyle/>
                    <a:p>
                      <a:pPr marL="0" marR="0" algn="ctr">
                        <a:lnSpc>
                          <a:spcPct val="107000"/>
                        </a:lnSpc>
                        <a:spcBef>
                          <a:spcPts val="0"/>
                        </a:spcBef>
                        <a:spcAft>
                          <a:spcPts val="0"/>
                        </a:spcAft>
                      </a:pPr>
                      <a:r>
                        <a:rPr lang="en-US" sz="2000" dirty="0">
                          <a:effectLst/>
                          <a:latin typeface="Times New Roman" panose="02020603050405020304" pitchFamily="18" charset="0"/>
                          <a:cs typeface="Times New Roman" panose="02020603050405020304" pitchFamily="18" charset="0"/>
                        </a:rPr>
                        <a:t>0.039286</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9215" marR="69215" marT="0" marB="0" anchor="b"/>
                </a:tc>
                <a:tc>
                  <a:txBody>
                    <a:bodyPr/>
                    <a:lstStyle/>
                    <a:p>
                      <a:pPr marL="0" marR="0" algn="ctr">
                        <a:lnSpc>
                          <a:spcPct val="107000"/>
                        </a:lnSpc>
                        <a:spcBef>
                          <a:spcPts val="0"/>
                        </a:spcBef>
                        <a:spcAft>
                          <a:spcPts val="0"/>
                        </a:spcAft>
                      </a:pPr>
                      <a:r>
                        <a:rPr lang="en-US" sz="2000">
                          <a:effectLst/>
                          <a:latin typeface="Times New Roman" panose="02020603050405020304" pitchFamily="18" charset="0"/>
                          <a:cs typeface="Times New Roman" panose="02020603050405020304" pitchFamily="18" charset="0"/>
                        </a:rPr>
                        <a:t>19</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9215" marR="69215" marT="0" marB="0" anchor="b"/>
                </a:tc>
                <a:tc>
                  <a:txBody>
                    <a:bodyPr/>
                    <a:lstStyle/>
                    <a:p>
                      <a:pPr marL="0" marR="0" algn="ctr">
                        <a:lnSpc>
                          <a:spcPct val="107000"/>
                        </a:lnSpc>
                        <a:spcBef>
                          <a:spcPts val="0"/>
                        </a:spcBef>
                        <a:spcAft>
                          <a:spcPts val="0"/>
                        </a:spcAft>
                      </a:pPr>
                      <a:r>
                        <a:rPr lang="en-US" sz="2000">
                          <a:effectLst/>
                          <a:latin typeface="Times New Roman" panose="02020603050405020304" pitchFamily="18" charset="0"/>
                          <a:cs typeface="Times New Roman" panose="02020603050405020304" pitchFamily="18" charset="0"/>
                        </a:rPr>
                        <a:t>1.926964</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9215" marR="69215" marT="0" marB="0" anchor="b"/>
                </a:tc>
                <a:tc>
                  <a:txBody>
                    <a:bodyPr/>
                    <a:lstStyle/>
                    <a:p>
                      <a:pPr marL="0" marR="0" algn="ctr">
                        <a:lnSpc>
                          <a:spcPct val="107000"/>
                        </a:lnSpc>
                        <a:spcBef>
                          <a:spcPts val="0"/>
                        </a:spcBef>
                        <a:spcAft>
                          <a:spcPts val="0"/>
                        </a:spcAft>
                      </a:pPr>
                      <a:r>
                        <a:rPr lang="en-US" sz="2000">
                          <a:effectLst/>
                          <a:latin typeface="Times New Roman" panose="02020603050405020304" pitchFamily="18" charset="0"/>
                          <a:cs typeface="Times New Roman" panose="02020603050405020304" pitchFamily="18" charset="0"/>
                        </a:rPr>
                        <a:t>       10,241.53 </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9215" marR="69215" marT="0" marB="0" anchor="b"/>
                </a:tc>
                <a:extLst>
                  <a:ext uri="{0D108BD9-81ED-4DB2-BD59-A6C34878D82A}">
                    <a16:rowId xmlns:a16="http://schemas.microsoft.com/office/drawing/2014/main" val="2125411187"/>
                  </a:ext>
                </a:extLst>
              </a:tr>
              <a:tr h="514813">
                <a:tc>
                  <a:txBody>
                    <a:bodyPr/>
                    <a:lstStyle/>
                    <a:p>
                      <a:pPr marL="0" marR="0" algn="ctr">
                        <a:lnSpc>
                          <a:spcPct val="107000"/>
                        </a:lnSpc>
                        <a:spcBef>
                          <a:spcPts val="0"/>
                        </a:spcBef>
                        <a:spcAft>
                          <a:spcPts val="0"/>
                        </a:spcAft>
                      </a:pPr>
                      <a:r>
                        <a:rPr lang="en-US" sz="2000">
                          <a:effectLst/>
                          <a:latin typeface="Times New Roman" panose="02020603050405020304" pitchFamily="18" charset="0"/>
                          <a:cs typeface="Times New Roman" panose="02020603050405020304" pitchFamily="18" charset="0"/>
                        </a:rPr>
                        <a:t>2</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9215" marR="69215" marT="0" marB="0" anchor="b"/>
                </a:tc>
                <a:tc>
                  <a:txBody>
                    <a:bodyPr/>
                    <a:lstStyle/>
                    <a:p>
                      <a:pPr marL="0" marR="0" algn="ctr">
                        <a:lnSpc>
                          <a:spcPct val="107000"/>
                        </a:lnSpc>
                        <a:spcBef>
                          <a:spcPts val="0"/>
                        </a:spcBef>
                        <a:spcAft>
                          <a:spcPts val="0"/>
                        </a:spcAft>
                      </a:pPr>
                      <a:r>
                        <a:rPr lang="en-US" sz="2000" dirty="0">
                          <a:effectLst/>
                          <a:latin typeface="Times New Roman" panose="02020603050405020304" pitchFamily="18" charset="0"/>
                          <a:cs typeface="Times New Roman" panose="02020603050405020304" pitchFamily="18" charset="0"/>
                        </a:rPr>
                        <a:t>0.045833</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9215" marR="69215" marT="0" marB="0" anchor="b"/>
                </a:tc>
                <a:tc>
                  <a:txBody>
                    <a:bodyPr/>
                    <a:lstStyle/>
                    <a:p>
                      <a:pPr marL="0" marR="0" algn="ctr">
                        <a:lnSpc>
                          <a:spcPct val="107000"/>
                        </a:lnSpc>
                        <a:spcBef>
                          <a:spcPts val="0"/>
                        </a:spcBef>
                        <a:spcAft>
                          <a:spcPts val="0"/>
                        </a:spcAft>
                      </a:pPr>
                      <a:r>
                        <a:rPr lang="en-US" sz="2000" dirty="0">
                          <a:effectLst/>
                          <a:latin typeface="Times New Roman" panose="02020603050405020304" pitchFamily="18" charset="0"/>
                          <a:cs typeface="Times New Roman" panose="02020603050405020304" pitchFamily="18" charset="0"/>
                        </a:rPr>
                        <a:t>19</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9215" marR="69215" marT="0" marB="0" anchor="b"/>
                </a:tc>
                <a:tc>
                  <a:txBody>
                    <a:bodyPr/>
                    <a:lstStyle/>
                    <a:p>
                      <a:pPr marL="0" marR="0" algn="ctr">
                        <a:lnSpc>
                          <a:spcPct val="107000"/>
                        </a:lnSpc>
                        <a:spcBef>
                          <a:spcPts val="0"/>
                        </a:spcBef>
                        <a:spcAft>
                          <a:spcPts val="0"/>
                        </a:spcAft>
                      </a:pPr>
                      <a:r>
                        <a:rPr lang="en-US" sz="2000">
                          <a:effectLst/>
                          <a:latin typeface="Times New Roman" panose="02020603050405020304" pitchFamily="18" charset="0"/>
                          <a:cs typeface="Times New Roman" panose="02020603050405020304" pitchFamily="18" charset="0"/>
                        </a:rPr>
                        <a:t>2.248125</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9215" marR="69215" marT="0" marB="0" anchor="b"/>
                </a:tc>
                <a:tc>
                  <a:txBody>
                    <a:bodyPr/>
                    <a:lstStyle/>
                    <a:p>
                      <a:pPr marL="0" marR="0" algn="ctr">
                        <a:lnSpc>
                          <a:spcPct val="107000"/>
                        </a:lnSpc>
                        <a:spcBef>
                          <a:spcPts val="0"/>
                        </a:spcBef>
                        <a:spcAft>
                          <a:spcPts val="0"/>
                        </a:spcAft>
                      </a:pPr>
                      <a:r>
                        <a:rPr lang="en-US" sz="2000">
                          <a:effectLst/>
                          <a:latin typeface="Times New Roman" panose="02020603050405020304" pitchFamily="18" charset="0"/>
                          <a:cs typeface="Times New Roman" panose="02020603050405020304" pitchFamily="18" charset="0"/>
                        </a:rPr>
                        <a:t>          7,204.19 </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9215" marR="69215" marT="0" marB="0" anchor="b"/>
                </a:tc>
                <a:extLst>
                  <a:ext uri="{0D108BD9-81ED-4DB2-BD59-A6C34878D82A}">
                    <a16:rowId xmlns:a16="http://schemas.microsoft.com/office/drawing/2014/main" val="1348778347"/>
                  </a:ext>
                </a:extLst>
              </a:tr>
              <a:tr h="514813">
                <a:tc>
                  <a:txBody>
                    <a:bodyPr/>
                    <a:lstStyle/>
                    <a:p>
                      <a:pPr marL="0" marR="0" algn="ctr">
                        <a:lnSpc>
                          <a:spcPct val="107000"/>
                        </a:lnSpc>
                        <a:spcBef>
                          <a:spcPts val="0"/>
                        </a:spcBef>
                        <a:spcAft>
                          <a:spcPts val="0"/>
                        </a:spcAft>
                      </a:pPr>
                      <a:r>
                        <a:rPr lang="en-US" sz="2000">
                          <a:effectLst/>
                          <a:latin typeface="Times New Roman" panose="02020603050405020304" pitchFamily="18" charset="0"/>
                          <a:cs typeface="Times New Roman" panose="02020603050405020304" pitchFamily="18" charset="0"/>
                        </a:rPr>
                        <a:t>3</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9215" marR="69215" marT="0" marB="0" anchor="b"/>
                </a:tc>
                <a:tc>
                  <a:txBody>
                    <a:bodyPr/>
                    <a:lstStyle/>
                    <a:p>
                      <a:pPr marL="0" marR="0" algn="ctr">
                        <a:lnSpc>
                          <a:spcPct val="107000"/>
                        </a:lnSpc>
                        <a:spcBef>
                          <a:spcPts val="0"/>
                        </a:spcBef>
                        <a:spcAft>
                          <a:spcPts val="0"/>
                        </a:spcAft>
                      </a:pPr>
                      <a:r>
                        <a:rPr lang="en-US" sz="2000">
                          <a:effectLst/>
                          <a:latin typeface="Times New Roman" panose="02020603050405020304" pitchFamily="18" charset="0"/>
                          <a:cs typeface="Times New Roman" panose="02020603050405020304" pitchFamily="18" charset="0"/>
                        </a:rPr>
                        <a:t>0.124405</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9215" marR="69215" marT="0" marB="0" anchor="b"/>
                </a:tc>
                <a:tc>
                  <a:txBody>
                    <a:bodyPr/>
                    <a:lstStyle/>
                    <a:p>
                      <a:pPr marL="0" marR="0" algn="ctr">
                        <a:lnSpc>
                          <a:spcPct val="107000"/>
                        </a:lnSpc>
                        <a:spcBef>
                          <a:spcPts val="0"/>
                        </a:spcBef>
                        <a:spcAft>
                          <a:spcPts val="0"/>
                        </a:spcAft>
                      </a:pPr>
                      <a:r>
                        <a:rPr lang="en-US" sz="2000" dirty="0">
                          <a:effectLst/>
                          <a:latin typeface="Times New Roman" panose="02020603050405020304" pitchFamily="18" charset="0"/>
                          <a:cs typeface="Times New Roman" panose="02020603050405020304" pitchFamily="18" charset="0"/>
                        </a:rPr>
                        <a:t>17</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9215" marR="69215" marT="0" marB="0" anchor="b"/>
                </a:tc>
                <a:tc>
                  <a:txBody>
                    <a:bodyPr/>
                    <a:lstStyle/>
                    <a:p>
                      <a:pPr marL="0" marR="0" algn="ctr">
                        <a:lnSpc>
                          <a:spcPct val="107000"/>
                        </a:lnSpc>
                        <a:spcBef>
                          <a:spcPts val="0"/>
                        </a:spcBef>
                        <a:spcAft>
                          <a:spcPts val="0"/>
                        </a:spcAft>
                      </a:pPr>
                      <a:r>
                        <a:rPr lang="en-US" sz="2000" dirty="0">
                          <a:effectLst/>
                          <a:latin typeface="Times New Roman" panose="02020603050405020304" pitchFamily="18" charset="0"/>
                          <a:cs typeface="Times New Roman" panose="02020603050405020304" pitchFamily="18" charset="0"/>
                        </a:rPr>
                        <a:t>6.102054</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9215" marR="69215" marT="0" marB="0" anchor="b"/>
                </a:tc>
                <a:tc>
                  <a:txBody>
                    <a:bodyPr/>
                    <a:lstStyle/>
                    <a:p>
                      <a:pPr marL="0" marR="0" algn="ctr">
                        <a:lnSpc>
                          <a:spcPct val="107000"/>
                        </a:lnSpc>
                        <a:spcBef>
                          <a:spcPts val="0"/>
                        </a:spcBef>
                        <a:spcAft>
                          <a:spcPts val="0"/>
                        </a:spcAft>
                      </a:pPr>
                      <a:r>
                        <a:rPr lang="en-US" sz="2000">
                          <a:effectLst/>
                          <a:latin typeface="Times New Roman" panose="02020603050405020304" pitchFamily="18" charset="0"/>
                          <a:cs typeface="Times New Roman" panose="02020603050405020304" pitchFamily="18" charset="0"/>
                        </a:rPr>
                        <a:t>          6,157.79 </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9215" marR="69215" marT="0" marB="0" anchor="b"/>
                </a:tc>
                <a:extLst>
                  <a:ext uri="{0D108BD9-81ED-4DB2-BD59-A6C34878D82A}">
                    <a16:rowId xmlns:a16="http://schemas.microsoft.com/office/drawing/2014/main" val="2129699359"/>
                  </a:ext>
                </a:extLst>
              </a:tr>
              <a:tr h="514813">
                <a:tc>
                  <a:txBody>
                    <a:bodyPr/>
                    <a:lstStyle/>
                    <a:p>
                      <a:pPr marL="0" marR="0" algn="ctr">
                        <a:lnSpc>
                          <a:spcPct val="107000"/>
                        </a:lnSpc>
                        <a:spcBef>
                          <a:spcPts val="0"/>
                        </a:spcBef>
                        <a:spcAft>
                          <a:spcPts val="0"/>
                        </a:spcAft>
                      </a:pPr>
                      <a:r>
                        <a:rPr lang="en-US" sz="2000">
                          <a:effectLst/>
                          <a:latin typeface="Times New Roman" panose="02020603050405020304" pitchFamily="18" charset="0"/>
                          <a:cs typeface="Times New Roman" panose="02020603050405020304" pitchFamily="18" charset="0"/>
                        </a:rPr>
                        <a:t>4</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9215" marR="69215" marT="0" marB="0" anchor="b"/>
                </a:tc>
                <a:tc>
                  <a:txBody>
                    <a:bodyPr/>
                    <a:lstStyle/>
                    <a:p>
                      <a:pPr marL="0" marR="0" algn="ctr">
                        <a:lnSpc>
                          <a:spcPct val="107000"/>
                        </a:lnSpc>
                        <a:spcBef>
                          <a:spcPts val="0"/>
                        </a:spcBef>
                        <a:spcAft>
                          <a:spcPts val="0"/>
                        </a:spcAft>
                      </a:pPr>
                      <a:r>
                        <a:rPr lang="en-US" sz="2000">
                          <a:effectLst/>
                          <a:latin typeface="Times New Roman" panose="02020603050405020304" pitchFamily="18" charset="0"/>
                          <a:cs typeface="Times New Roman" panose="02020603050405020304" pitchFamily="18" charset="0"/>
                        </a:rPr>
                        <a:t>0.1375</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9215" marR="69215" marT="0" marB="0" anchor="b"/>
                </a:tc>
                <a:tc>
                  <a:txBody>
                    <a:bodyPr/>
                    <a:lstStyle/>
                    <a:p>
                      <a:pPr marL="0" marR="0" algn="ctr">
                        <a:lnSpc>
                          <a:spcPct val="107000"/>
                        </a:lnSpc>
                        <a:spcBef>
                          <a:spcPts val="0"/>
                        </a:spcBef>
                        <a:spcAft>
                          <a:spcPts val="0"/>
                        </a:spcAft>
                      </a:pPr>
                      <a:r>
                        <a:rPr lang="en-US" sz="2000">
                          <a:effectLst/>
                          <a:latin typeface="Times New Roman" panose="02020603050405020304" pitchFamily="18" charset="0"/>
                          <a:cs typeface="Times New Roman" panose="02020603050405020304" pitchFamily="18" charset="0"/>
                        </a:rPr>
                        <a:t>17</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9215" marR="69215" marT="0" marB="0" anchor="b"/>
                </a:tc>
                <a:tc>
                  <a:txBody>
                    <a:bodyPr/>
                    <a:lstStyle/>
                    <a:p>
                      <a:pPr marL="0" marR="0" algn="ctr">
                        <a:lnSpc>
                          <a:spcPct val="107000"/>
                        </a:lnSpc>
                        <a:spcBef>
                          <a:spcPts val="0"/>
                        </a:spcBef>
                        <a:spcAft>
                          <a:spcPts val="0"/>
                        </a:spcAft>
                      </a:pPr>
                      <a:r>
                        <a:rPr lang="en-US" sz="2000" dirty="0">
                          <a:effectLst/>
                          <a:latin typeface="Times New Roman" panose="02020603050405020304" pitchFamily="18" charset="0"/>
                          <a:cs typeface="Times New Roman" panose="02020603050405020304" pitchFamily="18" charset="0"/>
                        </a:rPr>
                        <a:t>6.744375</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9215" marR="69215" marT="0" marB="0" anchor="b"/>
                </a:tc>
                <a:tc>
                  <a:txBody>
                    <a:bodyPr/>
                    <a:lstStyle/>
                    <a:p>
                      <a:pPr marL="0" marR="0" algn="ctr">
                        <a:lnSpc>
                          <a:spcPct val="107000"/>
                        </a:lnSpc>
                        <a:spcBef>
                          <a:spcPts val="0"/>
                        </a:spcBef>
                        <a:spcAft>
                          <a:spcPts val="0"/>
                        </a:spcAft>
                      </a:pPr>
                      <a:r>
                        <a:rPr lang="en-US" sz="2000">
                          <a:effectLst/>
                          <a:latin typeface="Times New Roman" panose="02020603050405020304" pitchFamily="18" charset="0"/>
                          <a:cs typeface="Times New Roman" panose="02020603050405020304" pitchFamily="18" charset="0"/>
                        </a:rPr>
                        <a:t>          5,099.86 </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9215" marR="69215" marT="0" marB="0" anchor="b"/>
                </a:tc>
                <a:extLst>
                  <a:ext uri="{0D108BD9-81ED-4DB2-BD59-A6C34878D82A}">
                    <a16:rowId xmlns:a16="http://schemas.microsoft.com/office/drawing/2014/main" val="60983672"/>
                  </a:ext>
                </a:extLst>
              </a:tr>
              <a:tr h="514813">
                <a:tc>
                  <a:txBody>
                    <a:bodyPr/>
                    <a:lstStyle/>
                    <a:p>
                      <a:pPr marL="0" marR="0" algn="ctr">
                        <a:lnSpc>
                          <a:spcPct val="107000"/>
                        </a:lnSpc>
                        <a:spcBef>
                          <a:spcPts val="0"/>
                        </a:spcBef>
                        <a:spcAft>
                          <a:spcPts val="0"/>
                        </a:spcAft>
                      </a:pPr>
                      <a:r>
                        <a:rPr lang="en-US" sz="2000">
                          <a:effectLst/>
                          <a:latin typeface="Times New Roman" panose="02020603050405020304" pitchFamily="18" charset="0"/>
                          <a:cs typeface="Times New Roman" panose="02020603050405020304" pitchFamily="18" charset="0"/>
                        </a:rPr>
                        <a:t>5</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9215" marR="69215" marT="0" marB="0" anchor="b"/>
                </a:tc>
                <a:tc>
                  <a:txBody>
                    <a:bodyPr/>
                    <a:lstStyle/>
                    <a:p>
                      <a:pPr marL="0" marR="0" algn="ctr">
                        <a:lnSpc>
                          <a:spcPct val="107000"/>
                        </a:lnSpc>
                        <a:spcBef>
                          <a:spcPts val="0"/>
                        </a:spcBef>
                        <a:spcAft>
                          <a:spcPts val="0"/>
                        </a:spcAft>
                      </a:pPr>
                      <a:r>
                        <a:rPr lang="en-US" sz="2000">
                          <a:effectLst/>
                          <a:latin typeface="Times New Roman" panose="02020603050405020304" pitchFamily="18" charset="0"/>
                          <a:cs typeface="Times New Roman" panose="02020603050405020304" pitchFamily="18" charset="0"/>
                        </a:rPr>
                        <a:t>0.30119</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9215" marR="69215" marT="0" marB="0" anchor="b"/>
                </a:tc>
                <a:tc>
                  <a:txBody>
                    <a:bodyPr/>
                    <a:lstStyle/>
                    <a:p>
                      <a:pPr marL="0" marR="0" algn="ctr">
                        <a:lnSpc>
                          <a:spcPct val="107000"/>
                        </a:lnSpc>
                        <a:spcBef>
                          <a:spcPts val="0"/>
                        </a:spcBef>
                        <a:spcAft>
                          <a:spcPts val="0"/>
                        </a:spcAft>
                      </a:pPr>
                      <a:r>
                        <a:rPr lang="en-US" sz="2000">
                          <a:effectLst/>
                          <a:latin typeface="Times New Roman" panose="02020603050405020304" pitchFamily="18" charset="0"/>
                          <a:cs typeface="Times New Roman" panose="02020603050405020304" pitchFamily="18" charset="0"/>
                        </a:rPr>
                        <a:t>16</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9215" marR="69215" marT="0" marB="0" anchor="b"/>
                </a:tc>
                <a:tc>
                  <a:txBody>
                    <a:bodyPr/>
                    <a:lstStyle/>
                    <a:p>
                      <a:pPr marL="0" marR="0" algn="ctr">
                        <a:lnSpc>
                          <a:spcPct val="107000"/>
                        </a:lnSpc>
                        <a:spcBef>
                          <a:spcPts val="0"/>
                        </a:spcBef>
                        <a:spcAft>
                          <a:spcPts val="0"/>
                        </a:spcAft>
                      </a:pPr>
                      <a:r>
                        <a:rPr lang="en-US" sz="2000" dirty="0">
                          <a:effectLst/>
                          <a:latin typeface="Times New Roman" panose="02020603050405020304" pitchFamily="18" charset="0"/>
                          <a:cs typeface="Times New Roman" panose="02020603050405020304" pitchFamily="18" charset="0"/>
                        </a:rPr>
                        <a:t>14.77339</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9215" marR="69215" marT="0" marB="0" anchor="b"/>
                </a:tc>
                <a:tc>
                  <a:txBody>
                    <a:bodyPr/>
                    <a:lstStyle/>
                    <a:p>
                      <a:pPr marL="0" marR="0" algn="ctr">
                        <a:lnSpc>
                          <a:spcPct val="107000"/>
                        </a:lnSpc>
                        <a:spcBef>
                          <a:spcPts val="0"/>
                        </a:spcBef>
                        <a:spcAft>
                          <a:spcPts val="0"/>
                        </a:spcAft>
                      </a:pPr>
                      <a:r>
                        <a:rPr lang="en-US" sz="2000" dirty="0">
                          <a:effectLst/>
                          <a:latin typeface="Times New Roman" panose="02020603050405020304" pitchFamily="18" charset="0"/>
                          <a:cs typeface="Times New Roman" panose="02020603050405020304" pitchFamily="18" charset="0"/>
                        </a:rPr>
                        <a:t>          4,809.12 </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9215" marR="69215" marT="0" marB="0" anchor="b"/>
                </a:tc>
                <a:extLst>
                  <a:ext uri="{0D108BD9-81ED-4DB2-BD59-A6C34878D82A}">
                    <a16:rowId xmlns:a16="http://schemas.microsoft.com/office/drawing/2014/main" val="198648167"/>
                  </a:ext>
                </a:extLst>
              </a:tr>
              <a:tr h="514813">
                <a:tc>
                  <a:txBody>
                    <a:bodyPr/>
                    <a:lstStyle/>
                    <a:p>
                      <a:pPr marL="0" marR="0" algn="ctr">
                        <a:lnSpc>
                          <a:spcPct val="107000"/>
                        </a:lnSpc>
                        <a:spcBef>
                          <a:spcPts val="0"/>
                        </a:spcBef>
                        <a:spcAft>
                          <a:spcPts val="0"/>
                        </a:spcAft>
                      </a:pPr>
                      <a:r>
                        <a:rPr lang="en-US" sz="2000">
                          <a:effectLst/>
                          <a:latin typeface="Times New Roman" panose="02020603050405020304" pitchFamily="18" charset="0"/>
                          <a:cs typeface="Times New Roman" panose="02020603050405020304" pitchFamily="18" charset="0"/>
                        </a:rPr>
                        <a:t>6</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9215" marR="69215" marT="0" marB="0" anchor="b"/>
                </a:tc>
                <a:tc>
                  <a:txBody>
                    <a:bodyPr/>
                    <a:lstStyle/>
                    <a:p>
                      <a:pPr marL="0" marR="0" algn="ctr">
                        <a:lnSpc>
                          <a:spcPct val="107000"/>
                        </a:lnSpc>
                        <a:spcBef>
                          <a:spcPts val="0"/>
                        </a:spcBef>
                        <a:spcAft>
                          <a:spcPts val="0"/>
                        </a:spcAft>
                      </a:pPr>
                      <a:r>
                        <a:rPr lang="en-US" sz="2000">
                          <a:effectLst/>
                          <a:latin typeface="Times New Roman" panose="02020603050405020304" pitchFamily="18" charset="0"/>
                          <a:cs typeface="Times New Roman" panose="02020603050405020304" pitchFamily="18" charset="0"/>
                        </a:rPr>
                        <a:t>0.314286</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9215" marR="69215" marT="0" marB="0" anchor="b"/>
                </a:tc>
                <a:tc>
                  <a:txBody>
                    <a:bodyPr/>
                    <a:lstStyle/>
                    <a:p>
                      <a:pPr marL="0" marR="0" algn="ctr">
                        <a:lnSpc>
                          <a:spcPct val="107000"/>
                        </a:lnSpc>
                        <a:spcBef>
                          <a:spcPts val="0"/>
                        </a:spcBef>
                        <a:spcAft>
                          <a:spcPts val="0"/>
                        </a:spcAft>
                      </a:pPr>
                      <a:r>
                        <a:rPr lang="en-US" sz="2000">
                          <a:effectLst/>
                          <a:latin typeface="Times New Roman" panose="02020603050405020304" pitchFamily="18" charset="0"/>
                          <a:cs typeface="Times New Roman" panose="02020603050405020304" pitchFamily="18" charset="0"/>
                        </a:rPr>
                        <a:t>16</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9215" marR="69215" marT="0" marB="0" anchor="b"/>
                </a:tc>
                <a:tc>
                  <a:txBody>
                    <a:bodyPr/>
                    <a:lstStyle/>
                    <a:p>
                      <a:pPr marL="0" marR="0" algn="ctr">
                        <a:lnSpc>
                          <a:spcPct val="107000"/>
                        </a:lnSpc>
                        <a:spcBef>
                          <a:spcPts val="0"/>
                        </a:spcBef>
                        <a:spcAft>
                          <a:spcPts val="0"/>
                        </a:spcAft>
                      </a:pPr>
                      <a:r>
                        <a:rPr lang="en-US" sz="2000">
                          <a:effectLst/>
                          <a:latin typeface="Times New Roman" panose="02020603050405020304" pitchFamily="18" charset="0"/>
                          <a:cs typeface="Times New Roman" panose="02020603050405020304" pitchFamily="18" charset="0"/>
                        </a:rPr>
                        <a:t>15.41571</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9215" marR="69215" marT="0" marB="0" anchor="b"/>
                </a:tc>
                <a:tc>
                  <a:txBody>
                    <a:bodyPr/>
                    <a:lstStyle/>
                    <a:p>
                      <a:pPr marL="0" marR="0" algn="ctr">
                        <a:lnSpc>
                          <a:spcPct val="107000"/>
                        </a:lnSpc>
                        <a:spcBef>
                          <a:spcPts val="0"/>
                        </a:spcBef>
                        <a:spcAft>
                          <a:spcPts val="0"/>
                        </a:spcAft>
                      </a:pPr>
                      <a:r>
                        <a:rPr lang="en-US" sz="2000" dirty="0">
                          <a:effectLst/>
                          <a:latin typeface="Times New Roman" panose="02020603050405020304" pitchFamily="18" charset="0"/>
                          <a:cs typeface="Times New Roman" panose="02020603050405020304" pitchFamily="18" charset="0"/>
                        </a:rPr>
                        <a:t>          4,259.26 </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9215" marR="69215" marT="0" marB="0" anchor="b"/>
                </a:tc>
                <a:extLst>
                  <a:ext uri="{0D108BD9-81ED-4DB2-BD59-A6C34878D82A}">
                    <a16:rowId xmlns:a16="http://schemas.microsoft.com/office/drawing/2014/main" val="177712053"/>
                  </a:ext>
                </a:extLst>
              </a:tr>
            </a:tbl>
          </a:graphicData>
        </a:graphic>
      </p:graphicFrame>
    </p:spTree>
    <p:extLst>
      <p:ext uri="{BB962C8B-B14F-4D97-AF65-F5344CB8AC3E}">
        <p14:creationId xmlns:p14="http://schemas.microsoft.com/office/powerpoint/2010/main" val="31199561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BC54793-3BA9-E916-9B6A-95720F87C402}"/>
              </a:ext>
            </a:extLst>
          </p:cNvPr>
          <p:cNvSpPr txBox="1"/>
          <p:nvPr/>
        </p:nvSpPr>
        <p:spPr>
          <a:xfrm>
            <a:off x="1706880" y="487680"/>
            <a:ext cx="9641840" cy="1015663"/>
          </a:xfrm>
          <a:prstGeom prst="rect">
            <a:avLst/>
          </a:prstGeom>
          <a:noFill/>
        </p:spPr>
        <p:txBody>
          <a:bodyPr wrap="square" rtlCol="0">
            <a:spAutoFit/>
          </a:bodyPr>
          <a:lstStyle/>
          <a:p>
            <a:r>
              <a:rPr lang="en-US" sz="2000" b="1" u="sng" dirty="0">
                <a:latin typeface="Times New Roman" panose="02020603050405020304" pitchFamily="18" charset="0"/>
                <a:cs typeface="Times New Roman" panose="02020603050405020304" pitchFamily="18" charset="0"/>
              </a:rPr>
              <a:t>Relative Humidity Ratio Calculation:</a:t>
            </a:r>
          </a:p>
          <a:p>
            <a:endParaRPr lang="en-US" sz="2000" b="1" u="sng" dirty="0">
              <a:latin typeface="Times New Roman" panose="02020603050405020304" pitchFamily="18" charset="0"/>
              <a:cs typeface="Times New Roman" panose="02020603050405020304" pitchFamily="18" charset="0"/>
            </a:endParaRPr>
          </a:p>
          <a:p>
            <a:endParaRPr lang="en-US" sz="2000" b="1" u="sng" dirty="0">
              <a:latin typeface="Times New Roman" panose="02020603050405020304" pitchFamily="18" charset="0"/>
              <a:cs typeface="Times New Roman" panose="02020603050405020304" pitchFamily="18" charset="0"/>
            </a:endParaRPr>
          </a:p>
        </p:txBody>
      </p:sp>
      <p:graphicFrame>
        <p:nvGraphicFramePr>
          <p:cNvPr id="6" name="Table 5">
            <a:extLst>
              <a:ext uri="{FF2B5EF4-FFF2-40B4-BE49-F238E27FC236}">
                <a16:creationId xmlns:a16="http://schemas.microsoft.com/office/drawing/2014/main" id="{74B89633-E62C-B689-ECB6-61F0FBFC16DC}"/>
              </a:ext>
            </a:extLst>
          </p:cNvPr>
          <p:cNvGraphicFramePr>
            <a:graphicFrameLocks noGrp="1"/>
          </p:cNvGraphicFramePr>
          <p:nvPr>
            <p:extLst>
              <p:ext uri="{D42A27DB-BD31-4B8C-83A1-F6EECF244321}">
                <p14:modId xmlns:p14="http://schemas.microsoft.com/office/powerpoint/2010/main" val="2163884013"/>
              </p:ext>
            </p:extLst>
          </p:nvPr>
        </p:nvGraphicFramePr>
        <p:xfrm>
          <a:off x="1706880" y="1423352"/>
          <a:ext cx="9276081" cy="4753929"/>
        </p:xfrm>
        <a:graphic>
          <a:graphicData uri="http://schemas.openxmlformats.org/drawingml/2006/table">
            <a:tbl>
              <a:tblPr firstRow="1" firstCol="1" bandRow="1">
                <a:tableStyleId>{5C22544A-7EE6-4342-B048-85BDC9FD1C3A}</a:tableStyleId>
              </a:tblPr>
              <a:tblGrid>
                <a:gridCol w="1054778">
                  <a:extLst>
                    <a:ext uri="{9D8B030D-6E8A-4147-A177-3AD203B41FA5}">
                      <a16:colId xmlns:a16="http://schemas.microsoft.com/office/drawing/2014/main" val="998324735"/>
                    </a:ext>
                  </a:extLst>
                </a:gridCol>
                <a:gridCol w="1164779">
                  <a:extLst>
                    <a:ext uri="{9D8B030D-6E8A-4147-A177-3AD203B41FA5}">
                      <a16:colId xmlns:a16="http://schemas.microsoft.com/office/drawing/2014/main" val="1292714368"/>
                    </a:ext>
                  </a:extLst>
                </a:gridCol>
                <a:gridCol w="2373764">
                  <a:extLst>
                    <a:ext uri="{9D8B030D-6E8A-4147-A177-3AD203B41FA5}">
                      <a16:colId xmlns:a16="http://schemas.microsoft.com/office/drawing/2014/main" val="411715685"/>
                    </a:ext>
                  </a:extLst>
                </a:gridCol>
                <a:gridCol w="4682760">
                  <a:extLst>
                    <a:ext uri="{9D8B030D-6E8A-4147-A177-3AD203B41FA5}">
                      <a16:colId xmlns:a16="http://schemas.microsoft.com/office/drawing/2014/main" val="3644849896"/>
                    </a:ext>
                  </a:extLst>
                </a:gridCol>
              </a:tblGrid>
              <a:tr h="1200021">
                <a:tc>
                  <a:txBody>
                    <a:bodyPr/>
                    <a:lstStyle/>
                    <a:p>
                      <a:pPr marL="0" marR="0">
                        <a:lnSpc>
                          <a:spcPct val="107000"/>
                        </a:lnSpc>
                        <a:spcBef>
                          <a:spcPts val="0"/>
                        </a:spcBef>
                        <a:spcAft>
                          <a:spcPts val="0"/>
                        </a:spcAft>
                      </a:pPr>
                      <a:r>
                        <a:rPr lang="en-US" sz="2000" dirty="0">
                          <a:effectLst/>
                          <a:latin typeface="Times New Roman" panose="02020603050405020304" pitchFamily="18" charset="0"/>
                          <a:cs typeface="Times New Roman" panose="02020603050405020304" pitchFamily="18" charset="0"/>
                        </a:rPr>
                        <a:t>Designs</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nSpc>
                          <a:spcPct val="107000"/>
                        </a:lnSpc>
                        <a:spcBef>
                          <a:spcPts val="0"/>
                        </a:spcBef>
                        <a:spcAft>
                          <a:spcPts val="0"/>
                        </a:spcAft>
                      </a:pPr>
                      <a:r>
                        <a:rPr lang="en-US" sz="2000" dirty="0">
                          <a:effectLst/>
                          <a:latin typeface="Times New Roman" panose="02020603050405020304" pitchFamily="18" charset="0"/>
                          <a:cs typeface="Times New Roman" panose="02020603050405020304" pitchFamily="18" charset="0"/>
                        </a:rPr>
                        <a:t>Tr (degrees Celsius)</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nSpc>
                          <a:spcPct val="107000"/>
                        </a:lnSpc>
                        <a:spcBef>
                          <a:spcPts val="0"/>
                        </a:spcBef>
                        <a:spcAft>
                          <a:spcPts val="0"/>
                        </a:spcAft>
                      </a:pPr>
                      <a:r>
                        <a:rPr lang="en-US" sz="2000">
                          <a:effectLst/>
                          <a:latin typeface="Times New Roman" panose="02020603050405020304" pitchFamily="18" charset="0"/>
                          <a:cs typeface="Times New Roman" panose="02020603050405020304" pitchFamily="18" charset="0"/>
                        </a:rPr>
                        <a:t>Specific Humidity (HR) (Kg of H2O/Kg of air</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nSpc>
                          <a:spcPct val="107000"/>
                        </a:lnSpc>
                        <a:spcBef>
                          <a:spcPts val="0"/>
                        </a:spcBef>
                        <a:spcAft>
                          <a:spcPts val="0"/>
                        </a:spcAft>
                      </a:pPr>
                      <a:r>
                        <a:rPr lang="en-US" sz="2000">
                          <a:effectLst/>
                          <a:latin typeface="Times New Roman" panose="02020603050405020304" pitchFamily="18" charset="0"/>
                          <a:cs typeface="Times New Roman" panose="02020603050405020304" pitchFamily="18" charset="0"/>
                        </a:rPr>
                        <a:t>Relative Humidity (%)</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1464930326"/>
                  </a:ext>
                </a:extLst>
              </a:tr>
              <a:tr h="592318">
                <a:tc>
                  <a:txBody>
                    <a:bodyPr/>
                    <a:lstStyle/>
                    <a:p>
                      <a:pPr marL="0" marR="0" algn="r">
                        <a:lnSpc>
                          <a:spcPct val="107000"/>
                        </a:lnSpc>
                        <a:spcBef>
                          <a:spcPts val="0"/>
                        </a:spcBef>
                        <a:spcAft>
                          <a:spcPts val="0"/>
                        </a:spcAft>
                      </a:pPr>
                      <a:r>
                        <a:rPr lang="en-US" sz="2000">
                          <a:effectLst/>
                          <a:latin typeface="Times New Roman" panose="02020603050405020304" pitchFamily="18" charset="0"/>
                          <a:cs typeface="Times New Roman" panose="02020603050405020304" pitchFamily="18" charset="0"/>
                        </a:rPr>
                        <a:t>1</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r">
                        <a:lnSpc>
                          <a:spcPct val="107000"/>
                        </a:lnSpc>
                        <a:spcBef>
                          <a:spcPts val="0"/>
                        </a:spcBef>
                        <a:spcAft>
                          <a:spcPts val="0"/>
                        </a:spcAft>
                      </a:pPr>
                      <a:r>
                        <a:rPr lang="en-US" sz="2000">
                          <a:effectLst/>
                          <a:latin typeface="Times New Roman" panose="02020603050405020304" pitchFamily="18" charset="0"/>
                          <a:cs typeface="Times New Roman" panose="02020603050405020304" pitchFamily="18" charset="0"/>
                        </a:rPr>
                        <a:t>20.61473</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r">
                        <a:lnSpc>
                          <a:spcPct val="107000"/>
                        </a:lnSpc>
                        <a:spcBef>
                          <a:spcPts val="0"/>
                        </a:spcBef>
                        <a:spcAft>
                          <a:spcPts val="0"/>
                        </a:spcAft>
                      </a:pPr>
                      <a:r>
                        <a:rPr lang="en-US" sz="2000" dirty="0">
                          <a:effectLst/>
                          <a:latin typeface="Times New Roman" panose="02020603050405020304" pitchFamily="18" charset="0"/>
                          <a:cs typeface="Times New Roman" panose="02020603050405020304" pitchFamily="18" charset="0"/>
                        </a:rPr>
                        <a:t>0.007251224</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r">
                        <a:lnSpc>
                          <a:spcPct val="107000"/>
                        </a:lnSpc>
                        <a:spcBef>
                          <a:spcPts val="0"/>
                        </a:spcBef>
                        <a:spcAft>
                          <a:spcPts val="0"/>
                        </a:spcAft>
                      </a:pPr>
                      <a:r>
                        <a:rPr lang="en-US" sz="2000">
                          <a:effectLst/>
                          <a:latin typeface="Times New Roman" panose="02020603050405020304" pitchFamily="18" charset="0"/>
                          <a:cs typeface="Times New Roman" panose="02020603050405020304" pitchFamily="18" charset="0"/>
                        </a:rPr>
                        <a:t>47%</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2594119124"/>
                  </a:ext>
                </a:extLst>
              </a:tr>
              <a:tr h="592318">
                <a:tc>
                  <a:txBody>
                    <a:bodyPr/>
                    <a:lstStyle/>
                    <a:p>
                      <a:pPr marL="0" marR="0" algn="r">
                        <a:lnSpc>
                          <a:spcPct val="107000"/>
                        </a:lnSpc>
                        <a:spcBef>
                          <a:spcPts val="0"/>
                        </a:spcBef>
                        <a:spcAft>
                          <a:spcPts val="0"/>
                        </a:spcAft>
                      </a:pPr>
                      <a:r>
                        <a:rPr lang="en-US" sz="2000">
                          <a:effectLst/>
                          <a:latin typeface="Times New Roman" panose="02020603050405020304" pitchFamily="18" charset="0"/>
                          <a:cs typeface="Times New Roman" panose="02020603050405020304" pitchFamily="18" charset="0"/>
                        </a:rPr>
                        <a:t>2</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r">
                        <a:lnSpc>
                          <a:spcPct val="107000"/>
                        </a:lnSpc>
                        <a:spcBef>
                          <a:spcPts val="0"/>
                        </a:spcBef>
                        <a:spcAft>
                          <a:spcPts val="0"/>
                        </a:spcAft>
                      </a:pPr>
                      <a:r>
                        <a:rPr lang="en-US" sz="2000">
                          <a:effectLst/>
                          <a:latin typeface="Times New Roman" panose="02020603050405020304" pitchFamily="18" charset="0"/>
                          <a:cs typeface="Times New Roman" panose="02020603050405020304" pitchFamily="18" charset="0"/>
                        </a:rPr>
                        <a:t>20.82476</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r">
                        <a:lnSpc>
                          <a:spcPct val="107000"/>
                        </a:lnSpc>
                        <a:spcBef>
                          <a:spcPts val="0"/>
                        </a:spcBef>
                        <a:spcAft>
                          <a:spcPts val="0"/>
                        </a:spcAft>
                      </a:pPr>
                      <a:r>
                        <a:rPr lang="en-US" sz="2000" dirty="0">
                          <a:effectLst/>
                          <a:latin typeface="Times New Roman" panose="02020603050405020304" pitchFamily="18" charset="0"/>
                          <a:cs typeface="Times New Roman" panose="02020603050405020304" pitchFamily="18" charset="0"/>
                        </a:rPr>
                        <a:t>0.007158051</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r">
                        <a:lnSpc>
                          <a:spcPct val="107000"/>
                        </a:lnSpc>
                        <a:spcBef>
                          <a:spcPts val="0"/>
                        </a:spcBef>
                        <a:spcAft>
                          <a:spcPts val="0"/>
                        </a:spcAft>
                      </a:pPr>
                      <a:r>
                        <a:rPr lang="en-US" sz="2000">
                          <a:effectLst/>
                          <a:latin typeface="Times New Roman" panose="02020603050405020304" pitchFamily="18" charset="0"/>
                          <a:cs typeface="Times New Roman" panose="02020603050405020304" pitchFamily="18" charset="0"/>
                        </a:rPr>
                        <a:t>45%</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930427279"/>
                  </a:ext>
                </a:extLst>
              </a:tr>
              <a:tr h="592318">
                <a:tc>
                  <a:txBody>
                    <a:bodyPr/>
                    <a:lstStyle/>
                    <a:p>
                      <a:pPr marL="0" marR="0" algn="r">
                        <a:lnSpc>
                          <a:spcPct val="107000"/>
                        </a:lnSpc>
                        <a:spcBef>
                          <a:spcPts val="0"/>
                        </a:spcBef>
                        <a:spcAft>
                          <a:spcPts val="0"/>
                        </a:spcAft>
                      </a:pPr>
                      <a:r>
                        <a:rPr lang="en-US" sz="2000">
                          <a:effectLst/>
                          <a:latin typeface="Times New Roman" panose="02020603050405020304" pitchFamily="18" charset="0"/>
                          <a:cs typeface="Times New Roman" panose="02020603050405020304" pitchFamily="18" charset="0"/>
                        </a:rPr>
                        <a:t>3</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r">
                        <a:lnSpc>
                          <a:spcPct val="107000"/>
                        </a:lnSpc>
                        <a:spcBef>
                          <a:spcPts val="0"/>
                        </a:spcBef>
                        <a:spcAft>
                          <a:spcPts val="0"/>
                        </a:spcAft>
                      </a:pPr>
                      <a:r>
                        <a:rPr lang="en-US" sz="2000">
                          <a:effectLst/>
                          <a:latin typeface="Times New Roman" panose="02020603050405020304" pitchFamily="18" charset="0"/>
                          <a:cs typeface="Times New Roman" panose="02020603050405020304" pitchFamily="18" charset="0"/>
                        </a:rPr>
                        <a:t>22.28686</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r">
                        <a:lnSpc>
                          <a:spcPct val="107000"/>
                        </a:lnSpc>
                        <a:spcBef>
                          <a:spcPts val="0"/>
                        </a:spcBef>
                        <a:spcAft>
                          <a:spcPts val="0"/>
                        </a:spcAft>
                      </a:pPr>
                      <a:r>
                        <a:rPr lang="en-US" sz="2000" dirty="0">
                          <a:effectLst/>
                          <a:latin typeface="Times New Roman" panose="02020603050405020304" pitchFamily="18" charset="0"/>
                          <a:cs typeface="Times New Roman" panose="02020603050405020304" pitchFamily="18" charset="0"/>
                        </a:rPr>
                        <a:t>0.006137678</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r">
                        <a:lnSpc>
                          <a:spcPct val="107000"/>
                        </a:lnSpc>
                        <a:spcBef>
                          <a:spcPts val="0"/>
                        </a:spcBef>
                        <a:spcAft>
                          <a:spcPts val="0"/>
                        </a:spcAft>
                      </a:pPr>
                      <a:r>
                        <a:rPr lang="en-US" sz="2000">
                          <a:effectLst/>
                          <a:latin typeface="Times New Roman" panose="02020603050405020304" pitchFamily="18" charset="0"/>
                          <a:cs typeface="Times New Roman" panose="02020603050405020304" pitchFamily="18" charset="0"/>
                        </a:rPr>
                        <a:t>40%</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2765492346"/>
                  </a:ext>
                </a:extLst>
              </a:tr>
              <a:tr h="592318">
                <a:tc>
                  <a:txBody>
                    <a:bodyPr/>
                    <a:lstStyle/>
                    <a:p>
                      <a:pPr marL="0" marR="0" algn="r">
                        <a:lnSpc>
                          <a:spcPct val="107000"/>
                        </a:lnSpc>
                        <a:spcBef>
                          <a:spcPts val="0"/>
                        </a:spcBef>
                        <a:spcAft>
                          <a:spcPts val="0"/>
                        </a:spcAft>
                      </a:pPr>
                      <a:r>
                        <a:rPr lang="en-US" sz="2000">
                          <a:effectLst/>
                          <a:latin typeface="Times New Roman" panose="02020603050405020304" pitchFamily="18" charset="0"/>
                          <a:cs typeface="Times New Roman" panose="02020603050405020304" pitchFamily="18" charset="0"/>
                        </a:rPr>
                        <a:t>4</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r">
                        <a:lnSpc>
                          <a:spcPct val="107000"/>
                        </a:lnSpc>
                        <a:spcBef>
                          <a:spcPts val="0"/>
                        </a:spcBef>
                        <a:spcAft>
                          <a:spcPts val="0"/>
                        </a:spcAft>
                      </a:pPr>
                      <a:r>
                        <a:rPr lang="en-US" sz="2000">
                          <a:effectLst/>
                          <a:latin typeface="Times New Roman" panose="02020603050405020304" pitchFamily="18" charset="0"/>
                          <a:cs typeface="Times New Roman" panose="02020603050405020304" pitchFamily="18" charset="0"/>
                        </a:rPr>
                        <a:t>22.49689</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r">
                        <a:lnSpc>
                          <a:spcPct val="107000"/>
                        </a:lnSpc>
                        <a:spcBef>
                          <a:spcPts val="0"/>
                        </a:spcBef>
                        <a:spcAft>
                          <a:spcPts val="0"/>
                        </a:spcAft>
                      </a:pPr>
                      <a:r>
                        <a:rPr lang="en-US" sz="2000">
                          <a:effectLst/>
                          <a:latin typeface="Times New Roman" panose="02020603050405020304" pitchFamily="18" charset="0"/>
                          <a:cs typeface="Times New Roman" panose="02020603050405020304" pitchFamily="18" charset="0"/>
                        </a:rPr>
                        <a:t>0.006059797</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r">
                        <a:lnSpc>
                          <a:spcPct val="107000"/>
                        </a:lnSpc>
                        <a:spcBef>
                          <a:spcPts val="0"/>
                        </a:spcBef>
                        <a:spcAft>
                          <a:spcPts val="0"/>
                        </a:spcAft>
                      </a:pPr>
                      <a:r>
                        <a:rPr lang="en-US" sz="2000" dirty="0">
                          <a:effectLst/>
                          <a:latin typeface="Times New Roman" panose="02020603050405020304" pitchFamily="18" charset="0"/>
                          <a:cs typeface="Times New Roman" panose="02020603050405020304" pitchFamily="18" charset="0"/>
                        </a:rPr>
                        <a:t>38%</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2259173735"/>
                  </a:ext>
                </a:extLst>
              </a:tr>
              <a:tr h="592318">
                <a:tc>
                  <a:txBody>
                    <a:bodyPr/>
                    <a:lstStyle/>
                    <a:p>
                      <a:pPr marL="0" marR="0" algn="r">
                        <a:lnSpc>
                          <a:spcPct val="107000"/>
                        </a:lnSpc>
                        <a:spcBef>
                          <a:spcPts val="0"/>
                        </a:spcBef>
                        <a:spcAft>
                          <a:spcPts val="0"/>
                        </a:spcAft>
                      </a:pPr>
                      <a:r>
                        <a:rPr lang="en-US" sz="2000">
                          <a:effectLst/>
                          <a:latin typeface="Times New Roman" panose="02020603050405020304" pitchFamily="18" charset="0"/>
                          <a:cs typeface="Times New Roman" panose="02020603050405020304" pitchFamily="18" charset="0"/>
                        </a:rPr>
                        <a:t>5</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r">
                        <a:lnSpc>
                          <a:spcPct val="107000"/>
                        </a:lnSpc>
                        <a:spcBef>
                          <a:spcPts val="0"/>
                        </a:spcBef>
                        <a:spcAft>
                          <a:spcPts val="0"/>
                        </a:spcAft>
                      </a:pPr>
                      <a:r>
                        <a:rPr lang="en-US" sz="2000">
                          <a:effectLst/>
                          <a:latin typeface="Times New Roman" panose="02020603050405020304" pitchFamily="18" charset="0"/>
                          <a:cs typeface="Times New Roman" panose="02020603050405020304" pitchFamily="18" charset="0"/>
                        </a:rPr>
                        <a:t>24.33293</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r">
                        <a:lnSpc>
                          <a:spcPct val="107000"/>
                        </a:lnSpc>
                        <a:spcBef>
                          <a:spcPts val="0"/>
                        </a:spcBef>
                        <a:spcAft>
                          <a:spcPts val="0"/>
                        </a:spcAft>
                      </a:pPr>
                      <a:r>
                        <a:rPr lang="en-US" sz="2000">
                          <a:effectLst/>
                          <a:latin typeface="Times New Roman" panose="02020603050405020304" pitchFamily="18" charset="0"/>
                          <a:cs typeface="Times New Roman" panose="02020603050405020304" pitchFamily="18" charset="0"/>
                        </a:rPr>
                        <a:t>0.005251669</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r">
                        <a:lnSpc>
                          <a:spcPct val="107000"/>
                        </a:lnSpc>
                        <a:spcBef>
                          <a:spcPts val="0"/>
                        </a:spcBef>
                        <a:spcAft>
                          <a:spcPts val="0"/>
                        </a:spcAft>
                      </a:pPr>
                      <a:r>
                        <a:rPr lang="en-US" sz="2000" dirty="0">
                          <a:effectLst/>
                          <a:latin typeface="Times New Roman" panose="02020603050405020304" pitchFamily="18" charset="0"/>
                          <a:cs typeface="Times New Roman" panose="02020603050405020304" pitchFamily="18" charset="0"/>
                        </a:rPr>
                        <a:t>35%</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454341906"/>
                  </a:ext>
                </a:extLst>
              </a:tr>
              <a:tr h="592318">
                <a:tc>
                  <a:txBody>
                    <a:bodyPr/>
                    <a:lstStyle/>
                    <a:p>
                      <a:pPr marL="0" marR="0" algn="r">
                        <a:lnSpc>
                          <a:spcPct val="107000"/>
                        </a:lnSpc>
                        <a:spcBef>
                          <a:spcPts val="0"/>
                        </a:spcBef>
                        <a:spcAft>
                          <a:spcPts val="0"/>
                        </a:spcAft>
                      </a:pPr>
                      <a:r>
                        <a:rPr lang="en-US" sz="2000">
                          <a:effectLst/>
                          <a:latin typeface="Times New Roman" panose="02020603050405020304" pitchFamily="18" charset="0"/>
                          <a:cs typeface="Times New Roman" panose="02020603050405020304" pitchFamily="18" charset="0"/>
                        </a:rPr>
                        <a:t>6</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r">
                        <a:lnSpc>
                          <a:spcPct val="107000"/>
                        </a:lnSpc>
                        <a:spcBef>
                          <a:spcPts val="0"/>
                        </a:spcBef>
                        <a:spcAft>
                          <a:spcPts val="0"/>
                        </a:spcAft>
                      </a:pPr>
                      <a:r>
                        <a:rPr lang="en-US" sz="2000">
                          <a:effectLst/>
                          <a:latin typeface="Times New Roman" panose="02020603050405020304" pitchFamily="18" charset="0"/>
                          <a:cs typeface="Times New Roman" panose="02020603050405020304" pitchFamily="18" charset="0"/>
                        </a:rPr>
                        <a:t>24.55495</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r">
                        <a:lnSpc>
                          <a:spcPct val="107000"/>
                        </a:lnSpc>
                        <a:spcBef>
                          <a:spcPts val="0"/>
                        </a:spcBef>
                        <a:spcAft>
                          <a:spcPts val="0"/>
                        </a:spcAft>
                      </a:pPr>
                      <a:r>
                        <a:rPr lang="en-US" sz="2000">
                          <a:effectLst/>
                          <a:latin typeface="Times New Roman" panose="02020603050405020304" pitchFamily="18" charset="0"/>
                          <a:cs typeface="Times New Roman" panose="02020603050405020304" pitchFamily="18" charset="0"/>
                        </a:rPr>
                        <a:t>0.005182324</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r">
                        <a:lnSpc>
                          <a:spcPct val="107000"/>
                        </a:lnSpc>
                        <a:spcBef>
                          <a:spcPts val="0"/>
                        </a:spcBef>
                        <a:spcAft>
                          <a:spcPts val="0"/>
                        </a:spcAft>
                      </a:pPr>
                      <a:r>
                        <a:rPr lang="en-US" sz="2000" dirty="0">
                          <a:effectLst/>
                          <a:latin typeface="Times New Roman" panose="02020603050405020304" pitchFamily="18" charset="0"/>
                          <a:cs typeface="Times New Roman" panose="02020603050405020304" pitchFamily="18" charset="0"/>
                        </a:rPr>
                        <a:t>31%</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1475373031"/>
                  </a:ext>
                </a:extLst>
              </a:tr>
            </a:tbl>
          </a:graphicData>
        </a:graphic>
      </p:graphicFrame>
    </p:spTree>
    <p:extLst>
      <p:ext uri="{BB962C8B-B14F-4D97-AF65-F5344CB8AC3E}">
        <p14:creationId xmlns:p14="http://schemas.microsoft.com/office/powerpoint/2010/main" val="3883879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C782F49E-7AEA-A736-D8E0-8EA237BFBD50}"/>
                  </a:ext>
                </a:extLst>
              </p:cNvPr>
              <p:cNvSpPr txBox="1"/>
              <p:nvPr/>
            </p:nvSpPr>
            <p:spPr>
              <a:xfrm>
                <a:off x="1656080" y="406400"/>
                <a:ext cx="10027920" cy="5047536"/>
              </a:xfrm>
              <a:prstGeom prst="rect">
                <a:avLst/>
              </a:prstGeom>
              <a:noFill/>
            </p:spPr>
            <p:txBody>
              <a:bodyPr wrap="square" rtlCol="0">
                <a:spAutoFit/>
              </a:bodyPr>
              <a:lstStyle/>
              <a:p>
                <a:r>
                  <a:rPr lang="en-US" sz="2200" b="1" u="sng" dirty="0">
                    <a:latin typeface="Times New Roman" panose="02020603050405020304" pitchFamily="18" charset="0"/>
                    <a:cs typeface="Times New Roman" panose="02020603050405020304" pitchFamily="18" charset="0"/>
                  </a:rPr>
                  <a:t>Recommendation:</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All the stratification height and the vertical temperature values satisfy the requirements</a:t>
                </a:r>
              </a:p>
              <a:p>
                <a:pPr marL="342900" indent="-342900">
                  <a:buFont typeface="Arial" panose="020B0604020202020204" pitchFamily="34" charset="0"/>
                  <a:buChar char="•"/>
                </a:pPr>
                <a:r>
                  <a:rPr lang="en-US" sz="2000" dirty="0">
                    <a:effectLst/>
                    <a:latin typeface="Times New Roman" panose="02020603050405020304" pitchFamily="18" charset="0"/>
                    <a:ea typeface="Times New Roman" panose="02020603050405020304" pitchFamily="18" charset="0"/>
                  </a:rPr>
                  <a:t>All six designs have also been adjusted to avoid condensation on the chilled ceiling with a factor of safety of </a:t>
                </a:r>
                <a14:m>
                  <m:oMath xmlns:m="http://schemas.openxmlformats.org/officeDocument/2006/math">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1.5°</m:t>
                    </m:r>
                    <m:r>
                      <a:rPr lang="en-US" sz="2000" i="1">
                        <a:effectLst/>
                        <a:latin typeface="Cambria Math" panose="02040503050406030204" pitchFamily="18" charset="0"/>
                        <a:ea typeface="Times New Roman" panose="02020603050405020304" pitchFamily="18" charset="0"/>
                        <a:cs typeface="Times New Roman" panose="02020603050405020304" pitchFamily="18" charset="0"/>
                      </a:rPr>
                      <m:t>𝐶</m:t>
                    </m:r>
                  </m:oMath>
                </a14:m>
                <a:r>
                  <a:rPr lang="en-US" sz="2000" dirty="0">
                    <a:effectLst/>
                    <a:latin typeface="Times New Roman" panose="02020603050405020304" pitchFamily="18" charset="0"/>
                    <a:ea typeface="Times New Roman" panose="02020603050405020304" pitchFamily="18" charset="0"/>
                  </a:rPr>
                  <a:t>.  Thus, no condensation will occur.</a:t>
                </a:r>
              </a:p>
              <a:p>
                <a:pPr marL="342900" indent="-342900">
                  <a:buFont typeface="Arial" panose="020B0604020202020204" pitchFamily="34" charset="0"/>
                  <a:buChar char="•"/>
                </a:pPr>
                <a:r>
                  <a:rPr lang="en-US" sz="2000" dirty="0">
                    <a:effectLst/>
                    <a:latin typeface="Times New Roman" panose="02020603050405020304" pitchFamily="18" charset="0"/>
                    <a:ea typeface="Times New Roman" panose="02020603050405020304" pitchFamily="18" charset="0"/>
                  </a:rPr>
                  <a:t>The CO2 concentration does not go above 1000 ppm </a:t>
                </a:r>
                <a:r>
                  <a:rPr lang="en-US" sz="2000" dirty="0">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cs typeface="Arial" panose="020B0604020202020204" pitchFamily="34" charset="0"/>
                  </a:rPr>
                  <a:t>This implies that the Displacement Ventilation system is providing enough air at the respective flow rates for each design.</a:t>
                </a:r>
                <a:endParaRPr lang="en-US" sz="2000" dirty="0">
                  <a:effectLst/>
                  <a:latin typeface="Calibri" panose="020F0502020204030204" pitchFamily="34" charset="0"/>
                  <a:ea typeface="Calibri" panose="020F0502020204030204" pitchFamily="34" charset="0"/>
                  <a:cs typeface="Arial" panose="020B0604020202020204" pitchFamily="34" charset="0"/>
                </a:endParaRPr>
              </a:p>
              <a:p>
                <a:pPr marL="342900" indent="-342900">
                  <a:buFont typeface="Arial" panose="020B0604020202020204" pitchFamily="34" charset="0"/>
                  <a:buChar char="•"/>
                </a:pPr>
                <a:r>
                  <a:rPr lang="en-US" sz="2000" dirty="0">
                    <a:solidFill>
                      <a:srgbClr val="000000"/>
                    </a:solidFill>
                    <a:effectLst/>
                    <a:latin typeface="Times New Roman" panose="02020603050405020304" pitchFamily="18" charset="0"/>
                    <a:ea typeface="Times New Roman" panose="02020603050405020304" pitchFamily="18" charset="0"/>
                  </a:rPr>
                  <a:t>We consider the optimum range of thermal comfort to be at an optimum room temperature of </a:t>
                </a:r>
                <a14:m>
                  <m:oMath xmlns:m="http://schemas.openxmlformats.org/officeDocument/2006/math">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24°</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𝐶</m:t>
                    </m:r>
                  </m:oMath>
                </a14:m>
                <a:r>
                  <a:rPr lang="en-US" sz="2000" dirty="0">
                    <a:solidFill>
                      <a:srgbClr val="000000"/>
                    </a:solidFill>
                    <a:effectLst/>
                    <a:latin typeface="Times New Roman" panose="02020603050405020304" pitchFamily="18" charset="0"/>
                    <a:ea typeface="Times New Roman" panose="02020603050405020304" pitchFamily="18" charset="0"/>
                  </a:rPr>
                  <a:t> with an acceptable range of </a:t>
                </a:r>
                <a14:m>
                  <m:oMath xmlns:m="http://schemas.openxmlformats.org/officeDocument/2006/math">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22−26°</m:t>
                    </m:r>
                    <m:r>
                      <a:rPr lang="en-US" sz="2000" i="1">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𝐶</m:t>
                    </m:r>
                    <m:r>
                      <a:rPr lang="en-US" sz="2000" b="0" i="0" smtClean="0">
                        <a:solidFill>
                          <a:srgbClr val="000000"/>
                        </a:solidFill>
                        <a:effectLst/>
                        <a:latin typeface="Cambria Math" panose="02040503050406030204" pitchFamily="18" charset="0"/>
                        <a:ea typeface="Times New Roman" panose="02020603050405020304" pitchFamily="18" charset="0"/>
                        <a:cs typeface="Times New Roman" panose="02020603050405020304" pitchFamily="18" charset="0"/>
                      </a:rPr>
                      <m:t>.</m:t>
                    </m:r>
                  </m:oMath>
                </a14:m>
                <a:r>
                  <a:rPr lang="en-US" sz="2000" dirty="0">
                    <a:latin typeface="Times New Roman" panose="02020603050405020304" pitchFamily="18" charset="0"/>
                    <a:cs typeface="Times New Roman" panose="02020603050405020304" pitchFamily="18" charset="0"/>
                  </a:rPr>
                  <a:t> </a:t>
                </a: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In addition, designs 1 and 2 room temperatures are outside the desired range and might cause thermal </a:t>
                </a:r>
                <a:r>
                  <a:rPr lang="en-US" sz="2000" dirty="0" err="1">
                    <a:latin typeface="Times New Roman" panose="02020603050405020304" pitchFamily="18" charset="0"/>
                    <a:cs typeface="Times New Roman" panose="02020603050405020304" pitchFamily="18" charset="0"/>
                  </a:rPr>
                  <a:t>discofmort</a:t>
                </a:r>
                <a:r>
                  <a:rPr lang="en-US" sz="2000" dirty="0">
                    <a:latin typeface="Times New Roman" panose="02020603050405020304" pitchFamily="18" charset="0"/>
                    <a:cs typeface="Times New Roman" panose="02020603050405020304" pitchFamily="18" charset="0"/>
                  </a:rPr>
                  <a:t>. </a:t>
                </a:r>
              </a:p>
              <a:p>
                <a:r>
                  <a:rPr lang="en-US" sz="2000" dirty="0">
                    <a:latin typeface="Times New Roman" panose="02020603050405020304" pitchFamily="18" charset="0"/>
                    <a:cs typeface="Times New Roman" panose="02020603050405020304" pitchFamily="18" charset="0"/>
                  </a:rPr>
                  <a:t>    </a:t>
                </a:r>
                <a:r>
                  <a:rPr lang="en-US" sz="2000" dirty="0">
                    <a:latin typeface="Times New Roman" panose="02020603050405020304" pitchFamily="18" charset="0"/>
                    <a:cs typeface="Times New Roman" panose="02020603050405020304" pitchFamily="18" charset="0"/>
                    <a:sym typeface="Wingdings" panose="05000000000000000000" pitchFamily="2" charset="2"/>
                  </a:rPr>
                  <a:t> Designs 1 and 2 are not acceptable.</a:t>
                </a:r>
              </a:p>
              <a:p>
                <a:endParaRPr lang="en-US" sz="2000" dirty="0">
                  <a:latin typeface="Times New Roman" panose="02020603050405020304" pitchFamily="18" charset="0"/>
                  <a:cs typeface="Times New Roman" panose="02020603050405020304" pitchFamily="18" charset="0"/>
                  <a:sym typeface="Wingdings" panose="05000000000000000000" pitchFamily="2" charset="2"/>
                </a:endParaRPr>
              </a:p>
              <a:p>
                <a:pPr marL="342900" indent="-342900">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sym typeface="Wingdings" panose="05000000000000000000" pitchFamily="2" charset="2"/>
                  </a:rPr>
                  <a:t>The relative humidity values are in the thermal comfort range 30%-70%. But designs 5 and 6 have low value that might cause dryness.</a:t>
                </a:r>
              </a:p>
              <a:p>
                <a:endParaRPr lang="en-US" sz="2000" dirty="0">
                  <a:latin typeface="Times New Roman" panose="02020603050405020304" pitchFamily="18" charset="0"/>
                  <a:cs typeface="Times New Roman" panose="02020603050405020304" pitchFamily="18" charset="0"/>
                  <a:sym typeface="Wingdings" panose="05000000000000000000" pitchFamily="2" charset="2"/>
                </a:endParaRPr>
              </a:p>
              <a:p>
                <a:endParaRPr lang="en-US" sz="2000" dirty="0">
                  <a:latin typeface="Times New Roman" panose="02020603050405020304" pitchFamily="18" charset="0"/>
                  <a:cs typeface="Times New Roman" panose="02020603050405020304" pitchFamily="18" charset="0"/>
                </a:endParaRPr>
              </a:p>
            </p:txBody>
          </p:sp>
        </mc:Choice>
        <mc:Fallback xmlns="">
          <p:sp>
            <p:nvSpPr>
              <p:cNvPr id="2" name="TextBox 1">
                <a:extLst>
                  <a:ext uri="{FF2B5EF4-FFF2-40B4-BE49-F238E27FC236}">
                    <a16:creationId xmlns:a16="http://schemas.microsoft.com/office/drawing/2014/main" id="{C782F49E-7AEA-A736-D8E0-8EA237BFBD50}"/>
                  </a:ext>
                </a:extLst>
              </p:cNvPr>
              <p:cNvSpPr txBox="1">
                <a:spLocks noRot="1" noChangeAspect="1" noMove="1" noResize="1" noEditPoints="1" noAdjustHandles="1" noChangeArrowheads="1" noChangeShapeType="1" noTextEdit="1"/>
              </p:cNvSpPr>
              <p:nvPr/>
            </p:nvSpPr>
            <p:spPr>
              <a:xfrm>
                <a:off x="1656080" y="406400"/>
                <a:ext cx="10027920" cy="5047536"/>
              </a:xfrm>
              <a:prstGeom prst="rect">
                <a:avLst/>
              </a:prstGeom>
              <a:blipFill>
                <a:blip r:embed="rId2"/>
                <a:stretch>
                  <a:fillRect l="-790" t="-845" r="-669"/>
                </a:stretch>
              </a:blipFill>
            </p:spPr>
            <p:txBody>
              <a:bodyPr/>
              <a:lstStyle/>
              <a:p>
                <a:r>
                  <a:rPr lang="en-US">
                    <a:noFill/>
                  </a:rPr>
                  <a:t> </a:t>
                </a:r>
              </a:p>
            </p:txBody>
          </p:sp>
        </mc:Fallback>
      </mc:AlternateContent>
    </p:spTree>
    <p:extLst>
      <p:ext uri="{BB962C8B-B14F-4D97-AF65-F5344CB8AC3E}">
        <p14:creationId xmlns:p14="http://schemas.microsoft.com/office/powerpoint/2010/main" val="208302227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35AF4BF5-C066-F69B-AA34-3D3B891BA733}"/>
              </a:ext>
            </a:extLst>
          </p:cNvPr>
          <p:cNvGraphicFramePr>
            <a:graphicFrameLocks noGrp="1"/>
          </p:cNvGraphicFramePr>
          <p:nvPr>
            <p:extLst>
              <p:ext uri="{D42A27DB-BD31-4B8C-83A1-F6EECF244321}">
                <p14:modId xmlns:p14="http://schemas.microsoft.com/office/powerpoint/2010/main" val="1685216086"/>
              </p:ext>
            </p:extLst>
          </p:nvPr>
        </p:nvGraphicFramePr>
        <p:xfrm>
          <a:off x="3014345" y="797560"/>
          <a:ext cx="5672455" cy="3030434"/>
        </p:xfrm>
        <a:graphic>
          <a:graphicData uri="http://schemas.openxmlformats.org/drawingml/2006/table">
            <a:tbl>
              <a:tblPr firstRow="1" firstCol="1" bandRow="1">
                <a:tableStyleId>{5C22544A-7EE6-4342-B048-85BDC9FD1C3A}</a:tableStyleId>
              </a:tblPr>
              <a:tblGrid>
                <a:gridCol w="1492252">
                  <a:extLst>
                    <a:ext uri="{9D8B030D-6E8A-4147-A177-3AD203B41FA5}">
                      <a16:colId xmlns:a16="http://schemas.microsoft.com/office/drawing/2014/main" val="3742516687"/>
                    </a:ext>
                  </a:extLst>
                </a:gridCol>
                <a:gridCol w="1878180">
                  <a:extLst>
                    <a:ext uri="{9D8B030D-6E8A-4147-A177-3AD203B41FA5}">
                      <a16:colId xmlns:a16="http://schemas.microsoft.com/office/drawing/2014/main" val="3596464841"/>
                    </a:ext>
                  </a:extLst>
                </a:gridCol>
                <a:gridCol w="947892">
                  <a:extLst>
                    <a:ext uri="{9D8B030D-6E8A-4147-A177-3AD203B41FA5}">
                      <a16:colId xmlns:a16="http://schemas.microsoft.com/office/drawing/2014/main" val="4223092237"/>
                    </a:ext>
                  </a:extLst>
                </a:gridCol>
                <a:gridCol w="1354131">
                  <a:extLst>
                    <a:ext uri="{9D8B030D-6E8A-4147-A177-3AD203B41FA5}">
                      <a16:colId xmlns:a16="http://schemas.microsoft.com/office/drawing/2014/main" val="1763950030"/>
                    </a:ext>
                  </a:extLst>
                </a:gridCol>
              </a:tblGrid>
              <a:tr h="245468">
                <a:tc>
                  <a:txBody>
                    <a:bodyPr/>
                    <a:lstStyle/>
                    <a:p>
                      <a:pPr marL="0" marR="0">
                        <a:lnSpc>
                          <a:spcPct val="107000"/>
                        </a:lnSpc>
                        <a:spcBef>
                          <a:spcPts val="0"/>
                        </a:spcBef>
                        <a:spcAft>
                          <a:spcPts val="0"/>
                        </a:spcAft>
                      </a:pPr>
                      <a:r>
                        <a:rPr lang="en-US" sz="2000" dirty="0">
                          <a:effectLst/>
                          <a:latin typeface="Times New Roman" panose="02020603050405020304" pitchFamily="18" charset="0"/>
                          <a:cs typeface="Times New Roman" panose="02020603050405020304" pitchFamily="18" charset="0"/>
                        </a:rPr>
                        <a:t> </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Bef>
                          <a:spcPts val="0"/>
                        </a:spcBef>
                        <a:spcAft>
                          <a:spcPts val="0"/>
                        </a:spcAft>
                      </a:pPr>
                      <a:r>
                        <a:rPr lang="en-US" sz="2000">
                          <a:effectLst/>
                          <a:latin typeface="Times New Roman" panose="02020603050405020304" pitchFamily="18" charset="0"/>
                          <a:cs typeface="Times New Roman" panose="02020603050405020304" pitchFamily="18" charset="0"/>
                        </a:rPr>
                        <a:t>Tr</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Bef>
                          <a:spcPts val="0"/>
                        </a:spcBef>
                        <a:spcAft>
                          <a:spcPts val="0"/>
                        </a:spcAft>
                      </a:pPr>
                      <a:r>
                        <a:rPr lang="en-US" sz="2000">
                          <a:effectLst/>
                          <a:latin typeface="Times New Roman" panose="02020603050405020304" pitchFamily="18" charset="0"/>
                          <a:cs typeface="Times New Roman" panose="02020603050405020304" pitchFamily="18" charset="0"/>
                        </a:rPr>
                        <a:t>RH</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Bef>
                          <a:spcPts val="0"/>
                        </a:spcBef>
                        <a:spcAft>
                          <a:spcPts val="0"/>
                        </a:spcAft>
                      </a:pPr>
                      <a:r>
                        <a:rPr lang="en-US" sz="2000">
                          <a:effectLst/>
                          <a:latin typeface="Times New Roman" panose="02020603050405020304" pitchFamily="18" charset="0"/>
                          <a:cs typeface="Times New Roman" panose="02020603050405020304" pitchFamily="18" charset="0"/>
                        </a:rPr>
                        <a:t>Etot</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4064681432"/>
                  </a:ext>
                </a:extLst>
              </a:tr>
              <a:tr h="681583">
                <a:tc>
                  <a:txBody>
                    <a:bodyPr/>
                    <a:lstStyle/>
                    <a:p>
                      <a:pPr marL="0" marR="0">
                        <a:lnSpc>
                          <a:spcPct val="107000"/>
                        </a:lnSpc>
                        <a:spcBef>
                          <a:spcPts val="0"/>
                        </a:spcBef>
                        <a:spcAft>
                          <a:spcPts val="0"/>
                        </a:spcAft>
                      </a:pPr>
                      <a:r>
                        <a:rPr lang="en-US" sz="2000" dirty="0">
                          <a:effectLst/>
                          <a:latin typeface="Times New Roman" panose="02020603050405020304" pitchFamily="18" charset="0"/>
                          <a:cs typeface="Times New Roman" panose="02020603050405020304" pitchFamily="18" charset="0"/>
                        </a:rPr>
                        <a:t>Design 3</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Bef>
                          <a:spcPts val="0"/>
                        </a:spcBef>
                        <a:spcAft>
                          <a:spcPts val="0"/>
                        </a:spcAft>
                      </a:pPr>
                      <a:r>
                        <a:rPr lang="en-US" sz="2000" dirty="0">
                          <a:effectLst/>
                          <a:latin typeface="Times New Roman" panose="02020603050405020304" pitchFamily="18" charset="0"/>
                          <a:cs typeface="Times New Roman" panose="02020603050405020304" pitchFamily="18" charset="0"/>
                        </a:rPr>
                        <a:t>22.28685625</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2000">
                          <a:effectLst/>
                          <a:latin typeface="Times New Roman" panose="02020603050405020304" pitchFamily="18" charset="0"/>
                          <a:cs typeface="Times New Roman" panose="02020603050405020304" pitchFamily="18" charset="0"/>
                        </a:rPr>
                        <a:t>40</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Bef>
                          <a:spcPts val="0"/>
                        </a:spcBef>
                        <a:spcAft>
                          <a:spcPts val="0"/>
                        </a:spcAft>
                      </a:pPr>
                      <a:r>
                        <a:rPr lang="en-US" sz="2000">
                          <a:effectLst/>
                          <a:latin typeface="Times New Roman" panose="02020603050405020304" pitchFamily="18" charset="0"/>
                          <a:cs typeface="Times New Roman" panose="02020603050405020304" pitchFamily="18" charset="0"/>
                        </a:rPr>
                        <a:t>   6,157.79 </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3069301491"/>
                  </a:ext>
                </a:extLst>
              </a:tr>
              <a:tr h="681583">
                <a:tc>
                  <a:txBody>
                    <a:bodyPr/>
                    <a:lstStyle/>
                    <a:p>
                      <a:pPr marL="0" marR="0">
                        <a:lnSpc>
                          <a:spcPct val="107000"/>
                        </a:lnSpc>
                        <a:spcBef>
                          <a:spcPts val="0"/>
                        </a:spcBef>
                        <a:spcAft>
                          <a:spcPts val="0"/>
                        </a:spcAft>
                      </a:pPr>
                      <a:r>
                        <a:rPr lang="en-US" sz="2000">
                          <a:effectLst/>
                          <a:latin typeface="Times New Roman" panose="02020603050405020304" pitchFamily="18" charset="0"/>
                          <a:cs typeface="Times New Roman" panose="02020603050405020304" pitchFamily="18" charset="0"/>
                        </a:rPr>
                        <a:t>Design 4</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Bef>
                          <a:spcPts val="0"/>
                        </a:spcBef>
                        <a:spcAft>
                          <a:spcPts val="0"/>
                        </a:spcAft>
                      </a:pPr>
                      <a:r>
                        <a:rPr lang="en-US" sz="2000" dirty="0">
                          <a:effectLst/>
                          <a:latin typeface="Times New Roman" panose="02020603050405020304" pitchFamily="18" charset="0"/>
                          <a:cs typeface="Times New Roman" panose="02020603050405020304" pitchFamily="18" charset="0"/>
                        </a:rPr>
                        <a:t>22.49689375</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2000" dirty="0">
                          <a:effectLst/>
                          <a:latin typeface="Times New Roman" panose="02020603050405020304" pitchFamily="18" charset="0"/>
                          <a:cs typeface="Times New Roman" panose="02020603050405020304" pitchFamily="18" charset="0"/>
                        </a:rPr>
                        <a:t>38</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Bef>
                          <a:spcPts val="0"/>
                        </a:spcBef>
                        <a:spcAft>
                          <a:spcPts val="0"/>
                        </a:spcAft>
                      </a:pPr>
                      <a:r>
                        <a:rPr lang="en-US" sz="2000">
                          <a:effectLst/>
                          <a:latin typeface="Times New Roman" panose="02020603050405020304" pitchFamily="18" charset="0"/>
                          <a:cs typeface="Times New Roman" panose="02020603050405020304" pitchFamily="18" charset="0"/>
                        </a:rPr>
                        <a:t>   5,099.86 </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4271629559"/>
                  </a:ext>
                </a:extLst>
              </a:tr>
              <a:tr h="681583">
                <a:tc>
                  <a:txBody>
                    <a:bodyPr/>
                    <a:lstStyle/>
                    <a:p>
                      <a:pPr marL="0" marR="0">
                        <a:lnSpc>
                          <a:spcPct val="107000"/>
                        </a:lnSpc>
                        <a:spcBef>
                          <a:spcPts val="0"/>
                        </a:spcBef>
                        <a:spcAft>
                          <a:spcPts val="0"/>
                        </a:spcAft>
                      </a:pPr>
                      <a:r>
                        <a:rPr lang="en-US" sz="2000">
                          <a:effectLst/>
                          <a:latin typeface="Times New Roman" panose="02020603050405020304" pitchFamily="18" charset="0"/>
                          <a:cs typeface="Times New Roman" panose="02020603050405020304" pitchFamily="18" charset="0"/>
                        </a:rPr>
                        <a:t>Design 5</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Bef>
                          <a:spcPts val="0"/>
                        </a:spcBef>
                        <a:spcAft>
                          <a:spcPts val="0"/>
                        </a:spcAft>
                      </a:pPr>
                      <a:r>
                        <a:rPr lang="en-US" sz="2000">
                          <a:effectLst/>
                          <a:latin typeface="Times New Roman" panose="02020603050405020304" pitchFamily="18" charset="0"/>
                          <a:cs typeface="Times New Roman" panose="02020603050405020304" pitchFamily="18" charset="0"/>
                        </a:rPr>
                        <a:t>24.33293125</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2000" dirty="0">
                          <a:effectLst/>
                          <a:latin typeface="Times New Roman" panose="02020603050405020304" pitchFamily="18" charset="0"/>
                          <a:cs typeface="Times New Roman" panose="02020603050405020304" pitchFamily="18" charset="0"/>
                        </a:rPr>
                        <a:t>35</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Bef>
                          <a:spcPts val="0"/>
                        </a:spcBef>
                        <a:spcAft>
                          <a:spcPts val="0"/>
                        </a:spcAft>
                      </a:pPr>
                      <a:r>
                        <a:rPr lang="en-US" sz="2000">
                          <a:effectLst/>
                          <a:latin typeface="Times New Roman" panose="02020603050405020304" pitchFamily="18" charset="0"/>
                          <a:cs typeface="Times New Roman" panose="02020603050405020304" pitchFamily="18" charset="0"/>
                        </a:rPr>
                        <a:t>   4,809.12 </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4152584784"/>
                  </a:ext>
                </a:extLst>
              </a:tr>
              <a:tr h="681583">
                <a:tc>
                  <a:txBody>
                    <a:bodyPr/>
                    <a:lstStyle/>
                    <a:p>
                      <a:pPr marL="0" marR="0">
                        <a:lnSpc>
                          <a:spcPct val="107000"/>
                        </a:lnSpc>
                        <a:spcBef>
                          <a:spcPts val="0"/>
                        </a:spcBef>
                        <a:spcAft>
                          <a:spcPts val="0"/>
                        </a:spcAft>
                      </a:pPr>
                      <a:r>
                        <a:rPr lang="en-US" sz="2000" dirty="0">
                          <a:effectLst/>
                          <a:latin typeface="Times New Roman" panose="02020603050405020304" pitchFamily="18" charset="0"/>
                          <a:cs typeface="Times New Roman" panose="02020603050405020304" pitchFamily="18" charset="0"/>
                        </a:rPr>
                        <a:t>Design 6</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Bef>
                          <a:spcPts val="0"/>
                        </a:spcBef>
                        <a:spcAft>
                          <a:spcPts val="0"/>
                        </a:spcAft>
                      </a:pPr>
                      <a:r>
                        <a:rPr lang="en-US" sz="2000">
                          <a:effectLst/>
                          <a:latin typeface="Times New Roman" panose="02020603050405020304" pitchFamily="18" charset="0"/>
                          <a:cs typeface="Times New Roman" panose="02020603050405020304" pitchFamily="18" charset="0"/>
                        </a:rPr>
                        <a:t>24.55495</a:t>
                      </a:r>
                      <a:endParaRPr lang="en-US" sz="200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ctr"/>
                </a:tc>
                <a:tc>
                  <a:txBody>
                    <a:bodyPr/>
                    <a:lstStyle/>
                    <a:p>
                      <a:pPr marL="0" marR="0" algn="r">
                        <a:lnSpc>
                          <a:spcPct val="107000"/>
                        </a:lnSpc>
                        <a:spcBef>
                          <a:spcPts val="0"/>
                        </a:spcBef>
                        <a:spcAft>
                          <a:spcPts val="0"/>
                        </a:spcAft>
                      </a:pPr>
                      <a:r>
                        <a:rPr lang="en-US" sz="2000" dirty="0">
                          <a:effectLst/>
                          <a:latin typeface="Times New Roman" panose="02020603050405020304" pitchFamily="18" charset="0"/>
                          <a:cs typeface="Times New Roman" panose="02020603050405020304" pitchFamily="18" charset="0"/>
                        </a:rPr>
                        <a:t>31</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a:tc>
                <a:tc>
                  <a:txBody>
                    <a:bodyPr/>
                    <a:lstStyle/>
                    <a:p>
                      <a:pPr marL="0" marR="0" algn="ctr">
                        <a:lnSpc>
                          <a:spcPct val="107000"/>
                        </a:lnSpc>
                        <a:spcBef>
                          <a:spcPts val="0"/>
                        </a:spcBef>
                        <a:spcAft>
                          <a:spcPts val="0"/>
                        </a:spcAft>
                      </a:pPr>
                      <a:r>
                        <a:rPr lang="en-US" sz="2000" dirty="0">
                          <a:effectLst/>
                          <a:latin typeface="Times New Roman" panose="02020603050405020304" pitchFamily="18" charset="0"/>
                          <a:cs typeface="Times New Roman" panose="02020603050405020304" pitchFamily="18" charset="0"/>
                        </a:rPr>
                        <a:t>   4,259.26 </a:t>
                      </a:r>
                      <a:endParaRPr lang="en-US" sz="20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nchor="b"/>
                </a:tc>
                <a:extLst>
                  <a:ext uri="{0D108BD9-81ED-4DB2-BD59-A6C34878D82A}">
                    <a16:rowId xmlns:a16="http://schemas.microsoft.com/office/drawing/2014/main" val="1418286759"/>
                  </a:ext>
                </a:extLst>
              </a:tr>
            </a:tbl>
          </a:graphicData>
        </a:graphic>
      </p:graphicFrame>
      <p:sp>
        <p:nvSpPr>
          <p:cNvPr id="3" name="TextBox 2">
            <a:extLst>
              <a:ext uri="{FF2B5EF4-FFF2-40B4-BE49-F238E27FC236}">
                <a16:creationId xmlns:a16="http://schemas.microsoft.com/office/drawing/2014/main" id="{D5BC8FC9-06CF-8358-1A7A-2C44C91A8267}"/>
              </a:ext>
            </a:extLst>
          </p:cNvPr>
          <p:cNvSpPr txBox="1"/>
          <p:nvPr/>
        </p:nvSpPr>
        <p:spPr>
          <a:xfrm>
            <a:off x="1595120" y="4130040"/>
            <a:ext cx="9885680" cy="400110"/>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sym typeface="Wingdings" panose="05000000000000000000" pitchFamily="2" charset="2"/>
              </a:rPr>
              <a:t></a:t>
            </a:r>
            <a:r>
              <a:rPr lang="en-US" sz="2000" dirty="0">
                <a:latin typeface="Times New Roman" panose="02020603050405020304" pitchFamily="18" charset="0"/>
                <a:cs typeface="Times New Roman" panose="02020603050405020304" pitchFamily="18" charset="0"/>
              </a:rPr>
              <a:t>The table above shows that design 6 is the most energy efficient design</a:t>
            </a:r>
            <a:r>
              <a:rPr lang="en-US" dirty="0"/>
              <a:t>.</a:t>
            </a:r>
          </a:p>
        </p:txBody>
      </p:sp>
    </p:spTree>
    <p:extLst>
      <p:ext uri="{BB962C8B-B14F-4D97-AF65-F5344CB8AC3E}">
        <p14:creationId xmlns:p14="http://schemas.microsoft.com/office/powerpoint/2010/main" val="22720577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Simulation</a:t>
            </a:r>
          </a:p>
        </p:txBody>
      </p:sp>
      <p:sp>
        <p:nvSpPr>
          <p:cNvPr id="3" name="Content Placeholder 2"/>
          <p:cNvSpPr>
            <a:spLocks noGrp="1"/>
          </p:cNvSpPr>
          <p:nvPr>
            <p:ph idx="1"/>
          </p:nvPr>
        </p:nvSpPr>
        <p:spPr>
          <a:xfrm>
            <a:off x="2589212" y="1905000"/>
            <a:ext cx="8915400" cy="3777622"/>
          </a:xfrm>
        </p:spPr>
        <p:txBody>
          <a:bodyPr/>
          <a:lstStyle/>
          <a:p>
            <a:r>
              <a:rPr lang="en-US" dirty="0"/>
              <a:t>The occupants were represented by 12 cylinders with height 1.1m distributed evenly in the room with the following mesh.</a:t>
            </a:r>
          </a:p>
          <a:p>
            <a:r>
              <a:rPr lang="en-US" dirty="0"/>
              <a:t>The meshing of both systems is done in a manner to obtain around 150000 elements with an average orthogonality of 0.76 and a maximum skewness of 0.8. Inflation is applied in the space surrounding the occupants to allow for better resolution since this volume is the most important</a:t>
            </a:r>
          </a:p>
          <a:p>
            <a:pPr marL="0" indent="0">
              <a:buNone/>
            </a:pPr>
            <a:endParaRPr lang="en-US" dirty="0"/>
          </a:p>
        </p:txBody>
      </p:sp>
      <p:pic>
        <p:nvPicPr>
          <p:cNvPr id="4" name="Picture 3" descr="A picture containing text, case, accessory&#10;&#10;Description automatically generated"/>
          <p:cNvPicPr/>
          <p:nvPr/>
        </p:nvPicPr>
        <p:blipFill>
          <a:blip r:embed="rId2" cstate="print">
            <a:extLst>
              <a:ext uri="{28A0092B-C50C-407E-A947-70E740481C1C}">
                <a14:useLocalDpi xmlns:a14="http://schemas.microsoft.com/office/drawing/2010/main" val="0"/>
              </a:ext>
            </a:extLst>
          </a:blip>
          <a:stretch>
            <a:fillRect/>
          </a:stretch>
        </p:blipFill>
        <p:spPr>
          <a:xfrm>
            <a:off x="4117975" y="3793811"/>
            <a:ext cx="5368926" cy="2747331"/>
          </a:xfrm>
          <a:prstGeom prst="rect">
            <a:avLst/>
          </a:prstGeom>
        </p:spPr>
      </p:pic>
    </p:spTree>
    <p:extLst>
      <p:ext uri="{BB962C8B-B14F-4D97-AF65-F5344CB8AC3E}">
        <p14:creationId xmlns:p14="http://schemas.microsoft.com/office/powerpoint/2010/main" val="34995192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Simulation</a:t>
            </a:r>
          </a:p>
        </p:txBody>
      </p:sp>
      <p:sp>
        <p:nvSpPr>
          <p:cNvPr id="3" name="Content Placeholder 2"/>
          <p:cNvSpPr>
            <a:spLocks noGrp="1"/>
          </p:cNvSpPr>
          <p:nvPr>
            <p:ph idx="1"/>
          </p:nvPr>
        </p:nvSpPr>
        <p:spPr/>
        <p:txBody>
          <a:bodyPr/>
          <a:lstStyle/>
          <a:p>
            <a:r>
              <a:rPr lang="en-US" dirty="0"/>
              <a:t>The CCDV system had 2 inlets at the base of the wall and the outlet in the ceiling.</a:t>
            </a:r>
          </a:p>
        </p:txBody>
      </p:sp>
      <p:pic>
        <p:nvPicPr>
          <p:cNvPr id="4" name="Picture 3" descr="A picture containing text, sky&#10;&#10;Description automatically generated"/>
          <p:cNvPicPr/>
          <p:nvPr/>
        </p:nvPicPr>
        <p:blipFill>
          <a:blip r:embed="rId2" cstate="print">
            <a:extLst>
              <a:ext uri="{28A0092B-C50C-407E-A947-70E740481C1C}">
                <a14:useLocalDpi xmlns:a14="http://schemas.microsoft.com/office/drawing/2010/main" val="0"/>
              </a:ext>
            </a:extLst>
          </a:blip>
          <a:stretch>
            <a:fillRect/>
          </a:stretch>
        </p:blipFill>
        <p:spPr>
          <a:xfrm>
            <a:off x="4183062" y="3007046"/>
            <a:ext cx="4689476" cy="2536504"/>
          </a:xfrm>
          <a:prstGeom prst="rect">
            <a:avLst/>
          </a:prstGeom>
        </p:spPr>
      </p:pic>
    </p:spTree>
    <p:extLst>
      <p:ext uri="{BB962C8B-B14F-4D97-AF65-F5344CB8AC3E}">
        <p14:creationId xmlns:p14="http://schemas.microsoft.com/office/powerpoint/2010/main" val="13012018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Simulation</a:t>
            </a:r>
          </a:p>
        </p:txBody>
      </p:sp>
      <p:sp>
        <p:nvSpPr>
          <p:cNvPr id="3" name="Content Placeholder 2"/>
          <p:cNvSpPr>
            <a:spLocks noGrp="1"/>
          </p:cNvSpPr>
          <p:nvPr>
            <p:ph idx="1"/>
          </p:nvPr>
        </p:nvSpPr>
        <p:spPr/>
        <p:txBody>
          <a:bodyPr/>
          <a:lstStyle/>
          <a:p>
            <a:r>
              <a:rPr lang="en-US" dirty="0"/>
              <a:t>The Mixed ventilation system had 2 inlets and 1 outlet in the ceiling.</a:t>
            </a:r>
          </a:p>
        </p:txBody>
      </p:sp>
      <p:pic>
        <p:nvPicPr>
          <p:cNvPr id="4" name="Picture 3" descr="Chart&#10;&#10;Description automatically generated"/>
          <p:cNvPicPr/>
          <p:nvPr/>
        </p:nvPicPr>
        <p:blipFill>
          <a:blip r:embed="rId2" cstate="print">
            <a:extLst>
              <a:ext uri="{28A0092B-C50C-407E-A947-70E740481C1C}">
                <a14:useLocalDpi xmlns:a14="http://schemas.microsoft.com/office/drawing/2010/main" val="0"/>
              </a:ext>
            </a:extLst>
          </a:blip>
          <a:stretch>
            <a:fillRect/>
          </a:stretch>
        </p:blipFill>
        <p:spPr>
          <a:xfrm>
            <a:off x="4110038" y="2873692"/>
            <a:ext cx="4676775" cy="2727008"/>
          </a:xfrm>
          <a:prstGeom prst="rect">
            <a:avLst/>
          </a:prstGeom>
        </p:spPr>
      </p:pic>
    </p:spTree>
    <p:extLst>
      <p:ext uri="{BB962C8B-B14F-4D97-AF65-F5344CB8AC3E}">
        <p14:creationId xmlns:p14="http://schemas.microsoft.com/office/powerpoint/2010/main" val="17134337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Simulation Conditions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dirty="0"/>
                  <a:t>We imposed a 0.16kg/s flow rate of air at the inlets of both systems </a:t>
                </a:r>
              </a:p>
              <a:p>
                <a:r>
                  <a:rPr lang="en-US" dirty="0"/>
                  <a:t>The temperature of the inlet flow for both systems is taken as that of the ambient 20.5</a:t>
                </a:r>
                <a14:m>
                  <m:oMath xmlns:m="http://schemas.openxmlformats.org/officeDocument/2006/math">
                    <m:r>
                      <a:rPr lang="en-US" i="1">
                        <a:latin typeface="Cambria Math" panose="02040503050406030204" pitchFamily="18" charset="0"/>
                      </a:rPr>
                      <m:t>°</m:t>
                    </m:r>
                  </m:oMath>
                </a14:m>
                <a:r>
                  <a:rPr lang="en-US" dirty="0"/>
                  <a:t>C for CCDV as indicated in the design </a:t>
                </a:r>
              </a:p>
              <a:p>
                <a:r>
                  <a:rPr lang="en-US" dirty="0"/>
                  <a:t>The CCDV system has a ceiling temperature of 15.5</a:t>
                </a:r>
                <a14:m>
                  <m:oMath xmlns:m="http://schemas.openxmlformats.org/officeDocument/2006/math">
                    <m:r>
                      <a:rPr lang="en-US" i="1">
                        <a:latin typeface="Cambria Math" panose="02040503050406030204" pitchFamily="18" charset="0"/>
                      </a:rPr>
                      <m:t>°</m:t>
                    </m:r>
                  </m:oMath>
                </a14:m>
                <a:r>
                  <a:rPr lang="en-US" dirty="0"/>
                  <a:t>C</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479" t="-806"/>
                </a:stretch>
              </a:blipFill>
            </p:spPr>
            <p:txBody>
              <a:bodyPr/>
              <a:lstStyle/>
              <a:p>
                <a:r>
                  <a:rPr lang="en-US">
                    <a:noFill/>
                  </a:rPr>
                  <a:t> </a:t>
                </a:r>
              </a:p>
            </p:txBody>
          </p:sp>
        </mc:Fallback>
      </mc:AlternateContent>
    </p:spTree>
    <p:extLst>
      <p:ext uri="{BB962C8B-B14F-4D97-AF65-F5344CB8AC3E}">
        <p14:creationId xmlns:p14="http://schemas.microsoft.com/office/powerpoint/2010/main" val="29348802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Simulation Results</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2589212" y="1897967"/>
                <a:ext cx="8915400" cy="3777622"/>
              </a:xfrm>
            </p:spPr>
            <p:txBody>
              <a:bodyPr/>
              <a:lstStyle/>
              <a:p>
                <a:r>
                  <a:rPr lang="en-US" dirty="0"/>
                  <a:t>From the simulation, the temperature head and chest zones of the occupants in the mixed ventilation is around 30</a:t>
                </a:r>
                <a14:m>
                  <m:oMath xmlns:m="http://schemas.openxmlformats.org/officeDocument/2006/math">
                    <m:r>
                      <a:rPr lang="en-US" i="1">
                        <a:latin typeface="Cambria Math" panose="02040503050406030204" pitchFamily="18" charset="0"/>
                      </a:rPr>
                      <m:t>°</m:t>
                    </m:r>
                  </m:oMath>
                </a14:m>
                <a:r>
                  <a:rPr lang="en-US" dirty="0"/>
                  <a:t>C while in the case of CCDV system, it is 25</a:t>
                </a:r>
                <a14:m>
                  <m:oMath xmlns:m="http://schemas.openxmlformats.org/officeDocument/2006/math">
                    <m:r>
                      <a:rPr lang="en-US" i="1">
                        <a:latin typeface="Cambria Math" panose="02040503050406030204" pitchFamily="18" charset="0"/>
                      </a:rPr>
                      <m:t>°</m:t>
                    </m:r>
                  </m:oMath>
                </a14:m>
                <a:r>
                  <a:rPr lang="en-US" dirty="0"/>
                  <a:t>C. </a:t>
                </a:r>
              </a:p>
              <a:p>
                <a:r>
                  <a:rPr lang="en-US" dirty="0"/>
                  <a:t>The simulations are illustrated as follows in contour and vector forms.</a:t>
                </a:r>
              </a:p>
              <a:p>
                <a:r>
                  <a:rPr lang="en-US" dirty="0"/>
                  <a:t> According to ASHRAE, thermal comfort is attained mainly in the head and chest zones. That is why we are seeing the temperature in those zones are below the temperatures at the feet. </a:t>
                </a: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2589212" y="1897967"/>
                <a:ext cx="8915400" cy="3777622"/>
              </a:xfrm>
              <a:blipFill>
                <a:blip r:embed="rId2"/>
                <a:stretch>
                  <a:fillRect l="-479" t="-806"/>
                </a:stretch>
              </a:blipFill>
            </p:spPr>
            <p:txBody>
              <a:bodyPr/>
              <a:lstStyle/>
              <a:p>
                <a:r>
                  <a:rPr lang="en-US">
                    <a:noFill/>
                  </a:rPr>
                  <a:t> </a:t>
                </a:r>
              </a:p>
            </p:txBody>
          </p:sp>
        </mc:Fallback>
      </mc:AlternateContent>
    </p:spTree>
    <p:extLst>
      <p:ext uri="{BB962C8B-B14F-4D97-AF65-F5344CB8AC3E}">
        <p14:creationId xmlns:p14="http://schemas.microsoft.com/office/powerpoint/2010/main" val="29732369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CCDV Results</a:t>
            </a:r>
          </a:p>
        </p:txBody>
      </p:sp>
      <p:pic>
        <p:nvPicPr>
          <p:cNvPr id="4" name="Picture 3" descr="A picture containing text, screenshot, diagram, design&#10;&#10;Description automatically generated"/>
          <p:cNvPicPr/>
          <p:nvPr/>
        </p:nvPicPr>
        <p:blipFill>
          <a:blip r:embed="rId2">
            <a:extLst>
              <a:ext uri="{28A0092B-C50C-407E-A947-70E740481C1C}">
                <a14:useLocalDpi xmlns:a14="http://schemas.microsoft.com/office/drawing/2010/main" val="0"/>
              </a:ext>
            </a:extLst>
          </a:blip>
          <a:stretch>
            <a:fillRect/>
          </a:stretch>
        </p:blipFill>
        <p:spPr>
          <a:xfrm>
            <a:off x="846772" y="2100897"/>
            <a:ext cx="5412105" cy="2799080"/>
          </a:xfrm>
          <a:prstGeom prst="rect">
            <a:avLst/>
          </a:prstGeom>
        </p:spPr>
      </p:pic>
      <p:pic>
        <p:nvPicPr>
          <p:cNvPr id="5" name="Picture 4" descr="A picture containing text, screenshot, design&#10;&#10;Description automatically generated"/>
          <p:cNvPicPr/>
          <p:nvPr/>
        </p:nvPicPr>
        <p:blipFill>
          <a:blip r:embed="rId3">
            <a:extLst>
              <a:ext uri="{28A0092B-C50C-407E-A947-70E740481C1C}">
                <a14:useLocalDpi xmlns:a14="http://schemas.microsoft.com/office/drawing/2010/main" val="0"/>
              </a:ext>
            </a:extLst>
          </a:blip>
          <a:stretch>
            <a:fillRect/>
          </a:stretch>
        </p:blipFill>
        <p:spPr>
          <a:xfrm>
            <a:off x="6470650" y="2017712"/>
            <a:ext cx="5422900" cy="2882265"/>
          </a:xfrm>
          <a:prstGeom prst="rect">
            <a:avLst/>
          </a:prstGeom>
        </p:spPr>
      </p:pic>
    </p:spTree>
    <p:extLst>
      <p:ext uri="{BB962C8B-B14F-4D97-AF65-F5344CB8AC3E}">
        <p14:creationId xmlns:p14="http://schemas.microsoft.com/office/powerpoint/2010/main" val="239264207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Mixed Ventilation Results</a:t>
            </a:r>
          </a:p>
        </p:txBody>
      </p:sp>
      <p:pic>
        <p:nvPicPr>
          <p:cNvPr id="4" name="Picture 3" descr="A picture containing screenshot, text, colorfulness, design&#10;&#10;Description automatically generated"/>
          <p:cNvPicPr/>
          <p:nvPr/>
        </p:nvPicPr>
        <p:blipFill>
          <a:blip r:embed="rId2">
            <a:extLst>
              <a:ext uri="{28A0092B-C50C-407E-A947-70E740481C1C}">
                <a14:useLocalDpi xmlns:a14="http://schemas.microsoft.com/office/drawing/2010/main" val="0"/>
              </a:ext>
            </a:extLst>
          </a:blip>
          <a:stretch>
            <a:fillRect/>
          </a:stretch>
        </p:blipFill>
        <p:spPr>
          <a:xfrm>
            <a:off x="959167" y="2284730"/>
            <a:ext cx="5415915" cy="2860040"/>
          </a:xfrm>
          <a:prstGeom prst="rect">
            <a:avLst/>
          </a:prstGeom>
        </p:spPr>
      </p:pic>
      <p:pic>
        <p:nvPicPr>
          <p:cNvPr id="5" name="Picture 4" descr="A picture containing text, curtain&#10;&#10;Description automatically generated"/>
          <p:cNvPicPr/>
          <p:nvPr/>
        </p:nvPicPr>
        <p:blipFill>
          <a:blip r:embed="rId3">
            <a:extLst>
              <a:ext uri="{28A0092B-C50C-407E-A947-70E740481C1C}">
                <a14:useLocalDpi xmlns:a14="http://schemas.microsoft.com/office/drawing/2010/main" val="0"/>
              </a:ext>
            </a:extLst>
          </a:blip>
          <a:stretch>
            <a:fillRect/>
          </a:stretch>
        </p:blipFill>
        <p:spPr>
          <a:xfrm>
            <a:off x="6617018" y="2284730"/>
            <a:ext cx="5387340" cy="2738755"/>
          </a:xfrm>
          <a:prstGeom prst="rect">
            <a:avLst/>
          </a:prstGeom>
        </p:spPr>
      </p:pic>
    </p:spTree>
    <p:extLst>
      <p:ext uri="{BB962C8B-B14F-4D97-AF65-F5344CB8AC3E}">
        <p14:creationId xmlns:p14="http://schemas.microsoft.com/office/powerpoint/2010/main" val="226626128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Economic Analysis</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2599812" y="3080378"/>
                <a:ext cx="8915400" cy="3777622"/>
              </a:xfrm>
            </p:spPr>
            <p:txBody>
              <a:bodyPr/>
              <a:lstStyle/>
              <a:p>
                <a:r>
                  <a:rPr lang="en-US" dirty="0"/>
                  <a:t>A study Period of 20 years will be taken, and the expenses are as shown.</a:t>
                </a:r>
              </a:p>
              <a:p>
                <a:r>
                  <a:rPr lang="en-US" dirty="0"/>
                  <a:t>The electricity price is assumed equal to 0.168$/KWh with an annual increase in 2%.</a:t>
                </a:r>
              </a:p>
              <a:p>
                <a:r>
                  <a:rPr lang="en-US" dirty="0"/>
                  <a:t>The electricity is assumed to be provided by a diesel power plant, which has a fuel-to-energy ratio of </a:t>
                </a:r>
                <a14:m>
                  <m:oMath xmlns:m="http://schemas.openxmlformats.org/officeDocument/2006/math">
                    <m:r>
                      <a:rPr lang="en-US" i="1">
                        <a:latin typeface="Cambria Math" panose="02040503050406030204" pitchFamily="18" charset="0"/>
                      </a:rPr>
                      <m:t>0.4 </m:t>
                    </m:r>
                    <m:r>
                      <a:rPr lang="en-US" i="1">
                        <a:latin typeface="Cambria Math" panose="02040503050406030204" pitchFamily="18" charset="0"/>
                      </a:rPr>
                      <m:t>𝐿</m:t>
                    </m:r>
                    <m:r>
                      <a:rPr lang="en-US" i="1">
                        <a:latin typeface="Cambria Math" panose="02040503050406030204" pitchFamily="18" charset="0"/>
                      </a:rPr>
                      <m:t>/</m:t>
                    </m:r>
                    <m:r>
                      <a:rPr lang="en-US" i="1">
                        <a:latin typeface="Cambria Math" panose="02040503050406030204" pitchFamily="18" charset="0"/>
                      </a:rPr>
                      <m:t>𝐾𝑊h</m:t>
                    </m:r>
                  </m:oMath>
                </a14:m>
                <a:r>
                  <a:rPr lang="en-US" dirty="0"/>
                  <a:t>. So, 336 Liters of diesel are needed for the CC-DV system and 600 Liters for the Mixed Mode system.</a:t>
                </a:r>
              </a:p>
              <a:p>
                <a:r>
                  <a:rPr lang="en-US" dirty="0"/>
                  <a:t>The annual nominal interest rate is 4.75% and the annual inflation rate is 3.8%. Therefore, the annual real interest rate is 0.915%.</a:t>
                </a:r>
              </a:p>
              <a:p>
                <a:r>
                  <a:rPr lang="en-US" dirty="0"/>
                  <a:t>We will assume that before this project, the owners were using 2 MWh per year for air conditioning and ventilation using split units.</a:t>
                </a:r>
              </a:p>
              <a:p>
                <a:endParaRPr lang="en-US" dirty="0"/>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2599812" y="3080378"/>
                <a:ext cx="8915400" cy="3777622"/>
              </a:xfrm>
              <a:blipFill>
                <a:blip r:embed="rId2"/>
                <a:stretch>
                  <a:fillRect l="-478" t="-806"/>
                </a:stretch>
              </a:blipFill>
            </p:spPr>
            <p:txBody>
              <a:bodyPr/>
              <a:lstStyle/>
              <a:p>
                <a:r>
                  <a:rPr lang="en-US">
                    <a:noFill/>
                  </a:rPr>
                  <a:t> </a:t>
                </a:r>
              </a:p>
            </p:txBody>
          </p:sp>
        </mc:Fallback>
      </mc:AlternateContent>
      <p:pic>
        <p:nvPicPr>
          <p:cNvPr id="5" name="Picture 4"/>
          <p:cNvPicPr/>
          <p:nvPr/>
        </p:nvPicPr>
        <p:blipFill>
          <a:blip r:embed="rId3">
            <a:extLst>
              <a:ext uri="{28A0092B-C50C-407E-A947-70E740481C1C}">
                <a14:useLocalDpi xmlns:a14="http://schemas.microsoft.com/office/drawing/2010/main" val="0"/>
              </a:ext>
            </a:extLst>
          </a:blip>
          <a:srcRect/>
          <a:stretch>
            <a:fillRect/>
          </a:stretch>
        </p:blipFill>
        <p:spPr bwMode="auto">
          <a:xfrm>
            <a:off x="2706686" y="1471611"/>
            <a:ext cx="8797926" cy="1323977"/>
          </a:xfrm>
          <a:prstGeom prst="rect">
            <a:avLst/>
          </a:prstGeom>
          <a:noFill/>
          <a:ln>
            <a:noFill/>
          </a:ln>
        </p:spPr>
      </p:pic>
    </p:spTree>
    <p:extLst>
      <p:ext uri="{BB962C8B-B14F-4D97-AF65-F5344CB8AC3E}">
        <p14:creationId xmlns:p14="http://schemas.microsoft.com/office/powerpoint/2010/main" val="29807840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Cash Flows</a:t>
            </a:r>
          </a:p>
        </p:txBody>
      </p:sp>
      <p:pic>
        <p:nvPicPr>
          <p:cNvPr id="4" name="Picture 3"/>
          <p:cNvPicPr/>
          <p:nvPr/>
        </p:nvPicPr>
        <p:blipFill>
          <a:blip r:embed="rId2">
            <a:extLst>
              <a:ext uri="{28A0092B-C50C-407E-A947-70E740481C1C}">
                <a14:useLocalDpi xmlns:a14="http://schemas.microsoft.com/office/drawing/2010/main" val="0"/>
              </a:ext>
            </a:extLst>
          </a:blip>
          <a:srcRect/>
          <a:stretch>
            <a:fillRect/>
          </a:stretch>
        </p:blipFill>
        <p:spPr bwMode="auto">
          <a:xfrm>
            <a:off x="2307907" y="1547812"/>
            <a:ext cx="7636193" cy="1138238"/>
          </a:xfrm>
          <a:prstGeom prst="rect">
            <a:avLst/>
          </a:prstGeom>
          <a:noFill/>
          <a:ln>
            <a:noFill/>
          </a:ln>
        </p:spPr>
      </p:pic>
      <p:pic>
        <p:nvPicPr>
          <p:cNvPr id="5" name="Picture 4"/>
          <p:cNvPicPr/>
          <p:nvPr/>
        </p:nvPicPr>
        <p:blipFill>
          <a:blip r:embed="rId3">
            <a:extLst>
              <a:ext uri="{28A0092B-C50C-407E-A947-70E740481C1C}">
                <a14:useLocalDpi xmlns:a14="http://schemas.microsoft.com/office/drawing/2010/main" val="0"/>
              </a:ext>
            </a:extLst>
          </a:blip>
          <a:srcRect/>
          <a:stretch>
            <a:fillRect/>
          </a:stretch>
        </p:blipFill>
        <p:spPr bwMode="auto">
          <a:xfrm>
            <a:off x="2307907" y="2686050"/>
            <a:ext cx="7636193" cy="781050"/>
          </a:xfrm>
          <a:prstGeom prst="rect">
            <a:avLst/>
          </a:prstGeom>
          <a:noFill/>
          <a:ln>
            <a:noFill/>
          </a:ln>
        </p:spPr>
      </p:pic>
      <p:pic>
        <p:nvPicPr>
          <p:cNvPr id="6" name="Picture 5"/>
          <p:cNvPicPr/>
          <p:nvPr/>
        </p:nvPicPr>
        <p:blipFill>
          <a:blip r:embed="rId4">
            <a:extLst>
              <a:ext uri="{28A0092B-C50C-407E-A947-70E740481C1C}">
                <a14:useLocalDpi xmlns:a14="http://schemas.microsoft.com/office/drawing/2010/main" val="0"/>
              </a:ext>
            </a:extLst>
          </a:blip>
          <a:srcRect/>
          <a:stretch>
            <a:fillRect/>
          </a:stretch>
        </p:blipFill>
        <p:spPr bwMode="auto">
          <a:xfrm>
            <a:off x="2307906" y="3669124"/>
            <a:ext cx="7636193" cy="788576"/>
          </a:xfrm>
          <a:prstGeom prst="rect">
            <a:avLst/>
          </a:prstGeom>
          <a:noFill/>
          <a:ln>
            <a:noFill/>
          </a:ln>
        </p:spPr>
      </p:pic>
      <p:pic>
        <p:nvPicPr>
          <p:cNvPr id="7" name="Picture 6"/>
          <p:cNvPicPr/>
          <p:nvPr/>
        </p:nvPicPr>
        <p:blipFill>
          <a:blip r:embed="rId5">
            <a:extLst>
              <a:ext uri="{28A0092B-C50C-407E-A947-70E740481C1C}">
                <a14:useLocalDpi xmlns:a14="http://schemas.microsoft.com/office/drawing/2010/main" val="0"/>
              </a:ext>
            </a:extLst>
          </a:blip>
          <a:srcRect/>
          <a:stretch>
            <a:fillRect/>
          </a:stretch>
        </p:blipFill>
        <p:spPr bwMode="auto">
          <a:xfrm>
            <a:off x="2307905" y="4457700"/>
            <a:ext cx="7636193" cy="671513"/>
          </a:xfrm>
          <a:prstGeom prst="rect">
            <a:avLst/>
          </a:prstGeom>
          <a:noFill/>
          <a:ln>
            <a:noFill/>
          </a:ln>
        </p:spPr>
      </p:pic>
    </p:spTree>
    <p:extLst>
      <p:ext uri="{BB962C8B-B14F-4D97-AF65-F5344CB8AC3E}">
        <p14:creationId xmlns:p14="http://schemas.microsoft.com/office/powerpoint/2010/main" val="13801127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NPV and CER</a:t>
            </a:r>
          </a:p>
        </p:txBody>
      </p:sp>
      <p:pic>
        <p:nvPicPr>
          <p:cNvPr id="4" name="Picture 3"/>
          <p:cNvPicPr/>
          <p:nvPr/>
        </p:nvPicPr>
        <p:blipFill>
          <a:blip r:embed="rId2">
            <a:extLst>
              <a:ext uri="{28A0092B-C50C-407E-A947-70E740481C1C}">
                <a14:useLocalDpi xmlns:a14="http://schemas.microsoft.com/office/drawing/2010/main" val="0"/>
              </a:ext>
            </a:extLst>
          </a:blip>
          <a:srcRect/>
          <a:stretch>
            <a:fillRect/>
          </a:stretch>
        </p:blipFill>
        <p:spPr bwMode="auto">
          <a:xfrm>
            <a:off x="2592925" y="1904999"/>
            <a:ext cx="7622638" cy="1266825"/>
          </a:xfrm>
          <a:prstGeom prst="rect">
            <a:avLst/>
          </a:prstGeom>
          <a:noFill/>
          <a:ln>
            <a:noFill/>
          </a:ln>
        </p:spPr>
      </p:pic>
      <p:pic>
        <p:nvPicPr>
          <p:cNvPr id="5" name="Picture 4"/>
          <p:cNvPicPr/>
          <p:nvPr/>
        </p:nvPicPr>
        <p:blipFill>
          <a:blip r:embed="rId3">
            <a:extLst>
              <a:ext uri="{28A0092B-C50C-407E-A947-70E740481C1C}">
                <a14:useLocalDpi xmlns:a14="http://schemas.microsoft.com/office/drawing/2010/main" val="0"/>
              </a:ext>
            </a:extLst>
          </a:blip>
          <a:srcRect/>
          <a:stretch>
            <a:fillRect/>
          </a:stretch>
        </p:blipFill>
        <p:spPr bwMode="auto">
          <a:xfrm>
            <a:off x="2592925" y="3171824"/>
            <a:ext cx="7622638" cy="1128714"/>
          </a:xfrm>
          <a:prstGeom prst="rect">
            <a:avLst/>
          </a:prstGeom>
          <a:noFill/>
          <a:ln>
            <a:noFill/>
          </a:ln>
        </p:spPr>
      </p:pic>
      <mc:AlternateContent xmlns:mc="http://schemas.openxmlformats.org/markup-compatibility/2006" xmlns:a14="http://schemas.microsoft.com/office/drawing/2010/main">
        <mc:Choice Requires="a14">
          <p:sp>
            <p:nvSpPr>
              <p:cNvPr id="6" name="Rectangle 5"/>
              <p:cNvSpPr/>
              <p:nvPr/>
            </p:nvSpPr>
            <p:spPr>
              <a:xfrm>
                <a:off x="3153178" y="4682824"/>
                <a:ext cx="6502131" cy="884538"/>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rPr>
                        <m:t>𝑁𝑃</m:t>
                      </m:r>
                      <m:r>
                        <m:rPr>
                          <m:sty m:val="p"/>
                        </m:rPr>
                        <a:rPr lang="en-US" b="0" i="0" smtClean="0">
                          <a:latin typeface="Cambria Math" panose="02040503050406030204" pitchFamily="18" charset="0"/>
                        </a:rPr>
                        <m:t>V</m:t>
                      </m:r>
                      <m:r>
                        <a:rPr lang="en-US" i="0">
                          <a:latin typeface="Cambria Math" panose="02040503050406030204" pitchFamily="18" charset="0"/>
                        </a:rPr>
                        <m:t>=−</m:t>
                      </m:r>
                      <m:r>
                        <a:rPr lang="en-US" i="1">
                          <a:latin typeface="Cambria Math" panose="02040503050406030204" pitchFamily="18" charset="0"/>
                        </a:rPr>
                        <m:t>𝐼𝑛𝑖𝑡𝑖𝑎𝑙</m:t>
                      </m:r>
                      <m:r>
                        <a:rPr lang="en-US" i="0">
                          <a:latin typeface="Cambria Math" panose="02040503050406030204" pitchFamily="18" charset="0"/>
                        </a:rPr>
                        <m:t> </m:t>
                      </m:r>
                      <m:r>
                        <a:rPr lang="en-US" i="1">
                          <a:latin typeface="Cambria Math" panose="02040503050406030204" pitchFamily="18" charset="0"/>
                        </a:rPr>
                        <m:t>𝐼𝑛𝑣𝑒𝑠𝑡𝑚𝑒𝑛𝑡</m:t>
                      </m:r>
                      <m:r>
                        <a:rPr lang="en-US" i="0">
                          <a:latin typeface="Cambria Math" panose="02040503050406030204" pitchFamily="18" charset="0"/>
                        </a:rPr>
                        <m:t>+</m:t>
                      </m:r>
                      <m:nary>
                        <m:naryPr>
                          <m:chr m:val="∑"/>
                          <m:limLoc m:val="subSup"/>
                          <m:grow m:val="on"/>
                          <m:ctrlPr>
                            <a:rPr lang="en-US" i="1">
                              <a:latin typeface="Cambria Math" panose="02040503050406030204" pitchFamily="18" charset="0"/>
                            </a:rPr>
                          </m:ctrlPr>
                        </m:naryPr>
                        <m:sub>
                          <m:r>
                            <a:rPr lang="en-US" i="1">
                              <a:latin typeface="Cambria Math" panose="02040503050406030204" pitchFamily="18" charset="0"/>
                            </a:rPr>
                            <m:t>𝑘</m:t>
                          </m:r>
                          <m:r>
                            <a:rPr lang="en-US" i="0">
                              <a:latin typeface="Cambria Math" panose="02040503050406030204" pitchFamily="18" charset="0"/>
                            </a:rPr>
                            <m:t>=1</m:t>
                          </m:r>
                        </m:sub>
                        <m:sup>
                          <m:r>
                            <a:rPr lang="en-US" i="0">
                              <a:latin typeface="Cambria Math" panose="02040503050406030204" pitchFamily="18" charset="0"/>
                            </a:rPr>
                            <m:t>20</m:t>
                          </m:r>
                        </m:sup>
                        <m:e>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i="1">
                                      <a:latin typeface="Cambria Math" panose="02040503050406030204" pitchFamily="18" charset="0"/>
                                    </a:rPr>
                                    <m:t>𝑘</m:t>
                                  </m:r>
                                </m:sub>
                              </m:sSub>
                              <m:r>
                                <a:rPr lang="en-US" i="0">
                                  <a:latin typeface="Cambria Math" panose="02040503050406030204" pitchFamily="18" charset="0"/>
                                </a:rPr>
                                <m:t>−</m:t>
                              </m:r>
                              <m:sSub>
                                <m:sSubPr>
                                  <m:ctrlPr>
                                    <a:rPr lang="en-US" i="1">
                                      <a:latin typeface="Cambria Math" panose="02040503050406030204" pitchFamily="18" charset="0"/>
                                    </a:rPr>
                                  </m:ctrlPr>
                                </m:sSubPr>
                                <m:e>
                                  <m:r>
                                    <a:rPr lang="en-US" i="1">
                                      <a:latin typeface="Cambria Math" panose="02040503050406030204" pitchFamily="18" charset="0"/>
                                    </a:rPr>
                                    <m:t>𝐶</m:t>
                                  </m:r>
                                </m:e>
                                <m:sub>
                                  <m:r>
                                    <a:rPr lang="en-US" i="1">
                                      <a:latin typeface="Cambria Math" panose="02040503050406030204" pitchFamily="18" charset="0"/>
                                    </a:rPr>
                                    <m:t>𝑘</m:t>
                                  </m:r>
                                </m:sub>
                              </m:sSub>
                            </m:num>
                            <m:den>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0">
                                          <a:latin typeface="Cambria Math" panose="02040503050406030204" pitchFamily="18" charset="0"/>
                                        </a:rPr>
                                        <m:t>1+</m:t>
                                      </m:r>
                                      <m:r>
                                        <a:rPr lang="en-US" i="1">
                                          <a:latin typeface="Cambria Math" panose="02040503050406030204" pitchFamily="18" charset="0"/>
                                        </a:rPr>
                                        <m:t>𝑟</m:t>
                                      </m:r>
                                    </m:e>
                                  </m:d>
                                </m:e>
                                <m:sup>
                                  <m:r>
                                    <a:rPr lang="en-US" i="1">
                                      <a:latin typeface="Cambria Math" panose="02040503050406030204" pitchFamily="18" charset="0"/>
                                    </a:rPr>
                                    <m:t>𝑘</m:t>
                                  </m:r>
                                </m:sup>
                              </m:sSup>
                            </m:den>
                          </m:f>
                        </m:e>
                      </m:nary>
                      <m:r>
                        <a:rPr lang="en-US" i="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𝑆</m:t>
                          </m:r>
                        </m:num>
                        <m:den>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0">
                                      <a:latin typeface="Cambria Math" panose="02040503050406030204" pitchFamily="18" charset="0"/>
                                    </a:rPr>
                                    <m:t>1+</m:t>
                                  </m:r>
                                  <m:r>
                                    <a:rPr lang="en-US" i="1">
                                      <a:latin typeface="Cambria Math" panose="02040503050406030204" pitchFamily="18" charset="0"/>
                                    </a:rPr>
                                    <m:t>𝑟</m:t>
                                  </m:r>
                                </m:e>
                              </m:d>
                            </m:e>
                            <m:sup>
                              <m:r>
                                <a:rPr lang="en-US" i="0">
                                  <a:latin typeface="Cambria Math" panose="02040503050406030204" pitchFamily="18" charset="0"/>
                                </a:rPr>
                                <m:t>20</m:t>
                              </m:r>
                            </m:sup>
                          </m:sSup>
                        </m:den>
                      </m:f>
                    </m:oMath>
                  </m:oMathPara>
                </a14:m>
                <a:endParaRPr lang="en-US" dirty="0"/>
              </a:p>
            </p:txBody>
          </p:sp>
        </mc:Choice>
        <mc:Fallback xmlns="">
          <p:sp>
            <p:nvSpPr>
              <p:cNvPr id="6" name="Rectangle 5"/>
              <p:cNvSpPr>
                <a:spLocks noRot="1" noChangeAspect="1" noMove="1" noResize="1" noEditPoints="1" noAdjustHandles="1" noChangeArrowheads="1" noChangeShapeType="1" noTextEdit="1"/>
              </p:cNvSpPr>
              <p:nvPr/>
            </p:nvSpPr>
            <p:spPr>
              <a:xfrm>
                <a:off x="3153178" y="4682824"/>
                <a:ext cx="6502131" cy="884538"/>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Rectangle 7"/>
              <p:cNvSpPr/>
              <p:nvPr/>
            </p:nvSpPr>
            <p:spPr>
              <a:xfrm>
                <a:off x="4802060" y="5766688"/>
                <a:ext cx="2902205" cy="611001"/>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𝐶𝐸𝑅</m:t>
                      </m:r>
                      <m:r>
                        <a:rPr lang="en-US" i="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𝑁𝑃𝑉</m:t>
                          </m:r>
                        </m:num>
                        <m:den>
                          <m:r>
                            <a:rPr lang="en-US" i="1">
                              <a:latin typeface="Cambria Math" panose="02040503050406030204" pitchFamily="18" charset="0"/>
                            </a:rPr>
                            <m:t>𝐼𝑛𝑖𝑡𝑖𝑎𝑙</m:t>
                          </m:r>
                          <m:r>
                            <a:rPr lang="en-US" i="0">
                              <a:latin typeface="Cambria Math" panose="02040503050406030204" pitchFamily="18" charset="0"/>
                            </a:rPr>
                            <m:t> </m:t>
                          </m:r>
                          <m:r>
                            <a:rPr lang="en-US" i="1">
                              <a:latin typeface="Cambria Math" panose="02040503050406030204" pitchFamily="18" charset="0"/>
                            </a:rPr>
                            <m:t>𝐼𝑛𝑣𝑒𝑠𝑡𝑚𝑒𝑛𝑡</m:t>
                          </m:r>
                        </m:den>
                      </m:f>
                    </m:oMath>
                  </m:oMathPara>
                </a14:m>
                <a:endParaRPr lang="en-US" dirty="0"/>
              </a:p>
            </p:txBody>
          </p:sp>
        </mc:Choice>
        <mc:Fallback xmlns="">
          <p:sp>
            <p:nvSpPr>
              <p:cNvPr id="8" name="Rectangle 7"/>
              <p:cNvSpPr>
                <a:spLocks noRot="1" noChangeAspect="1" noMove="1" noResize="1" noEditPoints="1" noAdjustHandles="1" noChangeArrowheads="1" noChangeShapeType="1" noTextEdit="1"/>
              </p:cNvSpPr>
              <p:nvPr/>
            </p:nvSpPr>
            <p:spPr>
              <a:xfrm>
                <a:off x="4802060" y="5766688"/>
                <a:ext cx="2902205" cy="611001"/>
              </a:xfrm>
              <a:prstGeom prst="rect">
                <a:avLst/>
              </a:prstGeom>
              <a:blipFill>
                <a:blip r:embed="rId5"/>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71240454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Internal Rate of Return</a:t>
            </a:r>
          </a:p>
        </p:txBody>
      </p:sp>
      <mc:AlternateContent xmlns:mc="http://schemas.openxmlformats.org/markup-compatibility/2006" xmlns:a14="http://schemas.microsoft.com/office/drawing/2010/main">
        <mc:Choice Requires="a14">
          <p:sp>
            <p:nvSpPr>
              <p:cNvPr id="6" name="Rectangle 5"/>
              <p:cNvSpPr/>
              <p:nvPr/>
            </p:nvSpPr>
            <p:spPr>
              <a:xfrm>
                <a:off x="1547811" y="2828760"/>
                <a:ext cx="8682039" cy="1148648"/>
              </a:xfrm>
              <a:prstGeom prst="rect">
                <a:avLst/>
              </a:prstGeom>
            </p:spPr>
            <p:txBody>
              <a:bodyPr wrap="square">
                <a:spAutoFit/>
              </a:bodyPr>
              <a:lstStyle/>
              <a:p>
                <a:pPr/>
                <a14:m>
                  <m:oMathPara xmlns:m="http://schemas.openxmlformats.org/officeDocument/2006/math">
                    <m:oMathParaPr>
                      <m:jc m:val="centerGroup"/>
                    </m:oMathParaPr>
                    <m:oMath xmlns:m="http://schemas.openxmlformats.org/officeDocument/2006/math">
                      <m:r>
                        <a:rPr lang="en-US" sz="2400">
                          <a:latin typeface="Cambria Math" panose="02040503050406030204" pitchFamily="18" charset="0"/>
                        </a:rPr>
                        <m:t>0</m:t>
                      </m:r>
                      <m:r>
                        <a:rPr lang="en-US" sz="2400" i="0">
                          <a:latin typeface="Cambria Math" panose="02040503050406030204" pitchFamily="18" charset="0"/>
                        </a:rPr>
                        <m:t>=−</m:t>
                      </m:r>
                      <m:r>
                        <a:rPr lang="en-US" sz="2400" i="1">
                          <a:latin typeface="Cambria Math" panose="02040503050406030204" pitchFamily="18" charset="0"/>
                        </a:rPr>
                        <m:t>𝐼𝑛𝑖𝑡𝑖𝑎𝑙</m:t>
                      </m:r>
                      <m:r>
                        <a:rPr lang="en-US" sz="2400" i="0">
                          <a:latin typeface="Cambria Math" panose="02040503050406030204" pitchFamily="18" charset="0"/>
                        </a:rPr>
                        <m:t> </m:t>
                      </m:r>
                      <m:r>
                        <a:rPr lang="en-US" sz="2400" i="1">
                          <a:latin typeface="Cambria Math" panose="02040503050406030204" pitchFamily="18" charset="0"/>
                        </a:rPr>
                        <m:t>𝐼𝑛𝑣𝑒𝑠𝑡𝑚𝑒𝑛𝑡</m:t>
                      </m:r>
                      <m:r>
                        <a:rPr lang="en-US" sz="2400" i="0">
                          <a:latin typeface="Cambria Math" panose="02040503050406030204" pitchFamily="18" charset="0"/>
                        </a:rPr>
                        <m:t>+</m:t>
                      </m:r>
                      <m:nary>
                        <m:naryPr>
                          <m:chr m:val="∑"/>
                          <m:limLoc m:val="subSup"/>
                          <m:grow m:val="on"/>
                          <m:ctrlPr>
                            <a:rPr lang="en-US" sz="2400" i="1">
                              <a:latin typeface="Cambria Math" panose="02040503050406030204" pitchFamily="18" charset="0"/>
                            </a:rPr>
                          </m:ctrlPr>
                        </m:naryPr>
                        <m:sub>
                          <m:r>
                            <a:rPr lang="en-US" sz="2400" i="1">
                              <a:latin typeface="Cambria Math" panose="02040503050406030204" pitchFamily="18" charset="0"/>
                            </a:rPr>
                            <m:t>𝑘</m:t>
                          </m:r>
                          <m:r>
                            <a:rPr lang="en-US" sz="2400" i="0">
                              <a:latin typeface="Cambria Math" panose="02040503050406030204" pitchFamily="18" charset="0"/>
                            </a:rPr>
                            <m:t>=1</m:t>
                          </m:r>
                        </m:sub>
                        <m:sup>
                          <m:r>
                            <a:rPr lang="en-US" sz="2400" i="0">
                              <a:latin typeface="Cambria Math" panose="02040503050406030204" pitchFamily="18" charset="0"/>
                            </a:rPr>
                            <m:t>20</m:t>
                          </m:r>
                        </m:sup>
                        <m:e>
                          <m:f>
                            <m:fPr>
                              <m:ctrlPr>
                                <a:rPr lang="en-US" sz="2400" i="1">
                                  <a:latin typeface="Cambria Math" panose="02040503050406030204" pitchFamily="18" charset="0"/>
                                </a:rPr>
                              </m:ctrlPr>
                            </m:fPr>
                            <m:num>
                              <m:sSub>
                                <m:sSubPr>
                                  <m:ctrlPr>
                                    <a:rPr lang="en-US" sz="2400" i="1">
                                      <a:latin typeface="Cambria Math" panose="02040503050406030204" pitchFamily="18" charset="0"/>
                                    </a:rPr>
                                  </m:ctrlPr>
                                </m:sSubPr>
                                <m:e>
                                  <m:r>
                                    <a:rPr lang="en-US" sz="2400" i="1">
                                      <a:latin typeface="Cambria Math" panose="02040503050406030204" pitchFamily="18" charset="0"/>
                                    </a:rPr>
                                    <m:t>𝑅</m:t>
                                  </m:r>
                                </m:e>
                                <m:sub>
                                  <m:r>
                                    <a:rPr lang="en-US" sz="2400" i="1">
                                      <a:latin typeface="Cambria Math" panose="02040503050406030204" pitchFamily="18" charset="0"/>
                                    </a:rPr>
                                    <m:t>𝑘</m:t>
                                  </m:r>
                                </m:sub>
                              </m:sSub>
                              <m:r>
                                <a:rPr lang="en-US" sz="2400" i="0">
                                  <a:latin typeface="Cambria Math" panose="02040503050406030204" pitchFamily="18" charset="0"/>
                                </a:rPr>
                                <m:t>−</m:t>
                              </m:r>
                              <m:sSub>
                                <m:sSubPr>
                                  <m:ctrlPr>
                                    <a:rPr lang="en-US" sz="2400" i="1">
                                      <a:latin typeface="Cambria Math" panose="02040503050406030204" pitchFamily="18" charset="0"/>
                                    </a:rPr>
                                  </m:ctrlPr>
                                </m:sSubPr>
                                <m:e>
                                  <m:r>
                                    <a:rPr lang="en-US" sz="2400" i="1">
                                      <a:latin typeface="Cambria Math" panose="02040503050406030204" pitchFamily="18" charset="0"/>
                                    </a:rPr>
                                    <m:t>𝐶</m:t>
                                  </m:r>
                                </m:e>
                                <m:sub>
                                  <m:r>
                                    <a:rPr lang="en-US" sz="2400" i="1">
                                      <a:latin typeface="Cambria Math" panose="02040503050406030204" pitchFamily="18" charset="0"/>
                                    </a:rPr>
                                    <m:t>𝑘</m:t>
                                  </m:r>
                                </m:sub>
                              </m:sSub>
                            </m:num>
                            <m:den>
                              <m:sSup>
                                <m:sSupPr>
                                  <m:ctrlPr>
                                    <a:rPr lang="en-US" sz="2400" i="1">
                                      <a:latin typeface="Cambria Math" panose="02040503050406030204" pitchFamily="18" charset="0"/>
                                    </a:rPr>
                                  </m:ctrlPr>
                                </m:sSupPr>
                                <m:e>
                                  <m:d>
                                    <m:dPr>
                                      <m:ctrlPr>
                                        <a:rPr lang="en-US" sz="2400" i="1">
                                          <a:latin typeface="Cambria Math" panose="02040503050406030204" pitchFamily="18" charset="0"/>
                                        </a:rPr>
                                      </m:ctrlPr>
                                    </m:dPr>
                                    <m:e>
                                      <m:r>
                                        <a:rPr lang="en-US" sz="2400" i="0">
                                          <a:latin typeface="Cambria Math" panose="02040503050406030204" pitchFamily="18" charset="0"/>
                                        </a:rPr>
                                        <m:t>1+</m:t>
                                      </m:r>
                                      <m:r>
                                        <a:rPr lang="en-US" sz="2400" i="1">
                                          <a:latin typeface="Cambria Math" panose="02040503050406030204" pitchFamily="18" charset="0"/>
                                        </a:rPr>
                                        <m:t>𝐼𝑅𝑅</m:t>
                                      </m:r>
                                    </m:e>
                                  </m:d>
                                </m:e>
                                <m:sup>
                                  <m:r>
                                    <a:rPr lang="en-US" sz="2400" i="1">
                                      <a:latin typeface="Cambria Math" panose="02040503050406030204" pitchFamily="18" charset="0"/>
                                    </a:rPr>
                                    <m:t>𝑘</m:t>
                                  </m:r>
                                </m:sup>
                              </m:sSup>
                            </m:den>
                          </m:f>
                        </m:e>
                      </m:nary>
                      <m:r>
                        <a:rPr lang="en-US" sz="2400" i="0">
                          <a:latin typeface="Cambria Math" panose="02040503050406030204" pitchFamily="18" charset="0"/>
                        </a:rPr>
                        <m:t>+</m:t>
                      </m:r>
                      <m:f>
                        <m:fPr>
                          <m:ctrlPr>
                            <a:rPr lang="en-US" sz="2400" i="1">
                              <a:latin typeface="Cambria Math" panose="02040503050406030204" pitchFamily="18" charset="0"/>
                            </a:rPr>
                          </m:ctrlPr>
                        </m:fPr>
                        <m:num>
                          <m:r>
                            <a:rPr lang="en-US" sz="2400" i="1">
                              <a:latin typeface="Cambria Math" panose="02040503050406030204" pitchFamily="18" charset="0"/>
                            </a:rPr>
                            <m:t>𝑆</m:t>
                          </m:r>
                        </m:num>
                        <m:den>
                          <m:sSup>
                            <m:sSupPr>
                              <m:ctrlPr>
                                <a:rPr lang="en-US" sz="2400" i="1">
                                  <a:latin typeface="Cambria Math" panose="02040503050406030204" pitchFamily="18" charset="0"/>
                                </a:rPr>
                              </m:ctrlPr>
                            </m:sSupPr>
                            <m:e>
                              <m:d>
                                <m:dPr>
                                  <m:ctrlPr>
                                    <a:rPr lang="en-US" sz="2400" i="1">
                                      <a:latin typeface="Cambria Math" panose="02040503050406030204" pitchFamily="18" charset="0"/>
                                    </a:rPr>
                                  </m:ctrlPr>
                                </m:dPr>
                                <m:e>
                                  <m:r>
                                    <a:rPr lang="en-US" sz="2400" i="0">
                                      <a:latin typeface="Cambria Math" panose="02040503050406030204" pitchFamily="18" charset="0"/>
                                    </a:rPr>
                                    <m:t>1+</m:t>
                                  </m:r>
                                  <m:r>
                                    <a:rPr lang="en-US" sz="2400" i="1">
                                      <a:latin typeface="Cambria Math" panose="02040503050406030204" pitchFamily="18" charset="0"/>
                                    </a:rPr>
                                    <m:t>𝐼𝑅𝑅</m:t>
                                  </m:r>
                                </m:e>
                              </m:d>
                            </m:e>
                            <m:sup>
                              <m:r>
                                <a:rPr lang="en-US" sz="2400" i="0">
                                  <a:latin typeface="Cambria Math" panose="02040503050406030204" pitchFamily="18" charset="0"/>
                                </a:rPr>
                                <m:t>20</m:t>
                              </m:r>
                            </m:sup>
                          </m:sSup>
                        </m:den>
                      </m:f>
                    </m:oMath>
                  </m:oMathPara>
                </a14:m>
                <a:endParaRPr lang="en-US" dirty="0"/>
              </a:p>
            </p:txBody>
          </p:sp>
        </mc:Choice>
        <mc:Fallback xmlns="">
          <p:sp>
            <p:nvSpPr>
              <p:cNvPr id="6" name="Rectangle 5"/>
              <p:cNvSpPr>
                <a:spLocks noRot="1" noChangeAspect="1" noMove="1" noResize="1" noEditPoints="1" noAdjustHandles="1" noChangeArrowheads="1" noChangeShapeType="1" noTextEdit="1"/>
              </p:cNvSpPr>
              <p:nvPr/>
            </p:nvSpPr>
            <p:spPr>
              <a:xfrm>
                <a:off x="1547811" y="2828760"/>
                <a:ext cx="8682039" cy="1148648"/>
              </a:xfrm>
              <a:prstGeom prst="rect">
                <a:avLst/>
              </a:prstGeom>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77161891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Results</a:t>
            </a:r>
          </a:p>
        </p:txBody>
      </p:sp>
      <p:graphicFrame>
        <p:nvGraphicFramePr>
          <p:cNvPr id="4" name="Table 3"/>
          <p:cNvGraphicFramePr>
            <a:graphicFrameLocks noGrp="1"/>
          </p:cNvGraphicFramePr>
          <p:nvPr>
            <p:extLst>
              <p:ext uri="{D42A27DB-BD31-4B8C-83A1-F6EECF244321}">
                <p14:modId xmlns:p14="http://schemas.microsoft.com/office/powerpoint/2010/main" val="3237488452"/>
              </p:ext>
            </p:extLst>
          </p:nvPr>
        </p:nvGraphicFramePr>
        <p:xfrm>
          <a:off x="2592925" y="2185986"/>
          <a:ext cx="8122701" cy="2928939"/>
        </p:xfrm>
        <a:graphic>
          <a:graphicData uri="http://schemas.openxmlformats.org/drawingml/2006/table">
            <a:tbl>
              <a:tblPr firstRow="1" firstCol="1" bandRow="1">
                <a:tableStyleId>{5C22544A-7EE6-4342-B048-85BDC9FD1C3A}</a:tableStyleId>
              </a:tblPr>
              <a:tblGrid>
                <a:gridCol w="2752044">
                  <a:extLst>
                    <a:ext uri="{9D8B030D-6E8A-4147-A177-3AD203B41FA5}">
                      <a16:colId xmlns:a16="http://schemas.microsoft.com/office/drawing/2014/main" val="2139925415"/>
                    </a:ext>
                  </a:extLst>
                </a:gridCol>
                <a:gridCol w="2051524">
                  <a:extLst>
                    <a:ext uri="{9D8B030D-6E8A-4147-A177-3AD203B41FA5}">
                      <a16:colId xmlns:a16="http://schemas.microsoft.com/office/drawing/2014/main" val="811845217"/>
                    </a:ext>
                  </a:extLst>
                </a:gridCol>
                <a:gridCol w="1584511">
                  <a:extLst>
                    <a:ext uri="{9D8B030D-6E8A-4147-A177-3AD203B41FA5}">
                      <a16:colId xmlns:a16="http://schemas.microsoft.com/office/drawing/2014/main" val="1069342982"/>
                    </a:ext>
                  </a:extLst>
                </a:gridCol>
                <a:gridCol w="1734622">
                  <a:extLst>
                    <a:ext uri="{9D8B030D-6E8A-4147-A177-3AD203B41FA5}">
                      <a16:colId xmlns:a16="http://schemas.microsoft.com/office/drawing/2014/main" val="155520532"/>
                    </a:ext>
                  </a:extLst>
                </a:gridCol>
              </a:tblGrid>
              <a:tr h="976023">
                <a:tc>
                  <a:txBody>
                    <a:bodyPr/>
                    <a:lstStyle/>
                    <a:p>
                      <a:pPr marL="0" marR="0">
                        <a:lnSpc>
                          <a:spcPct val="150000"/>
                        </a:lnSpc>
                        <a:spcBef>
                          <a:spcPts val="0"/>
                        </a:spcBef>
                        <a:spcAft>
                          <a:spcPts val="0"/>
                        </a:spcAft>
                      </a:pPr>
                      <a:r>
                        <a:rPr lang="en-US" sz="2000" dirty="0">
                          <a:effectLst/>
                        </a:rPr>
                        <a:t>System</a:t>
                      </a:r>
                      <a:endParaRPr lang="en-US" sz="16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tc>
                <a:tc>
                  <a:txBody>
                    <a:bodyPr/>
                    <a:lstStyle/>
                    <a:p>
                      <a:pPr marL="0" marR="0">
                        <a:lnSpc>
                          <a:spcPct val="150000"/>
                        </a:lnSpc>
                        <a:spcBef>
                          <a:spcPts val="0"/>
                        </a:spcBef>
                        <a:spcAft>
                          <a:spcPts val="0"/>
                        </a:spcAft>
                      </a:pPr>
                      <a:r>
                        <a:rPr lang="en-US" sz="2000">
                          <a:effectLst/>
                        </a:rPr>
                        <a:t>NPV($)</a:t>
                      </a:r>
                      <a:endParaRPr lang="en-US" sz="16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tc>
                <a:tc>
                  <a:txBody>
                    <a:bodyPr/>
                    <a:lstStyle/>
                    <a:p>
                      <a:pPr marL="0" marR="0">
                        <a:lnSpc>
                          <a:spcPct val="150000"/>
                        </a:lnSpc>
                        <a:spcBef>
                          <a:spcPts val="0"/>
                        </a:spcBef>
                        <a:spcAft>
                          <a:spcPts val="0"/>
                        </a:spcAft>
                      </a:pPr>
                      <a:r>
                        <a:rPr lang="en-US" sz="2000">
                          <a:effectLst/>
                        </a:rPr>
                        <a:t>IRR</a:t>
                      </a:r>
                      <a:endParaRPr lang="en-US" sz="16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tc>
                <a:tc>
                  <a:txBody>
                    <a:bodyPr/>
                    <a:lstStyle/>
                    <a:p>
                      <a:pPr marL="0" marR="0">
                        <a:lnSpc>
                          <a:spcPct val="150000"/>
                        </a:lnSpc>
                        <a:spcBef>
                          <a:spcPts val="0"/>
                        </a:spcBef>
                        <a:spcAft>
                          <a:spcPts val="0"/>
                        </a:spcAft>
                      </a:pPr>
                      <a:r>
                        <a:rPr lang="en-US" sz="2000" dirty="0">
                          <a:effectLst/>
                        </a:rPr>
                        <a:t>CER</a:t>
                      </a:r>
                      <a:endParaRPr lang="en-US" sz="16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tc>
                <a:extLst>
                  <a:ext uri="{0D108BD9-81ED-4DB2-BD59-A6C34878D82A}">
                    <a16:rowId xmlns:a16="http://schemas.microsoft.com/office/drawing/2014/main" val="348684634"/>
                  </a:ext>
                </a:extLst>
              </a:tr>
              <a:tr h="976458">
                <a:tc>
                  <a:txBody>
                    <a:bodyPr/>
                    <a:lstStyle/>
                    <a:p>
                      <a:pPr marL="0" marR="0">
                        <a:lnSpc>
                          <a:spcPct val="150000"/>
                        </a:lnSpc>
                        <a:spcBef>
                          <a:spcPts val="0"/>
                        </a:spcBef>
                        <a:spcAft>
                          <a:spcPts val="0"/>
                        </a:spcAft>
                      </a:pPr>
                      <a:r>
                        <a:rPr lang="en-US" sz="2000" dirty="0">
                          <a:effectLst/>
                        </a:rPr>
                        <a:t>CCDV</a:t>
                      </a:r>
                      <a:endParaRPr lang="en-US" sz="16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tc>
                <a:tc>
                  <a:txBody>
                    <a:bodyPr/>
                    <a:lstStyle/>
                    <a:p>
                      <a:pPr marL="0" marR="0" algn="r">
                        <a:lnSpc>
                          <a:spcPct val="150000"/>
                        </a:lnSpc>
                        <a:spcBef>
                          <a:spcPts val="0"/>
                        </a:spcBef>
                        <a:spcAft>
                          <a:spcPts val="0"/>
                        </a:spcAft>
                      </a:pPr>
                      <a:r>
                        <a:rPr lang="en-US" sz="2000" dirty="0">
                          <a:effectLst/>
                        </a:rPr>
                        <a:t>2046.30</a:t>
                      </a:r>
                      <a:endParaRPr lang="en-US" sz="16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tc>
                <a:tc>
                  <a:txBody>
                    <a:bodyPr/>
                    <a:lstStyle/>
                    <a:p>
                      <a:pPr marL="0" marR="0" algn="r">
                        <a:lnSpc>
                          <a:spcPct val="150000"/>
                        </a:lnSpc>
                        <a:spcBef>
                          <a:spcPts val="0"/>
                        </a:spcBef>
                        <a:spcAft>
                          <a:spcPts val="0"/>
                        </a:spcAft>
                      </a:pPr>
                      <a:r>
                        <a:rPr lang="en-US" sz="2000" dirty="0">
                          <a:effectLst/>
                        </a:rPr>
                        <a:t>8%</a:t>
                      </a:r>
                      <a:endParaRPr lang="en-US" sz="16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tc>
                <a:tc>
                  <a:txBody>
                    <a:bodyPr/>
                    <a:lstStyle/>
                    <a:p>
                      <a:pPr marL="0" marR="0" algn="r">
                        <a:lnSpc>
                          <a:spcPct val="150000"/>
                        </a:lnSpc>
                        <a:spcBef>
                          <a:spcPts val="0"/>
                        </a:spcBef>
                        <a:spcAft>
                          <a:spcPts val="0"/>
                        </a:spcAft>
                      </a:pPr>
                      <a:r>
                        <a:rPr lang="en-US" sz="2000">
                          <a:effectLst/>
                        </a:rPr>
                        <a:t>0.974430167</a:t>
                      </a:r>
                      <a:endParaRPr lang="en-US" sz="16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tc>
                <a:extLst>
                  <a:ext uri="{0D108BD9-81ED-4DB2-BD59-A6C34878D82A}">
                    <a16:rowId xmlns:a16="http://schemas.microsoft.com/office/drawing/2014/main" val="3153522718"/>
                  </a:ext>
                </a:extLst>
              </a:tr>
              <a:tr h="976458">
                <a:tc>
                  <a:txBody>
                    <a:bodyPr/>
                    <a:lstStyle/>
                    <a:p>
                      <a:pPr marL="0" marR="0">
                        <a:lnSpc>
                          <a:spcPct val="150000"/>
                        </a:lnSpc>
                        <a:spcBef>
                          <a:spcPts val="0"/>
                        </a:spcBef>
                        <a:spcAft>
                          <a:spcPts val="0"/>
                        </a:spcAft>
                      </a:pPr>
                      <a:r>
                        <a:rPr lang="en-US" sz="2000">
                          <a:effectLst/>
                        </a:rPr>
                        <a:t>Mixed Mode</a:t>
                      </a:r>
                      <a:endParaRPr lang="en-US" sz="16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tc>
                <a:tc>
                  <a:txBody>
                    <a:bodyPr/>
                    <a:lstStyle/>
                    <a:p>
                      <a:pPr marL="0" marR="0" algn="r">
                        <a:lnSpc>
                          <a:spcPct val="150000"/>
                        </a:lnSpc>
                        <a:spcBef>
                          <a:spcPts val="0"/>
                        </a:spcBef>
                        <a:spcAft>
                          <a:spcPts val="0"/>
                        </a:spcAft>
                      </a:pPr>
                      <a:r>
                        <a:rPr lang="en-US" sz="2000" dirty="0">
                          <a:effectLst/>
                        </a:rPr>
                        <a:t>557.36</a:t>
                      </a:r>
                      <a:endParaRPr lang="en-US" sz="16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tc>
                <a:tc>
                  <a:txBody>
                    <a:bodyPr/>
                    <a:lstStyle/>
                    <a:p>
                      <a:pPr marL="0" marR="0" algn="r">
                        <a:lnSpc>
                          <a:spcPct val="150000"/>
                        </a:lnSpc>
                        <a:spcBef>
                          <a:spcPts val="0"/>
                        </a:spcBef>
                        <a:spcAft>
                          <a:spcPts val="0"/>
                        </a:spcAft>
                      </a:pPr>
                      <a:r>
                        <a:rPr lang="en-US" sz="2000" dirty="0">
                          <a:effectLst/>
                        </a:rPr>
                        <a:t>5%</a:t>
                      </a:r>
                      <a:endParaRPr lang="en-US" sz="16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tc>
                <a:tc>
                  <a:txBody>
                    <a:bodyPr/>
                    <a:lstStyle/>
                    <a:p>
                      <a:pPr marL="0" marR="0" algn="r">
                        <a:lnSpc>
                          <a:spcPct val="150000"/>
                        </a:lnSpc>
                        <a:spcBef>
                          <a:spcPts val="0"/>
                        </a:spcBef>
                        <a:spcAft>
                          <a:spcPts val="0"/>
                        </a:spcAft>
                      </a:pPr>
                      <a:r>
                        <a:rPr lang="en-US" sz="2000" dirty="0">
                          <a:effectLst/>
                        </a:rPr>
                        <a:t>0.491496583</a:t>
                      </a:r>
                      <a:endParaRPr lang="en-US" sz="16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tc>
                <a:extLst>
                  <a:ext uri="{0D108BD9-81ED-4DB2-BD59-A6C34878D82A}">
                    <a16:rowId xmlns:a16="http://schemas.microsoft.com/office/drawing/2014/main" val="4188440985"/>
                  </a:ext>
                </a:extLst>
              </a:tr>
            </a:tbl>
          </a:graphicData>
        </a:graphic>
      </p:graphicFrame>
      <mc:AlternateContent xmlns:mc="http://schemas.openxmlformats.org/markup-compatibility/2006" xmlns:a14="http://schemas.microsoft.com/office/drawing/2010/main">
        <mc:Choice Requires="a14">
          <p:sp>
            <p:nvSpPr>
              <p:cNvPr id="5" name="Rectangle 4"/>
              <p:cNvSpPr/>
              <p:nvPr/>
            </p:nvSpPr>
            <p:spPr>
              <a:xfrm>
                <a:off x="3734514" y="5590100"/>
                <a:ext cx="2569550"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𝐼𝑅</m:t>
                      </m:r>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i="1">
                              <a:latin typeface="Cambria Math" panose="02040503050406030204" pitchFamily="18" charset="0"/>
                            </a:rPr>
                            <m:t>𝑐𝑐𝑑𝑣</m:t>
                          </m:r>
                        </m:sub>
                      </m:sSub>
                      <m:r>
                        <a:rPr lang="en-US" i="1">
                          <a:latin typeface="Cambria Math" panose="02040503050406030204" pitchFamily="18" charset="0"/>
                        </a:rPr>
                        <m:t>&gt;</m:t>
                      </m:r>
                      <m:r>
                        <a:rPr lang="en-US" i="1">
                          <a:latin typeface="Cambria Math" panose="02040503050406030204" pitchFamily="18" charset="0"/>
                        </a:rPr>
                        <m:t>𝐼𝑅</m:t>
                      </m:r>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i="1">
                              <a:latin typeface="Cambria Math" panose="02040503050406030204" pitchFamily="18" charset="0"/>
                            </a:rPr>
                            <m:t>𝑚𝑖𝑥𝑒𝑑𝑚𝑜𝑑𝑒</m:t>
                          </m:r>
                        </m:sub>
                      </m:sSub>
                    </m:oMath>
                  </m:oMathPara>
                </a14:m>
                <a:endParaRPr lang="en-US" dirty="0"/>
              </a:p>
            </p:txBody>
          </p:sp>
        </mc:Choice>
        <mc:Fallback xmlns="">
          <p:sp>
            <p:nvSpPr>
              <p:cNvPr id="5" name="Rectangle 4"/>
              <p:cNvSpPr>
                <a:spLocks noRot="1" noChangeAspect="1" noMove="1" noResize="1" noEditPoints="1" noAdjustHandles="1" noChangeArrowheads="1" noChangeShapeType="1" noTextEdit="1"/>
              </p:cNvSpPr>
              <p:nvPr/>
            </p:nvSpPr>
            <p:spPr>
              <a:xfrm>
                <a:off x="3734514" y="5590100"/>
                <a:ext cx="2569550" cy="369332"/>
              </a:xfrm>
              <a:prstGeom prst="rect">
                <a:avLst/>
              </a:prstGeom>
              <a:blipFill>
                <a:blip r:embed="rId2"/>
                <a:stretch>
                  <a:fillRect b="-327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245401" y="5613911"/>
                <a:ext cx="2789674" cy="3693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𝐶𝐸</m:t>
                      </m:r>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i="1">
                              <a:latin typeface="Cambria Math" panose="02040503050406030204" pitchFamily="18" charset="0"/>
                            </a:rPr>
                            <m:t>𝑐𝑐𝑑𝑣</m:t>
                          </m:r>
                        </m:sub>
                      </m:sSub>
                      <m:r>
                        <a:rPr lang="en-US" i="0">
                          <a:latin typeface="Cambria Math" panose="02040503050406030204" pitchFamily="18" charset="0"/>
                        </a:rPr>
                        <m:t>&gt;</m:t>
                      </m:r>
                      <m:r>
                        <a:rPr lang="en-US" i="1">
                          <a:latin typeface="Cambria Math" panose="02040503050406030204" pitchFamily="18" charset="0"/>
                        </a:rPr>
                        <m:t>𝐶𝐸</m:t>
                      </m:r>
                      <m:sSub>
                        <m:sSubPr>
                          <m:ctrlPr>
                            <a:rPr lang="en-US" i="1">
                              <a:latin typeface="Cambria Math" panose="02040503050406030204" pitchFamily="18" charset="0"/>
                            </a:rPr>
                          </m:ctrlPr>
                        </m:sSubPr>
                        <m:e>
                          <m:r>
                            <a:rPr lang="en-US" i="1">
                              <a:latin typeface="Cambria Math" panose="02040503050406030204" pitchFamily="18" charset="0"/>
                            </a:rPr>
                            <m:t>𝑅</m:t>
                          </m:r>
                        </m:e>
                        <m:sub>
                          <m:r>
                            <a:rPr lang="en-US" i="1">
                              <a:latin typeface="Cambria Math" panose="02040503050406030204" pitchFamily="18" charset="0"/>
                            </a:rPr>
                            <m:t>𝑚𝑖𝑥𝑒𝑑𝑚𝑜𝑑𝑒</m:t>
                          </m:r>
                        </m:sub>
                      </m:sSub>
                    </m:oMath>
                  </m:oMathPara>
                </a14:m>
                <a:endParaRPr lang="en-US" dirty="0"/>
              </a:p>
            </p:txBody>
          </p:sp>
        </mc:Choice>
        <mc:Fallback xmlns="">
          <p:sp>
            <p:nvSpPr>
              <p:cNvPr id="6" name="Rectangle 5"/>
              <p:cNvSpPr>
                <a:spLocks noRot="1" noChangeAspect="1" noMove="1" noResize="1" noEditPoints="1" noAdjustHandles="1" noChangeArrowheads="1" noChangeShapeType="1" noTextEdit="1"/>
              </p:cNvSpPr>
              <p:nvPr/>
            </p:nvSpPr>
            <p:spPr>
              <a:xfrm>
                <a:off x="7245401" y="5613911"/>
                <a:ext cx="2789674" cy="369332"/>
              </a:xfrm>
              <a:prstGeom prst="rect">
                <a:avLst/>
              </a:prstGeom>
              <a:blipFill>
                <a:blip r:embed="rId3"/>
                <a:stretch>
                  <a:fillRect b="-3279"/>
                </a:stretch>
              </a:blipFill>
            </p:spPr>
            <p:txBody>
              <a:bodyPr/>
              <a:lstStyle/>
              <a:p>
                <a:r>
                  <a:rPr lang="en-US">
                    <a:noFill/>
                  </a:rPr>
                  <a:t> </a:t>
                </a:r>
              </a:p>
            </p:txBody>
          </p:sp>
        </mc:Fallback>
      </mc:AlternateContent>
      <p:sp>
        <p:nvSpPr>
          <p:cNvPr id="7" name="TextBox 6"/>
          <p:cNvSpPr txBox="1"/>
          <p:nvPr/>
        </p:nvSpPr>
        <p:spPr>
          <a:xfrm>
            <a:off x="5184249" y="6135252"/>
            <a:ext cx="3729037" cy="646331"/>
          </a:xfrm>
          <a:prstGeom prst="rect">
            <a:avLst/>
          </a:prstGeom>
          <a:noFill/>
        </p:spPr>
        <p:txBody>
          <a:bodyPr wrap="square" rtlCol="0">
            <a:spAutoFit/>
          </a:bodyPr>
          <a:lstStyle/>
          <a:p>
            <a:r>
              <a:rPr lang="en-US" dirty="0">
                <a:sym typeface="Wingdings" panose="05000000000000000000" pitchFamily="2" charset="2"/>
              </a:rPr>
              <a:t> CCDV better using these 2 parameters</a:t>
            </a:r>
            <a:endParaRPr lang="en-US" dirty="0"/>
          </a:p>
        </p:txBody>
      </p:sp>
    </p:spTree>
    <p:extLst>
      <p:ext uri="{BB962C8B-B14F-4D97-AF65-F5344CB8AC3E}">
        <p14:creationId xmlns:p14="http://schemas.microsoft.com/office/powerpoint/2010/main" val="375742129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Benefit-Cost Analysis</a:t>
            </a:r>
          </a:p>
        </p:txBody>
      </p:sp>
      <mc:AlternateContent xmlns:mc="http://schemas.openxmlformats.org/markup-compatibility/2006" xmlns:a14="http://schemas.microsoft.com/office/drawing/2010/main">
        <mc:Choice Requires="a14">
          <p:sp>
            <p:nvSpPr>
              <p:cNvPr id="4" name="Rectangle 3"/>
              <p:cNvSpPr/>
              <p:nvPr/>
            </p:nvSpPr>
            <p:spPr>
              <a:xfrm>
                <a:off x="3048000" y="1292710"/>
                <a:ext cx="6096000" cy="4272580"/>
              </a:xfrm>
              <a:prstGeom prst="rect">
                <a:avLst/>
              </a:prstGeom>
            </p:spPr>
            <p:txBody>
              <a:bodyPr>
                <a:spAutoFit/>
              </a:bodyPr>
              <a:lstStyle/>
              <a:p>
                <a:pPr>
                  <a:lnSpc>
                    <a:spcPct val="150000"/>
                  </a:lnSpc>
                  <a:spcAft>
                    <a:spcPts val="800"/>
                  </a:spcAft>
                </a:pPr>
                <a14:m>
                  <m:oMathPara xmlns:m="http://schemas.openxmlformats.org/officeDocument/2006/math">
                    <m:oMathParaPr>
                      <m:jc m:val="centerGroup"/>
                    </m:oMathParaPr>
                    <m:oMath xmlns:m="http://schemas.openxmlformats.org/officeDocument/2006/math">
                      <m:r>
                        <a:rPr lang="en-US" b="1" i="1">
                          <a:latin typeface="Cambria Math" panose="02040503050406030204" pitchFamily="18" charset="0"/>
                          <a:ea typeface="Times New Roman" panose="02020603050405020304" pitchFamily="18" charset="0"/>
                          <a:cs typeface="Times New Roman" panose="02020603050405020304" pitchFamily="18" charset="0"/>
                        </a:rPr>
                        <m:t>𝑩</m:t>
                      </m:r>
                      <m:r>
                        <a:rPr lang="en-US" b="1" i="1">
                          <a:latin typeface="Cambria Math" panose="02040503050406030204" pitchFamily="18" charset="0"/>
                          <a:ea typeface="Times New Roman" panose="02020603050405020304" pitchFamily="18" charset="0"/>
                          <a:cs typeface="Times New Roman" panose="02020603050405020304" pitchFamily="18" charset="0"/>
                        </a:rPr>
                        <m:t>/</m:t>
                      </m:r>
                      <m:r>
                        <a:rPr lang="en-US" b="1" i="1">
                          <a:latin typeface="Cambria Math" panose="02040503050406030204" pitchFamily="18" charset="0"/>
                          <a:ea typeface="Times New Roman" panose="02020603050405020304" pitchFamily="18" charset="0"/>
                          <a:cs typeface="Times New Roman" panose="02020603050405020304" pitchFamily="18" charset="0"/>
                        </a:rPr>
                        <m:t>𝑪</m:t>
                      </m:r>
                      <m:r>
                        <a:rPr lang="en-US" b="1" i="1">
                          <a:latin typeface="Cambria Math" panose="02040503050406030204" pitchFamily="18" charset="0"/>
                          <a:ea typeface="Times New Roman" panose="02020603050405020304" pitchFamily="18" charset="0"/>
                          <a:cs typeface="Times New Roman" panose="02020603050405020304" pitchFamily="18" charset="0"/>
                        </a:rPr>
                        <m:t>=</m:t>
                      </m:r>
                      <m:f>
                        <m:fPr>
                          <m:ctrlPr>
                            <a:rPr lang="en-US" i="1">
                              <a:latin typeface="Cambria Math" panose="02040503050406030204" pitchFamily="18" charset="0"/>
                              <a:ea typeface="Times New Roman" panose="02020603050405020304" pitchFamily="18" charset="0"/>
                              <a:cs typeface="Times New Roman" panose="02020603050405020304" pitchFamily="18" charset="0"/>
                            </a:rPr>
                          </m:ctrlPr>
                        </m:fPr>
                        <m:num>
                          <m:r>
                            <m:rPr>
                              <m:sty m:val="p"/>
                            </m:rPr>
                            <a:rPr lang="en-US">
                              <a:latin typeface="Cambria Math" panose="02040503050406030204" pitchFamily="18" charset="0"/>
                              <a:ea typeface="Times New Roman" panose="02020603050405020304" pitchFamily="18" charset="0"/>
                              <a:cs typeface="Times New Roman" panose="02020603050405020304" pitchFamily="18" charset="0"/>
                            </a:rPr>
                            <m:t>Σ</m:t>
                          </m:r>
                          <m:r>
                            <a:rPr lang="en-US" i="1">
                              <a:latin typeface="Cambria Math" panose="02040503050406030204" pitchFamily="18" charset="0"/>
                              <a:ea typeface="Times New Roman" panose="02020603050405020304" pitchFamily="18" charset="0"/>
                              <a:cs typeface="Times New Roman" panose="02020603050405020304" pitchFamily="18" charset="0"/>
                            </a:rPr>
                            <m:t>𝑁𝑃</m:t>
                          </m:r>
                          <m:sSub>
                            <m:sSubPr>
                              <m:ctrlPr>
                                <a:rPr lang="en-US" i="1">
                                  <a:latin typeface="Cambria Math" panose="02040503050406030204" pitchFamily="18" charset="0"/>
                                  <a:ea typeface="Times New Roman" panose="02020603050405020304" pitchFamily="18" charset="0"/>
                                  <a:cs typeface="Times New Roman" panose="02020603050405020304" pitchFamily="18" charset="0"/>
                                </a:rPr>
                              </m:ctrlPr>
                            </m:sSubPr>
                            <m:e>
                              <m:r>
                                <a:rPr lang="en-US" i="1">
                                  <a:latin typeface="Cambria Math" panose="02040503050406030204" pitchFamily="18" charset="0"/>
                                  <a:ea typeface="Times New Roman" panose="02020603050405020304" pitchFamily="18" charset="0"/>
                                  <a:cs typeface="Times New Roman" panose="02020603050405020304" pitchFamily="18" charset="0"/>
                                </a:rPr>
                                <m:t>𝑉</m:t>
                              </m:r>
                            </m:e>
                            <m:sub>
                              <m:r>
                                <a:rPr lang="en-US" i="1">
                                  <a:latin typeface="Cambria Math" panose="02040503050406030204" pitchFamily="18" charset="0"/>
                                  <a:ea typeface="Times New Roman" panose="02020603050405020304" pitchFamily="18" charset="0"/>
                                  <a:cs typeface="Times New Roman" panose="02020603050405020304" pitchFamily="18" charset="0"/>
                                </a:rPr>
                                <m:t>𝑏𝑒𝑛𝑒𝑓𝑖𝑡</m:t>
                              </m:r>
                            </m:sub>
                          </m:sSub>
                        </m:num>
                        <m:den>
                          <m:r>
                            <m:rPr>
                              <m:sty m:val="p"/>
                            </m:rPr>
                            <a:rPr lang="en-US">
                              <a:latin typeface="Cambria Math" panose="02040503050406030204" pitchFamily="18" charset="0"/>
                              <a:ea typeface="Times New Roman" panose="02020603050405020304" pitchFamily="18" charset="0"/>
                              <a:cs typeface="Times New Roman" panose="02020603050405020304" pitchFamily="18" charset="0"/>
                            </a:rPr>
                            <m:t>Σ</m:t>
                          </m:r>
                          <m:r>
                            <a:rPr lang="en-US" i="1">
                              <a:latin typeface="Cambria Math" panose="02040503050406030204" pitchFamily="18" charset="0"/>
                              <a:ea typeface="Times New Roman" panose="02020603050405020304" pitchFamily="18" charset="0"/>
                              <a:cs typeface="Times New Roman" panose="02020603050405020304" pitchFamily="18" charset="0"/>
                            </a:rPr>
                            <m:t>𝑁𝑃</m:t>
                          </m:r>
                          <m:sSub>
                            <m:sSubPr>
                              <m:ctrlPr>
                                <a:rPr lang="en-US" i="1">
                                  <a:latin typeface="Cambria Math" panose="02040503050406030204" pitchFamily="18" charset="0"/>
                                  <a:ea typeface="Times New Roman" panose="02020603050405020304" pitchFamily="18" charset="0"/>
                                  <a:cs typeface="Times New Roman" panose="02020603050405020304" pitchFamily="18" charset="0"/>
                                </a:rPr>
                              </m:ctrlPr>
                            </m:sSubPr>
                            <m:e>
                              <m:r>
                                <a:rPr lang="en-US" i="1">
                                  <a:latin typeface="Cambria Math" panose="02040503050406030204" pitchFamily="18" charset="0"/>
                                  <a:ea typeface="Times New Roman" panose="02020603050405020304" pitchFamily="18" charset="0"/>
                                  <a:cs typeface="Times New Roman" panose="02020603050405020304" pitchFamily="18" charset="0"/>
                                </a:rPr>
                                <m:t>𝑉</m:t>
                              </m:r>
                            </m:e>
                            <m:sub>
                              <m:r>
                                <a:rPr lang="en-US" i="1">
                                  <a:latin typeface="Cambria Math" panose="02040503050406030204" pitchFamily="18" charset="0"/>
                                  <a:ea typeface="Times New Roman" panose="02020603050405020304" pitchFamily="18" charset="0"/>
                                  <a:cs typeface="Times New Roman" panose="02020603050405020304" pitchFamily="18" charset="0"/>
                                </a:rPr>
                                <m:t>𝑐𝑜𝑠𝑡</m:t>
                              </m:r>
                            </m:sub>
                          </m:sSub>
                        </m:den>
                      </m:f>
                    </m:oMath>
                  </m:oMathPara>
                </a14:m>
                <a:endParaRPr lang="en-US" sz="1400" dirty="0">
                  <a:effectLst/>
                  <a:latin typeface="Calibri" panose="020F0502020204030204" pitchFamily="34" charset="0"/>
                  <a:ea typeface="Calibri" panose="020F0502020204030204" pitchFamily="34" charset="0"/>
                  <a:cs typeface="Arial" panose="020B0604020202020204" pitchFamily="34" charset="0"/>
                </a:endParaRPr>
              </a:p>
              <a:p>
                <a:pPr>
                  <a:lnSpc>
                    <a:spcPct val="150000"/>
                  </a:lnSpc>
                  <a:spcAft>
                    <a:spcPts val="800"/>
                  </a:spcAft>
                </a:pPr>
                <a14:m>
                  <m:oMathPara xmlns:m="http://schemas.openxmlformats.org/officeDocument/2006/math">
                    <m:oMathParaPr>
                      <m:jc m:val="centerGroup"/>
                    </m:oMathParaPr>
                    <m:oMath xmlns:m="http://schemas.openxmlformats.org/officeDocument/2006/math">
                      <m:r>
                        <m:rPr>
                          <m:sty m:val="p"/>
                        </m:rPr>
                        <a:rPr lang="en-US">
                          <a:latin typeface="Cambria Math" panose="02040503050406030204" pitchFamily="18" charset="0"/>
                          <a:ea typeface="Times New Roman" panose="02020603050405020304" pitchFamily="18" charset="0"/>
                          <a:cs typeface="Times New Roman" panose="02020603050405020304" pitchFamily="18" charset="0"/>
                        </a:rPr>
                        <m:t>Σ</m:t>
                      </m:r>
                      <m:r>
                        <a:rPr lang="en-US" i="1">
                          <a:latin typeface="Cambria Math" panose="02040503050406030204" pitchFamily="18" charset="0"/>
                          <a:ea typeface="Times New Roman" panose="02020603050405020304" pitchFamily="18" charset="0"/>
                          <a:cs typeface="Times New Roman" panose="02020603050405020304" pitchFamily="18" charset="0"/>
                        </a:rPr>
                        <m:t>𝑁𝑃</m:t>
                      </m:r>
                      <m:sSub>
                        <m:sSubPr>
                          <m:ctrlPr>
                            <a:rPr lang="en-US" i="1">
                              <a:latin typeface="Cambria Math" panose="02040503050406030204" pitchFamily="18" charset="0"/>
                              <a:ea typeface="Times New Roman" panose="02020603050405020304" pitchFamily="18" charset="0"/>
                              <a:cs typeface="Times New Roman" panose="02020603050405020304" pitchFamily="18" charset="0"/>
                            </a:rPr>
                          </m:ctrlPr>
                        </m:sSubPr>
                        <m:e>
                          <m:r>
                            <a:rPr lang="en-US" i="1">
                              <a:latin typeface="Cambria Math" panose="02040503050406030204" pitchFamily="18" charset="0"/>
                              <a:ea typeface="Times New Roman" panose="02020603050405020304" pitchFamily="18" charset="0"/>
                              <a:cs typeface="Times New Roman" panose="02020603050405020304" pitchFamily="18" charset="0"/>
                            </a:rPr>
                            <m:t>𝑉</m:t>
                          </m:r>
                        </m:e>
                        <m:sub>
                          <m:r>
                            <a:rPr lang="en-US" i="1">
                              <a:latin typeface="Cambria Math" panose="02040503050406030204" pitchFamily="18" charset="0"/>
                              <a:ea typeface="Times New Roman" panose="02020603050405020304" pitchFamily="18" charset="0"/>
                              <a:cs typeface="Times New Roman" panose="02020603050405020304" pitchFamily="18" charset="0"/>
                            </a:rPr>
                            <m:t>𝑏𝑒𝑛𝑒𝑓𝑖𝑡</m:t>
                          </m:r>
                        </m:sub>
                      </m:sSub>
                      <m:r>
                        <a:rPr lang="en-US" i="1">
                          <a:latin typeface="Cambria Math" panose="02040503050406030204" pitchFamily="18" charset="0"/>
                          <a:ea typeface="Times New Roman" panose="02020603050405020304" pitchFamily="18" charset="0"/>
                          <a:cs typeface="Times New Roman" panose="02020603050405020304" pitchFamily="18" charset="0"/>
                        </a:rPr>
                        <m:t>=</m:t>
                      </m:r>
                      <m:nary>
                        <m:naryPr>
                          <m:chr m:val="∑"/>
                          <m:grow m:val="on"/>
                          <m:ctrlPr>
                            <a:rPr lang="en-US" i="1">
                              <a:latin typeface="Cambria Math" panose="02040503050406030204" pitchFamily="18" charset="0"/>
                              <a:ea typeface="Calibri" panose="020F0502020204030204" pitchFamily="34" charset="0"/>
                              <a:cs typeface="Times New Roman" panose="02020603050405020304" pitchFamily="18" charset="0"/>
                            </a:rPr>
                          </m:ctrlPr>
                        </m:naryPr>
                        <m:sub>
                          <m:r>
                            <a:rPr lang="en-US" i="1">
                              <a:latin typeface="Cambria Math" panose="02040503050406030204" pitchFamily="18" charset="0"/>
                              <a:ea typeface="Cambria Math" panose="02040503050406030204" pitchFamily="18" charset="0"/>
                              <a:cs typeface="Times New Roman" panose="02020603050405020304" pitchFamily="18" charset="0"/>
                            </a:rPr>
                            <m:t>𝑘</m:t>
                          </m:r>
                          <m:r>
                            <a:rPr lang="en-US" i="1">
                              <a:latin typeface="Cambria Math" panose="02040503050406030204" pitchFamily="18" charset="0"/>
                              <a:ea typeface="Cambria Math" panose="02040503050406030204" pitchFamily="18" charset="0"/>
                              <a:cs typeface="Times New Roman" panose="02020603050405020304" pitchFamily="18" charset="0"/>
                            </a:rPr>
                            <m:t>=1</m:t>
                          </m:r>
                        </m:sub>
                        <m:sup>
                          <m:r>
                            <a:rPr lang="en-US" i="1">
                              <a:latin typeface="Cambria Math" panose="02040503050406030204" pitchFamily="18" charset="0"/>
                              <a:ea typeface="Cambria Math" panose="02040503050406030204" pitchFamily="18" charset="0"/>
                              <a:cs typeface="Times New Roman" panose="02020603050405020304" pitchFamily="18" charset="0"/>
                            </a:rPr>
                            <m:t>20</m:t>
                          </m:r>
                        </m:sup>
                        <m:e>
                          <m:f>
                            <m:fPr>
                              <m:ctrlPr>
                                <a:rPr lang="en-US" i="1">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i="1">
                                      <a:latin typeface="Cambria Math" panose="02040503050406030204" pitchFamily="18" charset="0"/>
                                      <a:ea typeface="Calibri" panose="020F0502020204030204" pitchFamily="34" charset="0"/>
                                      <a:cs typeface="Times New Roman" panose="02020603050405020304" pitchFamily="18" charset="0"/>
                                    </a:rPr>
                                  </m:ctrlPr>
                                </m:sSubPr>
                                <m:e>
                                  <m:r>
                                    <a:rPr lang="en-US" i="1">
                                      <a:latin typeface="Cambria Math" panose="02040503050406030204" pitchFamily="18" charset="0"/>
                                      <a:ea typeface="Calibri" panose="020F0502020204030204" pitchFamily="34" charset="0"/>
                                      <a:cs typeface="Times New Roman" panose="02020603050405020304" pitchFamily="18" charset="0"/>
                                    </a:rPr>
                                    <m:t>𝑅</m:t>
                                  </m:r>
                                </m:e>
                                <m:sub>
                                  <m:r>
                                    <a:rPr lang="en-US" i="1">
                                      <a:latin typeface="Cambria Math" panose="02040503050406030204" pitchFamily="18" charset="0"/>
                                      <a:ea typeface="Calibri" panose="020F0502020204030204" pitchFamily="34" charset="0"/>
                                      <a:cs typeface="Times New Roman" panose="02020603050405020304" pitchFamily="18" charset="0"/>
                                    </a:rPr>
                                    <m:t>𝑘</m:t>
                                  </m:r>
                                </m:sub>
                              </m:sSub>
                            </m:num>
                            <m:den>
                              <m:sSup>
                                <m:sSupPr>
                                  <m:ctrlPr>
                                    <a:rPr lang="en-US" i="1">
                                      <a:latin typeface="Cambria Math" panose="02040503050406030204" pitchFamily="18" charset="0"/>
                                      <a:ea typeface="Calibri" panose="020F0502020204030204" pitchFamily="34" charset="0"/>
                                      <a:cs typeface="Times New Roman" panose="02020603050405020304" pitchFamily="18" charset="0"/>
                                    </a:rPr>
                                  </m:ctrlPr>
                                </m:sSupPr>
                                <m:e>
                                  <m:d>
                                    <m:dPr>
                                      <m:ctrlPr>
                                        <a:rPr lang="en-US" i="1">
                                          <a:latin typeface="Cambria Math" panose="02040503050406030204" pitchFamily="18" charset="0"/>
                                          <a:ea typeface="Calibri" panose="020F0502020204030204" pitchFamily="34" charset="0"/>
                                          <a:cs typeface="Times New Roman" panose="02020603050405020304" pitchFamily="18" charset="0"/>
                                        </a:rPr>
                                      </m:ctrlPr>
                                    </m:dPr>
                                    <m:e>
                                      <m:r>
                                        <a:rPr lang="en-US" i="1">
                                          <a:latin typeface="Cambria Math" panose="02040503050406030204" pitchFamily="18" charset="0"/>
                                          <a:ea typeface="Calibri" panose="020F0502020204030204" pitchFamily="34" charset="0"/>
                                          <a:cs typeface="Times New Roman" panose="02020603050405020304" pitchFamily="18" charset="0"/>
                                        </a:rPr>
                                        <m:t>1+</m:t>
                                      </m:r>
                                      <m:r>
                                        <a:rPr lang="en-US" i="1">
                                          <a:latin typeface="Cambria Math" panose="02040503050406030204" pitchFamily="18" charset="0"/>
                                          <a:ea typeface="Calibri" panose="020F0502020204030204" pitchFamily="34" charset="0"/>
                                          <a:cs typeface="Times New Roman" panose="02020603050405020304" pitchFamily="18" charset="0"/>
                                        </a:rPr>
                                        <m:t>𝑟</m:t>
                                      </m:r>
                                    </m:e>
                                  </m:d>
                                </m:e>
                                <m:sup>
                                  <m:r>
                                    <a:rPr lang="en-US" i="1">
                                      <a:latin typeface="Cambria Math" panose="02040503050406030204" pitchFamily="18" charset="0"/>
                                      <a:ea typeface="Calibri" panose="020F0502020204030204" pitchFamily="34" charset="0"/>
                                      <a:cs typeface="Times New Roman" panose="02020603050405020304" pitchFamily="18" charset="0"/>
                                    </a:rPr>
                                    <m:t>𝑘</m:t>
                                  </m:r>
                                </m:sup>
                              </m:sSup>
                            </m:den>
                          </m:f>
                        </m:e>
                      </m:nary>
                      <m:r>
                        <a:rPr lang="en-US" i="1">
                          <a:latin typeface="Cambria Math" panose="02040503050406030204" pitchFamily="18" charset="0"/>
                          <a:ea typeface="Calibri" panose="020F0502020204030204" pitchFamily="34" charset="0"/>
                          <a:cs typeface="Times New Roman" panose="02020603050405020304" pitchFamily="18" charset="0"/>
                        </a:rPr>
                        <m:t>+</m:t>
                      </m:r>
                      <m:f>
                        <m:fPr>
                          <m:ctrlPr>
                            <a:rPr lang="en-US" i="1">
                              <a:latin typeface="Cambria Math" panose="02040503050406030204" pitchFamily="18" charset="0"/>
                              <a:ea typeface="Calibri" panose="020F0502020204030204" pitchFamily="34" charset="0"/>
                              <a:cs typeface="Times New Roman" panose="02020603050405020304" pitchFamily="18" charset="0"/>
                            </a:rPr>
                          </m:ctrlPr>
                        </m:fPr>
                        <m:num>
                          <m:r>
                            <a:rPr lang="en-US" i="1">
                              <a:latin typeface="Cambria Math" panose="02040503050406030204" pitchFamily="18" charset="0"/>
                              <a:ea typeface="Calibri" panose="020F0502020204030204" pitchFamily="34" charset="0"/>
                              <a:cs typeface="Times New Roman" panose="02020603050405020304" pitchFamily="18" charset="0"/>
                            </a:rPr>
                            <m:t>𝑆</m:t>
                          </m:r>
                        </m:num>
                        <m:den>
                          <m:sSup>
                            <m:sSupPr>
                              <m:ctrlPr>
                                <a:rPr lang="en-US" i="1">
                                  <a:latin typeface="Cambria Math" panose="02040503050406030204" pitchFamily="18" charset="0"/>
                                  <a:ea typeface="Calibri" panose="020F0502020204030204" pitchFamily="34" charset="0"/>
                                  <a:cs typeface="Times New Roman" panose="02020603050405020304" pitchFamily="18" charset="0"/>
                                </a:rPr>
                              </m:ctrlPr>
                            </m:sSupPr>
                            <m:e>
                              <m:d>
                                <m:dPr>
                                  <m:ctrlPr>
                                    <a:rPr lang="en-US" i="1">
                                      <a:latin typeface="Cambria Math" panose="02040503050406030204" pitchFamily="18" charset="0"/>
                                      <a:ea typeface="Calibri" panose="020F0502020204030204" pitchFamily="34" charset="0"/>
                                      <a:cs typeface="Times New Roman" panose="02020603050405020304" pitchFamily="18" charset="0"/>
                                    </a:rPr>
                                  </m:ctrlPr>
                                </m:dPr>
                                <m:e>
                                  <m:r>
                                    <a:rPr lang="en-US" i="1">
                                      <a:latin typeface="Cambria Math" panose="02040503050406030204" pitchFamily="18" charset="0"/>
                                      <a:ea typeface="Calibri" panose="020F0502020204030204" pitchFamily="34" charset="0"/>
                                      <a:cs typeface="Times New Roman" panose="02020603050405020304" pitchFamily="18" charset="0"/>
                                    </a:rPr>
                                    <m:t>1+</m:t>
                                  </m:r>
                                  <m:r>
                                    <a:rPr lang="en-US" i="1">
                                      <a:latin typeface="Cambria Math" panose="02040503050406030204" pitchFamily="18" charset="0"/>
                                      <a:ea typeface="Calibri" panose="020F0502020204030204" pitchFamily="34" charset="0"/>
                                      <a:cs typeface="Times New Roman" panose="02020603050405020304" pitchFamily="18" charset="0"/>
                                    </a:rPr>
                                    <m:t>𝑟</m:t>
                                  </m:r>
                                </m:e>
                              </m:d>
                            </m:e>
                            <m:sup>
                              <m:r>
                                <a:rPr lang="en-US" i="1">
                                  <a:latin typeface="Cambria Math" panose="02040503050406030204" pitchFamily="18" charset="0"/>
                                  <a:ea typeface="Calibri" panose="020F0502020204030204" pitchFamily="34" charset="0"/>
                                  <a:cs typeface="Times New Roman" panose="02020603050405020304" pitchFamily="18" charset="0"/>
                                </a:rPr>
                                <m:t>20</m:t>
                              </m:r>
                            </m:sup>
                          </m:sSup>
                        </m:den>
                      </m:f>
                    </m:oMath>
                  </m:oMathPara>
                </a14:m>
                <a:endParaRPr lang="en-US" sz="1400" dirty="0">
                  <a:effectLst/>
                  <a:latin typeface="Calibri" panose="020F0502020204030204" pitchFamily="34" charset="0"/>
                  <a:ea typeface="Calibri" panose="020F0502020204030204" pitchFamily="34" charset="0"/>
                  <a:cs typeface="Arial" panose="020B0604020202020204" pitchFamily="34" charset="0"/>
                </a:endParaRPr>
              </a:p>
              <a:p>
                <a:pPr>
                  <a:lnSpc>
                    <a:spcPct val="150000"/>
                  </a:lnSpc>
                  <a:spcAft>
                    <a:spcPts val="800"/>
                  </a:spcAft>
                </a:pPr>
                <a14:m>
                  <m:oMathPara xmlns:m="http://schemas.openxmlformats.org/officeDocument/2006/math">
                    <m:oMathParaPr>
                      <m:jc m:val="centerGroup"/>
                    </m:oMathParaPr>
                    <m:oMath xmlns:m="http://schemas.openxmlformats.org/officeDocument/2006/math">
                      <m:r>
                        <m:rPr>
                          <m:sty m:val="p"/>
                        </m:rPr>
                        <a:rPr lang="en-US">
                          <a:latin typeface="Cambria Math" panose="02040503050406030204" pitchFamily="18" charset="0"/>
                          <a:ea typeface="Times New Roman" panose="02020603050405020304" pitchFamily="18" charset="0"/>
                          <a:cs typeface="Times New Roman" panose="02020603050405020304" pitchFamily="18" charset="0"/>
                        </a:rPr>
                        <m:t>Σ</m:t>
                      </m:r>
                      <m:r>
                        <a:rPr lang="en-US" i="1">
                          <a:latin typeface="Cambria Math" panose="02040503050406030204" pitchFamily="18" charset="0"/>
                          <a:ea typeface="Times New Roman" panose="02020603050405020304" pitchFamily="18" charset="0"/>
                          <a:cs typeface="Times New Roman" panose="02020603050405020304" pitchFamily="18" charset="0"/>
                        </a:rPr>
                        <m:t>𝑁𝑃</m:t>
                      </m:r>
                      <m:sSub>
                        <m:sSubPr>
                          <m:ctrlPr>
                            <a:rPr lang="en-US" i="1">
                              <a:latin typeface="Cambria Math" panose="02040503050406030204" pitchFamily="18" charset="0"/>
                              <a:ea typeface="Times New Roman" panose="02020603050405020304" pitchFamily="18" charset="0"/>
                              <a:cs typeface="Times New Roman" panose="02020603050405020304" pitchFamily="18" charset="0"/>
                            </a:rPr>
                          </m:ctrlPr>
                        </m:sSubPr>
                        <m:e>
                          <m:r>
                            <a:rPr lang="en-US" i="1">
                              <a:latin typeface="Cambria Math" panose="02040503050406030204" pitchFamily="18" charset="0"/>
                              <a:ea typeface="Times New Roman" panose="02020603050405020304" pitchFamily="18" charset="0"/>
                              <a:cs typeface="Times New Roman" panose="02020603050405020304" pitchFamily="18" charset="0"/>
                            </a:rPr>
                            <m:t>𝑉</m:t>
                          </m:r>
                        </m:e>
                        <m:sub>
                          <m:r>
                            <a:rPr lang="en-US" i="1">
                              <a:latin typeface="Cambria Math" panose="02040503050406030204" pitchFamily="18" charset="0"/>
                              <a:ea typeface="Times New Roman" panose="02020603050405020304" pitchFamily="18" charset="0"/>
                              <a:cs typeface="Times New Roman" panose="02020603050405020304" pitchFamily="18" charset="0"/>
                            </a:rPr>
                            <m:t>𝑐𝑜𝑠𝑡</m:t>
                          </m:r>
                        </m:sub>
                      </m:sSub>
                      <m:r>
                        <a:rPr lang="en-US" b="1" i="1">
                          <a:latin typeface="Cambria Math" panose="02040503050406030204" pitchFamily="18" charset="0"/>
                          <a:ea typeface="Times New Roman" panose="02020603050405020304" pitchFamily="18" charset="0"/>
                          <a:cs typeface="Times New Roman" panose="02020603050405020304" pitchFamily="18" charset="0"/>
                        </a:rPr>
                        <m:t>=</m:t>
                      </m:r>
                      <m:r>
                        <a:rPr lang="en-US" i="1">
                          <a:latin typeface="Cambria Math" panose="02040503050406030204" pitchFamily="18" charset="0"/>
                          <a:ea typeface="Times New Roman" panose="02020603050405020304" pitchFamily="18" charset="0"/>
                          <a:cs typeface="Times New Roman" panose="02020603050405020304" pitchFamily="18" charset="0"/>
                        </a:rPr>
                        <m:t>𝐼𝑛𝑖𝑡𝑖𝑎𝑙</m:t>
                      </m:r>
                      <m:r>
                        <a:rPr lang="en-US" i="1">
                          <a:latin typeface="Cambria Math" panose="02040503050406030204" pitchFamily="18" charset="0"/>
                          <a:ea typeface="Times New Roman" panose="02020603050405020304" pitchFamily="18" charset="0"/>
                          <a:cs typeface="Times New Roman" panose="02020603050405020304" pitchFamily="18" charset="0"/>
                        </a:rPr>
                        <m:t> </m:t>
                      </m:r>
                      <m:r>
                        <a:rPr lang="en-US" i="1">
                          <a:latin typeface="Cambria Math" panose="02040503050406030204" pitchFamily="18" charset="0"/>
                          <a:ea typeface="Times New Roman" panose="02020603050405020304" pitchFamily="18" charset="0"/>
                          <a:cs typeface="Times New Roman" panose="02020603050405020304" pitchFamily="18" charset="0"/>
                        </a:rPr>
                        <m:t>𝐼𝑛𝑣𝑒𝑠𝑡𝑚𝑒𝑛𝑡</m:t>
                      </m:r>
                      <m:r>
                        <a:rPr lang="en-US" i="1">
                          <a:latin typeface="Cambria Math" panose="02040503050406030204" pitchFamily="18" charset="0"/>
                          <a:ea typeface="Times New Roman" panose="02020603050405020304" pitchFamily="18" charset="0"/>
                          <a:cs typeface="Times New Roman" panose="02020603050405020304" pitchFamily="18" charset="0"/>
                        </a:rPr>
                        <m:t>+</m:t>
                      </m:r>
                      <m:nary>
                        <m:naryPr>
                          <m:chr m:val="∑"/>
                          <m:grow m:val="on"/>
                          <m:ctrlPr>
                            <a:rPr lang="en-US" i="1">
                              <a:latin typeface="Cambria Math" panose="02040503050406030204" pitchFamily="18" charset="0"/>
                              <a:ea typeface="Calibri" panose="020F0502020204030204" pitchFamily="34" charset="0"/>
                              <a:cs typeface="Times New Roman" panose="02020603050405020304" pitchFamily="18" charset="0"/>
                            </a:rPr>
                          </m:ctrlPr>
                        </m:naryPr>
                        <m:sub>
                          <m:r>
                            <a:rPr lang="en-US" i="1">
                              <a:latin typeface="Cambria Math" panose="02040503050406030204" pitchFamily="18" charset="0"/>
                              <a:ea typeface="Cambria Math" panose="02040503050406030204" pitchFamily="18" charset="0"/>
                              <a:cs typeface="Times New Roman" panose="02020603050405020304" pitchFamily="18" charset="0"/>
                            </a:rPr>
                            <m:t>𝑘</m:t>
                          </m:r>
                          <m:r>
                            <a:rPr lang="en-US" i="1">
                              <a:latin typeface="Cambria Math" panose="02040503050406030204" pitchFamily="18" charset="0"/>
                              <a:ea typeface="Cambria Math" panose="02040503050406030204" pitchFamily="18" charset="0"/>
                              <a:cs typeface="Times New Roman" panose="02020603050405020304" pitchFamily="18" charset="0"/>
                            </a:rPr>
                            <m:t>=1</m:t>
                          </m:r>
                        </m:sub>
                        <m:sup>
                          <m:r>
                            <a:rPr lang="en-US" i="1">
                              <a:latin typeface="Cambria Math" panose="02040503050406030204" pitchFamily="18" charset="0"/>
                              <a:ea typeface="Cambria Math" panose="02040503050406030204" pitchFamily="18" charset="0"/>
                              <a:cs typeface="Times New Roman" panose="02020603050405020304" pitchFamily="18" charset="0"/>
                            </a:rPr>
                            <m:t>20</m:t>
                          </m:r>
                        </m:sup>
                        <m:e>
                          <m:f>
                            <m:fPr>
                              <m:ctrlPr>
                                <a:rPr lang="en-US" i="1">
                                  <a:latin typeface="Cambria Math" panose="02040503050406030204" pitchFamily="18" charset="0"/>
                                  <a:ea typeface="Calibri" panose="020F0502020204030204" pitchFamily="34" charset="0"/>
                                  <a:cs typeface="Times New Roman" panose="02020603050405020304" pitchFamily="18" charset="0"/>
                                </a:rPr>
                              </m:ctrlPr>
                            </m:fPr>
                            <m:num>
                              <m:sSub>
                                <m:sSubPr>
                                  <m:ctrlPr>
                                    <a:rPr lang="en-US" i="1">
                                      <a:latin typeface="Cambria Math" panose="02040503050406030204" pitchFamily="18" charset="0"/>
                                      <a:ea typeface="Calibri" panose="020F0502020204030204" pitchFamily="34" charset="0"/>
                                      <a:cs typeface="Times New Roman" panose="02020603050405020304" pitchFamily="18" charset="0"/>
                                    </a:rPr>
                                  </m:ctrlPr>
                                </m:sSubPr>
                                <m:e>
                                  <m:r>
                                    <a:rPr lang="en-US" i="1">
                                      <a:latin typeface="Cambria Math" panose="02040503050406030204" pitchFamily="18" charset="0"/>
                                      <a:ea typeface="Calibri" panose="020F0502020204030204" pitchFamily="34" charset="0"/>
                                      <a:cs typeface="Times New Roman" panose="02020603050405020304" pitchFamily="18" charset="0"/>
                                    </a:rPr>
                                    <m:t>𝐶</m:t>
                                  </m:r>
                                </m:e>
                                <m:sub>
                                  <m:r>
                                    <a:rPr lang="en-US" i="1">
                                      <a:latin typeface="Cambria Math" panose="02040503050406030204" pitchFamily="18" charset="0"/>
                                      <a:ea typeface="Calibri" panose="020F0502020204030204" pitchFamily="34" charset="0"/>
                                      <a:cs typeface="Times New Roman" panose="02020603050405020304" pitchFamily="18" charset="0"/>
                                    </a:rPr>
                                    <m:t>𝑘</m:t>
                                  </m:r>
                                </m:sub>
                              </m:sSub>
                            </m:num>
                            <m:den>
                              <m:sSup>
                                <m:sSupPr>
                                  <m:ctrlPr>
                                    <a:rPr lang="en-US" i="1">
                                      <a:latin typeface="Cambria Math" panose="02040503050406030204" pitchFamily="18" charset="0"/>
                                      <a:ea typeface="Calibri" panose="020F0502020204030204" pitchFamily="34" charset="0"/>
                                      <a:cs typeface="Times New Roman" panose="02020603050405020304" pitchFamily="18" charset="0"/>
                                    </a:rPr>
                                  </m:ctrlPr>
                                </m:sSupPr>
                                <m:e>
                                  <m:d>
                                    <m:dPr>
                                      <m:ctrlPr>
                                        <a:rPr lang="en-US" i="1">
                                          <a:latin typeface="Cambria Math" panose="02040503050406030204" pitchFamily="18" charset="0"/>
                                          <a:ea typeface="Calibri" panose="020F0502020204030204" pitchFamily="34" charset="0"/>
                                          <a:cs typeface="Times New Roman" panose="02020603050405020304" pitchFamily="18" charset="0"/>
                                        </a:rPr>
                                      </m:ctrlPr>
                                    </m:dPr>
                                    <m:e>
                                      <m:r>
                                        <a:rPr lang="en-US" i="1">
                                          <a:latin typeface="Cambria Math" panose="02040503050406030204" pitchFamily="18" charset="0"/>
                                          <a:ea typeface="Calibri" panose="020F0502020204030204" pitchFamily="34" charset="0"/>
                                          <a:cs typeface="Times New Roman" panose="02020603050405020304" pitchFamily="18" charset="0"/>
                                        </a:rPr>
                                        <m:t>1+</m:t>
                                      </m:r>
                                      <m:r>
                                        <a:rPr lang="en-US" i="1">
                                          <a:latin typeface="Cambria Math" panose="02040503050406030204" pitchFamily="18" charset="0"/>
                                          <a:ea typeface="Calibri" panose="020F0502020204030204" pitchFamily="34" charset="0"/>
                                          <a:cs typeface="Times New Roman" panose="02020603050405020304" pitchFamily="18" charset="0"/>
                                        </a:rPr>
                                        <m:t>𝑟</m:t>
                                      </m:r>
                                    </m:e>
                                  </m:d>
                                </m:e>
                                <m:sup>
                                  <m:r>
                                    <a:rPr lang="en-US" i="1">
                                      <a:latin typeface="Cambria Math" panose="02040503050406030204" pitchFamily="18" charset="0"/>
                                      <a:ea typeface="Calibri" panose="020F0502020204030204" pitchFamily="34" charset="0"/>
                                      <a:cs typeface="Times New Roman" panose="02020603050405020304" pitchFamily="18" charset="0"/>
                                    </a:rPr>
                                    <m:t>𝑘</m:t>
                                  </m:r>
                                </m:sup>
                              </m:sSup>
                            </m:den>
                          </m:f>
                        </m:e>
                      </m:nary>
                    </m:oMath>
                  </m:oMathPara>
                </a14:m>
                <a:endParaRPr lang="en-US" sz="1400" dirty="0">
                  <a:effectLst/>
                  <a:latin typeface="Calibri" panose="020F0502020204030204" pitchFamily="34" charset="0"/>
                  <a:ea typeface="Calibri" panose="020F0502020204030204" pitchFamily="34" charset="0"/>
                  <a:cs typeface="Arial" panose="020B0604020202020204" pitchFamily="34" charset="0"/>
                </a:endParaRPr>
              </a:p>
            </p:txBody>
          </p:sp>
        </mc:Choice>
        <mc:Fallback xmlns="">
          <p:sp>
            <p:nvSpPr>
              <p:cNvPr id="4" name="Rectangle 3"/>
              <p:cNvSpPr>
                <a:spLocks noRot="1" noChangeAspect="1" noMove="1" noResize="1" noEditPoints="1" noAdjustHandles="1" noChangeArrowheads="1" noChangeShapeType="1" noTextEdit="1"/>
              </p:cNvSpPr>
              <p:nvPr/>
            </p:nvSpPr>
            <p:spPr>
              <a:xfrm>
                <a:off x="3048000" y="1292710"/>
                <a:ext cx="6096000" cy="4272580"/>
              </a:xfrm>
              <a:prstGeom prst="rect">
                <a:avLst/>
              </a:prstGeom>
              <a:blipFill>
                <a:blip r:embed="rId2"/>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313145877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Benefits and costs without interest</a:t>
            </a:r>
          </a:p>
        </p:txBody>
      </p:sp>
      <p:pic>
        <p:nvPicPr>
          <p:cNvPr id="4" name="Picture 3"/>
          <p:cNvPicPr/>
          <p:nvPr/>
        </p:nvPicPr>
        <p:blipFill>
          <a:blip r:embed="rId2">
            <a:extLst>
              <a:ext uri="{28A0092B-C50C-407E-A947-70E740481C1C}">
                <a14:useLocalDpi xmlns:a14="http://schemas.microsoft.com/office/drawing/2010/main" val="0"/>
              </a:ext>
            </a:extLst>
          </a:blip>
          <a:srcRect/>
          <a:stretch>
            <a:fillRect/>
          </a:stretch>
        </p:blipFill>
        <p:spPr bwMode="auto">
          <a:xfrm>
            <a:off x="2767013" y="1904999"/>
            <a:ext cx="6919912" cy="823913"/>
          </a:xfrm>
          <a:prstGeom prst="rect">
            <a:avLst/>
          </a:prstGeom>
          <a:noFill/>
          <a:ln>
            <a:noFill/>
          </a:ln>
        </p:spPr>
      </p:pic>
      <p:pic>
        <p:nvPicPr>
          <p:cNvPr id="5" name="Picture 4"/>
          <p:cNvPicPr/>
          <p:nvPr/>
        </p:nvPicPr>
        <p:blipFill>
          <a:blip r:embed="rId3">
            <a:extLst>
              <a:ext uri="{28A0092B-C50C-407E-A947-70E740481C1C}">
                <a14:useLocalDpi xmlns:a14="http://schemas.microsoft.com/office/drawing/2010/main" val="0"/>
              </a:ext>
            </a:extLst>
          </a:blip>
          <a:srcRect/>
          <a:stretch>
            <a:fillRect/>
          </a:stretch>
        </p:blipFill>
        <p:spPr bwMode="auto">
          <a:xfrm>
            <a:off x="2767013" y="2728912"/>
            <a:ext cx="6919912" cy="814388"/>
          </a:xfrm>
          <a:prstGeom prst="rect">
            <a:avLst/>
          </a:prstGeom>
          <a:noFill/>
          <a:ln>
            <a:noFill/>
          </a:ln>
        </p:spPr>
      </p:pic>
      <p:pic>
        <p:nvPicPr>
          <p:cNvPr id="6" name="Picture 5"/>
          <p:cNvPicPr/>
          <p:nvPr/>
        </p:nvPicPr>
        <p:blipFill>
          <a:blip r:embed="rId4">
            <a:extLst>
              <a:ext uri="{28A0092B-C50C-407E-A947-70E740481C1C}">
                <a14:useLocalDpi xmlns:a14="http://schemas.microsoft.com/office/drawing/2010/main" val="0"/>
              </a:ext>
            </a:extLst>
          </a:blip>
          <a:srcRect/>
          <a:stretch>
            <a:fillRect/>
          </a:stretch>
        </p:blipFill>
        <p:spPr bwMode="auto">
          <a:xfrm>
            <a:off x="2767013" y="3793172"/>
            <a:ext cx="6919912" cy="835978"/>
          </a:xfrm>
          <a:prstGeom prst="rect">
            <a:avLst/>
          </a:prstGeom>
          <a:noFill/>
          <a:ln>
            <a:noFill/>
          </a:ln>
        </p:spPr>
      </p:pic>
      <p:pic>
        <p:nvPicPr>
          <p:cNvPr id="7" name="Picture 6"/>
          <p:cNvPicPr/>
          <p:nvPr/>
        </p:nvPicPr>
        <p:blipFill>
          <a:blip r:embed="rId5">
            <a:extLst>
              <a:ext uri="{28A0092B-C50C-407E-A947-70E740481C1C}">
                <a14:useLocalDpi xmlns:a14="http://schemas.microsoft.com/office/drawing/2010/main" val="0"/>
              </a:ext>
            </a:extLst>
          </a:blip>
          <a:srcRect/>
          <a:stretch>
            <a:fillRect/>
          </a:stretch>
        </p:blipFill>
        <p:spPr bwMode="auto">
          <a:xfrm>
            <a:off x="2767013" y="4629150"/>
            <a:ext cx="6919912" cy="814388"/>
          </a:xfrm>
          <a:prstGeom prst="rect">
            <a:avLst/>
          </a:prstGeom>
          <a:noFill/>
          <a:ln>
            <a:noFill/>
          </a:ln>
        </p:spPr>
      </p:pic>
    </p:spTree>
    <p:extLst>
      <p:ext uri="{BB962C8B-B14F-4D97-AF65-F5344CB8AC3E}">
        <p14:creationId xmlns:p14="http://schemas.microsoft.com/office/powerpoint/2010/main" val="397958430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NPV of Benefits and Costs</a:t>
            </a:r>
          </a:p>
        </p:txBody>
      </p:sp>
      <p:pic>
        <p:nvPicPr>
          <p:cNvPr id="4" name="Picture 3"/>
          <p:cNvPicPr/>
          <p:nvPr/>
        </p:nvPicPr>
        <p:blipFill>
          <a:blip r:embed="rId2">
            <a:extLst>
              <a:ext uri="{28A0092B-C50C-407E-A947-70E740481C1C}">
                <a14:useLocalDpi xmlns:a14="http://schemas.microsoft.com/office/drawing/2010/main" val="0"/>
              </a:ext>
            </a:extLst>
          </a:blip>
          <a:srcRect/>
          <a:stretch>
            <a:fillRect/>
          </a:stretch>
        </p:blipFill>
        <p:spPr bwMode="auto">
          <a:xfrm>
            <a:off x="2909888" y="1528763"/>
            <a:ext cx="7062784" cy="1040129"/>
          </a:xfrm>
          <a:prstGeom prst="rect">
            <a:avLst/>
          </a:prstGeom>
          <a:noFill/>
          <a:ln>
            <a:noFill/>
          </a:ln>
        </p:spPr>
      </p:pic>
      <p:pic>
        <p:nvPicPr>
          <p:cNvPr id="5" name="Picture 4"/>
          <p:cNvPicPr/>
          <p:nvPr/>
        </p:nvPicPr>
        <p:blipFill>
          <a:blip r:embed="rId3">
            <a:extLst>
              <a:ext uri="{28A0092B-C50C-407E-A947-70E740481C1C}">
                <a14:useLocalDpi xmlns:a14="http://schemas.microsoft.com/office/drawing/2010/main" val="0"/>
              </a:ext>
            </a:extLst>
          </a:blip>
          <a:srcRect/>
          <a:stretch>
            <a:fillRect/>
          </a:stretch>
        </p:blipFill>
        <p:spPr bwMode="auto">
          <a:xfrm>
            <a:off x="2909886" y="2568892"/>
            <a:ext cx="7062787" cy="993870"/>
          </a:xfrm>
          <a:prstGeom prst="rect">
            <a:avLst/>
          </a:prstGeom>
          <a:noFill/>
          <a:ln>
            <a:noFill/>
          </a:ln>
        </p:spPr>
      </p:pic>
      <p:pic>
        <p:nvPicPr>
          <p:cNvPr id="6" name="Picture 5"/>
          <p:cNvPicPr/>
          <p:nvPr/>
        </p:nvPicPr>
        <p:blipFill>
          <a:blip r:embed="rId4">
            <a:extLst>
              <a:ext uri="{28A0092B-C50C-407E-A947-70E740481C1C}">
                <a14:useLocalDpi xmlns:a14="http://schemas.microsoft.com/office/drawing/2010/main" val="0"/>
              </a:ext>
            </a:extLst>
          </a:blip>
          <a:srcRect/>
          <a:stretch>
            <a:fillRect/>
          </a:stretch>
        </p:blipFill>
        <p:spPr bwMode="auto">
          <a:xfrm>
            <a:off x="2909886" y="3914776"/>
            <a:ext cx="7062786" cy="885824"/>
          </a:xfrm>
          <a:prstGeom prst="rect">
            <a:avLst/>
          </a:prstGeom>
          <a:noFill/>
          <a:ln>
            <a:noFill/>
          </a:ln>
        </p:spPr>
      </p:pic>
      <p:pic>
        <p:nvPicPr>
          <p:cNvPr id="7" name="Picture 6"/>
          <p:cNvPicPr/>
          <p:nvPr/>
        </p:nvPicPr>
        <p:blipFill>
          <a:blip r:embed="rId5">
            <a:extLst>
              <a:ext uri="{28A0092B-C50C-407E-A947-70E740481C1C}">
                <a14:useLocalDpi xmlns:a14="http://schemas.microsoft.com/office/drawing/2010/main" val="0"/>
              </a:ext>
            </a:extLst>
          </a:blip>
          <a:srcRect/>
          <a:stretch>
            <a:fillRect/>
          </a:stretch>
        </p:blipFill>
        <p:spPr bwMode="auto">
          <a:xfrm>
            <a:off x="2909884" y="4781340"/>
            <a:ext cx="7062787" cy="942530"/>
          </a:xfrm>
          <a:prstGeom prst="rect">
            <a:avLst/>
          </a:prstGeom>
          <a:noFill/>
          <a:ln>
            <a:noFill/>
          </a:ln>
        </p:spPr>
      </p:pic>
    </p:spTree>
    <p:extLst>
      <p:ext uri="{BB962C8B-B14F-4D97-AF65-F5344CB8AC3E}">
        <p14:creationId xmlns:p14="http://schemas.microsoft.com/office/powerpoint/2010/main" val="215047202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Benefit-Cost Ratio (B/C)</a:t>
            </a:r>
          </a:p>
        </p:txBody>
      </p:sp>
      <p:graphicFrame>
        <p:nvGraphicFramePr>
          <p:cNvPr id="4" name="Table 3"/>
          <p:cNvGraphicFramePr>
            <a:graphicFrameLocks noGrp="1"/>
          </p:cNvGraphicFramePr>
          <p:nvPr>
            <p:extLst>
              <p:ext uri="{D42A27DB-BD31-4B8C-83A1-F6EECF244321}">
                <p14:modId xmlns:p14="http://schemas.microsoft.com/office/powerpoint/2010/main" val="2745040551"/>
              </p:ext>
            </p:extLst>
          </p:nvPr>
        </p:nvGraphicFramePr>
        <p:xfrm>
          <a:off x="2982913" y="2071688"/>
          <a:ext cx="6689725" cy="2180907"/>
        </p:xfrm>
        <a:graphic>
          <a:graphicData uri="http://schemas.openxmlformats.org/drawingml/2006/table">
            <a:tbl>
              <a:tblPr firstRow="1" firstCol="1" bandRow="1">
                <a:tableStyleId>{5C22544A-7EE6-4342-B048-85BDC9FD1C3A}</a:tableStyleId>
              </a:tblPr>
              <a:tblGrid>
                <a:gridCol w="2310106">
                  <a:extLst>
                    <a:ext uri="{9D8B030D-6E8A-4147-A177-3AD203B41FA5}">
                      <a16:colId xmlns:a16="http://schemas.microsoft.com/office/drawing/2014/main" val="3928108220"/>
                    </a:ext>
                  </a:extLst>
                </a:gridCol>
                <a:gridCol w="1722079">
                  <a:extLst>
                    <a:ext uri="{9D8B030D-6E8A-4147-A177-3AD203B41FA5}">
                      <a16:colId xmlns:a16="http://schemas.microsoft.com/office/drawing/2014/main" val="2737051087"/>
                    </a:ext>
                  </a:extLst>
                </a:gridCol>
                <a:gridCol w="1330061">
                  <a:extLst>
                    <a:ext uri="{9D8B030D-6E8A-4147-A177-3AD203B41FA5}">
                      <a16:colId xmlns:a16="http://schemas.microsoft.com/office/drawing/2014/main" val="3905691148"/>
                    </a:ext>
                  </a:extLst>
                </a:gridCol>
                <a:gridCol w="1327479">
                  <a:extLst>
                    <a:ext uri="{9D8B030D-6E8A-4147-A177-3AD203B41FA5}">
                      <a16:colId xmlns:a16="http://schemas.microsoft.com/office/drawing/2014/main" val="3244802954"/>
                    </a:ext>
                  </a:extLst>
                </a:gridCol>
              </a:tblGrid>
              <a:tr h="726753">
                <a:tc>
                  <a:txBody>
                    <a:bodyPr/>
                    <a:lstStyle/>
                    <a:p>
                      <a:pPr marL="0" marR="0">
                        <a:lnSpc>
                          <a:spcPct val="150000"/>
                        </a:lnSpc>
                        <a:spcBef>
                          <a:spcPts val="0"/>
                        </a:spcBef>
                        <a:spcAft>
                          <a:spcPts val="0"/>
                        </a:spcAft>
                      </a:pPr>
                      <a:r>
                        <a:rPr lang="en-US" sz="1600">
                          <a:effectLst/>
                        </a:rPr>
                        <a:t>System</a:t>
                      </a:r>
                      <a:endParaRPr lang="en-US" sz="12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tc>
                <a:tc>
                  <a:txBody>
                    <a:bodyPr/>
                    <a:lstStyle/>
                    <a:p>
                      <a:pPr marL="0" marR="0">
                        <a:lnSpc>
                          <a:spcPct val="150000"/>
                        </a:lnSpc>
                        <a:spcBef>
                          <a:spcPts val="0"/>
                        </a:spcBef>
                        <a:spcAft>
                          <a:spcPts val="0"/>
                        </a:spcAft>
                      </a:pPr>
                      <a:r>
                        <a:rPr lang="en-US" sz="1600">
                          <a:effectLst/>
                        </a:rPr>
                        <a:t>NPV Benefit</a:t>
                      </a:r>
                      <a:endParaRPr lang="en-US" sz="12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tc>
                <a:tc>
                  <a:txBody>
                    <a:bodyPr/>
                    <a:lstStyle/>
                    <a:p>
                      <a:pPr marL="0" marR="0">
                        <a:lnSpc>
                          <a:spcPct val="150000"/>
                        </a:lnSpc>
                        <a:spcBef>
                          <a:spcPts val="0"/>
                        </a:spcBef>
                        <a:spcAft>
                          <a:spcPts val="0"/>
                        </a:spcAft>
                      </a:pPr>
                      <a:r>
                        <a:rPr lang="en-US" sz="1600">
                          <a:effectLst/>
                        </a:rPr>
                        <a:t>NPV Costs</a:t>
                      </a:r>
                      <a:endParaRPr lang="en-US" sz="12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tc>
                <a:tc>
                  <a:txBody>
                    <a:bodyPr/>
                    <a:lstStyle/>
                    <a:p>
                      <a:pPr marL="0" marR="0">
                        <a:lnSpc>
                          <a:spcPct val="150000"/>
                        </a:lnSpc>
                        <a:spcBef>
                          <a:spcPts val="0"/>
                        </a:spcBef>
                        <a:spcAft>
                          <a:spcPts val="0"/>
                        </a:spcAft>
                      </a:pPr>
                      <a:r>
                        <a:rPr lang="en-US" sz="1600">
                          <a:effectLst/>
                        </a:rPr>
                        <a:t>B/C Ratio</a:t>
                      </a:r>
                      <a:endParaRPr lang="en-US" sz="12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tc>
                <a:extLst>
                  <a:ext uri="{0D108BD9-81ED-4DB2-BD59-A6C34878D82A}">
                    <a16:rowId xmlns:a16="http://schemas.microsoft.com/office/drawing/2014/main" val="3071469554"/>
                  </a:ext>
                </a:extLst>
              </a:tr>
              <a:tr h="727077">
                <a:tc>
                  <a:txBody>
                    <a:bodyPr/>
                    <a:lstStyle/>
                    <a:p>
                      <a:pPr marL="0" marR="0">
                        <a:lnSpc>
                          <a:spcPct val="150000"/>
                        </a:lnSpc>
                        <a:spcBef>
                          <a:spcPts val="0"/>
                        </a:spcBef>
                        <a:spcAft>
                          <a:spcPts val="0"/>
                        </a:spcAft>
                      </a:pPr>
                      <a:r>
                        <a:rPr lang="en-US" sz="1600">
                          <a:effectLst/>
                        </a:rPr>
                        <a:t>CCDV</a:t>
                      </a:r>
                      <a:endParaRPr lang="en-US" sz="12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tc>
                <a:tc>
                  <a:txBody>
                    <a:bodyPr/>
                    <a:lstStyle/>
                    <a:p>
                      <a:pPr marL="0" marR="0" algn="r">
                        <a:lnSpc>
                          <a:spcPct val="150000"/>
                        </a:lnSpc>
                        <a:spcBef>
                          <a:spcPts val="0"/>
                        </a:spcBef>
                        <a:spcAft>
                          <a:spcPts val="0"/>
                        </a:spcAft>
                      </a:pPr>
                      <a:r>
                        <a:rPr lang="en-US" sz="1600">
                          <a:effectLst/>
                        </a:rPr>
                        <a:t>7430.01</a:t>
                      </a:r>
                      <a:endParaRPr lang="en-US" sz="12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tc>
                <a:tc>
                  <a:txBody>
                    <a:bodyPr/>
                    <a:lstStyle/>
                    <a:p>
                      <a:pPr marL="0" marR="0" algn="r">
                        <a:lnSpc>
                          <a:spcPct val="150000"/>
                        </a:lnSpc>
                        <a:spcBef>
                          <a:spcPts val="0"/>
                        </a:spcBef>
                        <a:spcAft>
                          <a:spcPts val="0"/>
                        </a:spcAft>
                      </a:pPr>
                      <a:r>
                        <a:rPr lang="en-US" sz="1600">
                          <a:effectLst/>
                        </a:rPr>
                        <a:t>-5383.71</a:t>
                      </a:r>
                      <a:endParaRPr lang="en-US" sz="12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tc>
                <a:tc>
                  <a:txBody>
                    <a:bodyPr/>
                    <a:lstStyle/>
                    <a:p>
                      <a:pPr marL="0" marR="0" algn="r">
                        <a:lnSpc>
                          <a:spcPct val="150000"/>
                        </a:lnSpc>
                        <a:spcBef>
                          <a:spcPts val="0"/>
                        </a:spcBef>
                        <a:spcAft>
                          <a:spcPts val="0"/>
                        </a:spcAft>
                      </a:pPr>
                      <a:r>
                        <a:rPr lang="en-US" sz="1600">
                          <a:effectLst/>
                        </a:rPr>
                        <a:t>1.380091819</a:t>
                      </a:r>
                      <a:endParaRPr lang="en-US" sz="12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tc>
                <a:extLst>
                  <a:ext uri="{0D108BD9-81ED-4DB2-BD59-A6C34878D82A}">
                    <a16:rowId xmlns:a16="http://schemas.microsoft.com/office/drawing/2014/main" val="2673299584"/>
                  </a:ext>
                </a:extLst>
              </a:tr>
              <a:tr h="727077">
                <a:tc>
                  <a:txBody>
                    <a:bodyPr/>
                    <a:lstStyle/>
                    <a:p>
                      <a:pPr marL="0" marR="0">
                        <a:lnSpc>
                          <a:spcPct val="150000"/>
                        </a:lnSpc>
                        <a:spcBef>
                          <a:spcPts val="0"/>
                        </a:spcBef>
                        <a:spcAft>
                          <a:spcPts val="0"/>
                        </a:spcAft>
                      </a:pPr>
                      <a:r>
                        <a:rPr lang="en-US" sz="1600">
                          <a:effectLst/>
                        </a:rPr>
                        <a:t>Mixed Mode</a:t>
                      </a:r>
                      <a:endParaRPr lang="en-US" sz="12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tc>
                <a:tc>
                  <a:txBody>
                    <a:bodyPr/>
                    <a:lstStyle/>
                    <a:p>
                      <a:pPr marL="0" marR="0" algn="r">
                        <a:lnSpc>
                          <a:spcPct val="150000"/>
                        </a:lnSpc>
                        <a:spcBef>
                          <a:spcPts val="0"/>
                        </a:spcBef>
                        <a:spcAft>
                          <a:spcPts val="0"/>
                        </a:spcAft>
                      </a:pPr>
                      <a:r>
                        <a:rPr lang="en-US" sz="1600">
                          <a:effectLst/>
                        </a:rPr>
                        <a:t>7426.68</a:t>
                      </a:r>
                      <a:endParaRPr lang="en-US" sz="12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tc>
                <a:tc>
                  <a:txBody>
                    <a:bodyPr/>
                    <a:lstStyle/>
                    <a:p>
                      <a:pPr marL="0" marR="0" algn="r">
                        <a:lnSpc>
                          <a:spcPct val="150000"/>
                        </a:lnSpc>
                        <a:spcBef>
                          <a:spcPts val="0"/>
                        </a:spcBef>
                        <a:spcAft>
                          <a:spcPts val="0"/>
                        </a:spcAft>
                      </a:pPr>
                      <a:r>
                        <a:rPr lang="en-US" sz="1600">
                          <a:effectLst/>
                        </a:rPr>
                        <a:t>-6869.32</a:t>
                      </a:r>
                      <a:endParaRPr lang="en-US" sz="12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tc>
                <a:tc>
                  <a:txBody>
                    <a:bodyPr/>
                    <a:lstStyle/>
                    <a:p>
                      <a:pPr marL="0" marR="0" algn="r">
                        <a:lnSpc>
                          <a:spcPct val="150000"/>
                        </a:lnSpc>
                        <a:spcBef>
                          <a:spcPts val="0"/>
                        </a:spcBef>
                        <a:spcAft>
                          <a:spcPts val="0"/>
                        </a:spcAft>
                      </a:pPr>
                      <a:r>
                        <a:rPr lang="en-US" sz="1600" dirty="0">
                          <a:effectLst/>
                        </a:rPr>
                        <a:t>1.081137156</a:t>
                      </a:r>
                      <a:endParaRPr lang="en-US" sz="12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tc>
                <a:extLst>
                  <a:ext uri="{0D108BD9-81ED-4DB2-BD59-A6C34878D82A}">
                    <a16:rowId xmlns:a16="http://schemas.microsoft.com/office/drawing/2014/main" val="2465148020"/>
                  </a:ext>
                </a:extLst>
              </a:tr>
            </a:tbl>
          </a:graphicData>
        </a:graphic>
      </p:graphicFrame>
      <mc:AlternateContent xmlns:mc="http://schemas.openxmlformats.org/markup-compatibility/2006" xmlns:a14="http://schemas.microsoft.com/office/drawing/2010/main">
        <mc:Choice Requires="a14">
          <p:sp>
            <p:nvSpPr>
              <p:cNvPr id="5" name="TextBox 4"/>
              <p:cNvSpPr txBox="1"/>
              <p:nvPr/>
            </p:nvSpPr>
            <p:spPr>
              <a:xfrm>
                <a:off x="4672013" y="4800600"/>
                <a:ext cx="3028950" cy="369332"/>
              </a:xfrm>
              <a:prstGeom prst="rect">
                <a:avLst/>
              </a:prstGeom>
              <a:noFill/>
            </p:spPr>
            <p:txBody>
              <a:bodyPr wrap="square" rtlCol="0">
                <a:spAutoFit/>
              </a:bodyPr>
              <a:lstStyle/>
              <a:p>
                <a14:m>
                  <m:oMath xmlns:m="http://schemas.openxmlformats.org/officeDocument/2006/math">
                    <m:r>
                      <a:rPr lang="en-US" b="0" i="1" smtClean="0">
                        <a:latin typeface="Cambria Math" panose="02040503050406030204" pitchFamily="18" charset="0"/>
                      </a:rPr>
                      <m:t>𝐵</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𝑐𝑐𝑑𝑣</m:t>
                        </m:r>
                      </m:sub>
                    </m:sSub>
                  </m:oMath>
                </a14:m>
                <a:r>
                  <a:rPr lang="en-US" dirty="0"/>
                  <a:t> &gt; </a:t>
                </a:r>
                <a14:m>
                  <m:oMath xmlns:m="http://schemas.openxmlformats.org/officeDocument/2006/math">
                    <m:r>
                      <a:rPr lang="en-US" b="0" i="1" smtClean="0">
                        <a:latin typeface="Cambria Math" panose="02040503050406030204" pitchFamily="18" charset="0"/>
                      </a:rPr>
                      <m:t>𝐵</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𝐶</m:t>
                        </m:r>
                      </m:e>
                      <m:sub>
                        <m:r>
                          <a:rPr lang="en-US" b="0" i="1" smtClean="0">
                            <a:latin typeface="Cambria Math" panose="02040503050406030204" pitchFamily="18" charset="0"/>
                          </a:rPr>
                          <m:t>𝑚𝑖𝑥𝑒𝑑𝑚𝑜𝑑𝑒</m:t>
                        </m:r>
                      </m:sub>
                    </m:sSub>
                  </m:oMath>
                </a14:m>
                <a:endParaRPr lang="en-US" dirty="0"/>
              </a:p>
            </p:txBody>
          </p:sp>
        </mc:Choice>
        <mc:Fallback xmlns="">
          <p:sp>
            <p:nvSpPr>
              <p:cNvPr id="5" name="TextBox 4"/>
              <p:cNvSpPr txBox="1">
                <a:spLocks noRot="1" noChangeAspect="1" noMove="1" noResize="1" noEditPoints="1" noAdjustHandles="1" noChangeArrowheads="1" noChangeShapeType="1" noTextEdit="1"/>
              </p:cNvSpPr>
              <p:nvPr/>
            </p:nvSpPr>
            <p:spPr>
              <a:xfrm>
                <a:off x="4672013" y="4800600"/>
                <a:ext cx="3028950" cy="369332"/>
              </a:xfrm>
              <a:prstGeom prst="rect">
                <a:avLst/>
              </a:prstGeom>
              <a:blipFill>
                <a:blip r:embed="rId2"/>
                <a:stretch>
                  <a:fillRect t="-10000" b="-25000"/>
                </a:stretch>
              </a:blipFill>
            </p:spPr>
            <p:txBody>
              <a:bodyPr/>
              <a:lstStyle/>
              <a:p>
                <a:r>
                  <a:rPr lang="en-US">
                    <a:noFill/>
                  </a:rPr>
                  <a:t> </a:t>
                </a:r>
              </a:p>
            </p:txBody>
          </p:sp>
        </mc:Fallback>
      </mc:AlternateContent>
      <p:sp>
        <p:nvSpPr>
          <p:cNvPr id="6" name="TextBox 5"/>
          <p:cNvSpPr txBox="1"/>
          <p:nvPr/>
        </p:nvSpPr>
        <p:spPr>
          <a:xfrm>
            <a:off x="4543425" y="5400675"/>
            <a:ext cx="3486150" cy="646331"/>
          </a:xfrm>
          <a:prstGeom prst="rect">
            <a:avLst/>
          </a:prstGeom>
          <a:noFill/>
        </p:spPr>
        <p:txBody>
          <a:bodyPr wrap="square" rtlCol="0">
            <a:spAutoFit/>
          </a:bodyPr>
          <a:lstStyle/>
          <a:p>
            <a:r>
              <a:rPr lang="en-US" dirty="0">
                <a:sym typeface="Wingdings" panose="05000000000000000000" pitchFamily="2" charset="2"/>
              </a:rPr>
              <a:t> CCDV is better based on Benefit-Cost Analysis</a:t>
            </a:r>
            <a:endParaRPr lang="en-US" dirty="0"/>
          </a:p>
        </p:txBody>
      </p:sp>
    </p:spTree>
    <p:extLst>
      <p:ext uri="{BB962C8B-B14F-4D97-AF65-F5344CB8AC3E}">
        <p14:creationId xmlns:p14="http://schemas.microsoft.com/office/powerpoint/2010/main" val="346792134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Electricity Generation Analysis</a:t>
            </a:r>
          </a:p>
        </p:txBody>
      </p:sp>
      <mc:AlternateContent xmlns:mc="http://schemas.openxmlformats.org/markup-compatibility/2006" xmlns:a14="http://schemas.microsoft.com/office/drawing/2010/main">
        <mc:Choice Requires="a14">
          <p:sp>
            <p:nvSpPr>
              <p:cNvPr id="4" name="Rectangle 3"/>
              <p:cNvSpPr/>
              <p:nvPr/>
            </p:nvSpPr>
            <p:spPr>
              <a:xfrm>
                <a:off x="3712491" y="4774368"/>
                <a:ext cx="4997202" cy="1716560"/>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i="1">
                          <a:latin typeface="Cambria Math" panose="02040503050406030204" pitchFamily="18" charset="0"/>
                        </a:rPr>
                        <m:t>𝐿𝐶𝑂𝐸</m:t>
                      </m:r>
                      <m:r>
                        <a:rPr lang="en-US" i="0">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𝐼𝑛𝑖𝑡𝑖𝑎𝑙</m:t>
                          </m:r>
                          <m:r>
                            <a:rPr lang="en-US" i="0">
                              <a:latin typeface="Cambria Math" panose="02040503050406030204" pitchFamily="18" charset="0"/>
                            </a:rPr>
                            <m:t> </m:t>
                          </m:r>
                          <m:r>
                            <a:rPr lang="en-US" i="1">
                              <a:latin typeface="Cambria Math" panose="02040503050406030204" pitchFamily="18" charset="0"/>
                            </a:rPr>
                            <m:t>𝐼𝑛𝑣𝑒𝑠𝑡𝑚𝑒𝑛𝑡</m:t>
                          </m:r>
                          <m:r>
                            <a:rPr lang="en-US" i="0">
                              <a:latin typeface="Cambria Math" panose="02040503050406030204" pitchFamily="18" charset="0"/>
                            </a:rPr>
                            <m:t>+ </m:t>
                          </m:r>
                          <m:nary>
                            <m:naryPr>
                              <m:chr m:val="∑"/>
                              <m:limLoc m:val="subSup"/>
                              <m:grow m:val="on"/>
                              <m:ctrlPr>
                                <a:rPr lang="en-US" i="1">
                                  <a:latin typeface="Cambria Math" panose="02040503050406030204" pitchFamily="18" charset="0"/>
                                </a:rPr>
                              </m:ctrlPr>
                            </m:naryPr>
                            <m:sub>
                              <m:r>
                                <a:rPr lang="en-US" i="1">
                                  <a:latin typeface="Cambria Math" panose="02040503050406030204" pitchFamily="18" charset="0"/>
                                </a:rPr>
                                <m:t>𝑘</m:t>
                              </m:r>
                              <m:r>
                                <a:rPr lang="en-US" i="0">
                                  <a:latin typeface="Cambria Math" panose="02040503050406030204" pitchFamily="18" charset="0"/>
                                </a:rPr>
                                <m:t>=1</m:t>
                              </m:r>
                            </m:sub>
                            <m:sup>
                              <m:r>
                                <a:rPr lang="en-US" i="0">
                                  <a:latin typeface="Cambria Math" panose="02040503050406030204" pitchFamily="18" charset="0"/>
                                </a:rPr>
                                <m:t>20</m:t>
                              </m:r>
                            </m:sup>
                            <m:e>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𝐴</m:t>
                                      </m:r>
                                    </m:e>
                                    <m:sub>
                                      <m:r>
                                        <a:rPr lang="en-US" i="1">
                                          <a:latin typeface="Cambria Math" panose="02040503050406030204" pitchFamily="18" charset="0"/>
                                        </a:rPr>
                                        <m:t>𝑘</m:t>
                                      </m:r>
                                    </m:sub>
                                  </m:sSub>
                                </m:num>
                                <m:den>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0">
                                              <a:latin typeface="Cambria Math" panose="02040503050406030204" pitchFamily="18" charset="0"/>
                                            </a:rPr>
                                            <m:t>1+</m:t>
                                          </m:r>
                                          <m:r>
                                            <a:rPr lang="en-US" i="1">
                                              <a:latin typeface="Cambria Math" panose="02040503050406030204" pitchFamily="18" charset="0"/>
                                            </a:rPr>
                                            <m:t>𝑟</m:t>
                                          </m:r>
                                        </m:e>
                                      </m:d>
                                    </m:e>
                                    <m:sup>
                                      <m:r>
                                        <a:rPr lang="en-US" i="1">
                                          <a:latin typeface="Cambria Math" panose="02040503050406030204" pitchFamily="18" charset="0"/>
                                        </a:rPr>
                                        <m:t>𝑘</m:t>
                                      </m:r>
                                    </m:sup>
                                  </m:sSup>
                                </m:den>
                              </m:f>
                            </m:e>
                          </m:nary>
                        </m:num>
                        <m:den>
                          <m:nary>
                            <m:naryPr>
                              <m:chr m:val="∑"/>
                              <m:limLoc m:val="subSup"/>
                              <m:grow m:val="on"/>
                              <m:ctrlPr>
                                <a:rPr lang="en-US" i="1">
                                  <a:latin typeface="Cambria Math" panose="02040503050406030204" pitchFamily="18" charset="0"/>
                                </a:rPr>
                              </m:ctrlPr>
                            </m:naryPr>
                            <m:sub>
                              <m:r>
                                <a:rPr lang="en-US" i="1">
                                  <a:latin typeface="Cambria Math" panose="02040503050406030204" pitchFamily="18" charset="0"/>
                                </a:rPr>
                                <m:t>𝑘</m:t>
                              </m:r>
                              <m:r>
                                <a:rPr lang="en-US" i="0">
                                  <a:latin typeface="Cambria Math" panose="02040503050406030204" pitchFamily="18" charset="0"/>
                                </a:rPr>
                                <m:t>=1</m:t>
                              </m:r>
                            </m:sub>
                            <m:sup>
                              <m:r>
                                <a:rPr lang="en-US" i="0">
                                  <a:latin typeface="Cambria Math" panose="02040503050406030204" pitchFamily="18" charset="0"/>
                                </a:rPr>
                                <m:t>20</m:t>
                              </m:r>
                            </m:sup>
                            <m:e>
                              <m:f>
                                <m:fPr>
                                  <m:ctrlPr>
                                    <a:rPr lang="en-US" i="1">
                                      <a:latin typeface="Cambria Math" panose="02040503050406030204" pitchFamily="18" charset="0"/>
                                    </a:rPr>
                                  </m:ctrlPr>
                                </m:fPr>
                                <m:num>
                                  <m:sSub>
                                    <m:sSubPr>
                                      <m:ctrlPr>
                                        <a:rPr lang="en-US" i="1">
                                          <a:latin typeface="Cambria Math" panose="02040503050406030204" pitchFamily="18" charset="0"/>
                                        </a:rPr>
                                      </m:ctrlPr>
                                    </m:sSubPr>
                                    <m:e>
                                      <m:r>
                                        <a:rPr lang="en-US" i="1">
                                          <a:latin typeface="Cambria Math" panose="02040503050406030204" pitchFamily="18" charset="0"/>
                                        </a:rPr>
                                        <m:t>𝐸</m:t>
                                      </m:r>
                                    </m:e>
                                    <m:sub>
                                      <m:r>
                                        <a:rPr lang="en-US" i="1">
                                          <a:latin typeface="Cambria Math" panose="02040503050406030204" pitchFamily="18" charset="0"/>
                                        </a:rPr>
                                        <m:t>𝑡</m:t>
                                      </m:r>
                                    </m:sub>
                                  </m:sSub>
                                </m:num>
                                <m:den>
                                  <m:sSup>
                                    <m:sSupPr>
                                      <m:ctrlPr>
                                        <a:rPr lang="en-US" i="1">
                                          <a:latin typeface="Cambria Math" panose="02040503050406030204" pitchFamily="18" charset="0"/>
                                        </a:rPr>
                                      </m:ctrlPr>
                                    </m:sSupPr>
                                    <m:e>
                                      <m:d>
                                        <m:dPr>
                                          <m:ctrlPr>
                                            <a:rPr lang="en-US" i="1">
                                              <a:latin typeface="Cambria Math" panose="02040503050406030204" pitchFamily="18" charset="0"/>
                                            </a:rPr>
                                          </m:ctrlPr>
                                        </m:dPr>
                                        <m:e>
                                          <m:r>
                                            <a:rPr lang="en-US" i="0">
                                              <a:latin typeface="Cambria Math" panose="02040503050406030204" pitchFamily="18" charset="0"/>
                                            </a:rPr>
                                            <m:t>1+</m:t>
                                          </m:r>
                                          <m:r>
                                            <a:rPr lang="en-US" i="1">
                                              <a:latin typeface="Cambria Math" panose="02040503050406030204" pitchFamily="18" charset="0"/>
                                            </a:rPr>
                                            <m:t>𝑟</m:t>
                                          </m:r>
                                        </m:e>
                                      </m:d>
                                    </m:e>
                                    <m:sup>
                                      <m:r>
                                        <a:rPr lang="en-US" i="1">
                                          <a:latin typeface="Cambria Math" panose="02040503050406030204" pitchFamily="18" charset="0"/>
                                        </a:rPr>
                                        <m:t>𝑘</m:t>
                                      </m:r>
                                    </m:sup>
                                  </m:sSup>
                                </m:den>
                              </m:f>
                            </m:e>
                          </m:nary>
                        </m:den>
                      </m:f>
                    </m:oMath>
                  </m:oMathPara>
                </a14:m>
                <a:endParaRPr lang="en-US" dirty="0"/>
              </a:p>
            </p:txBody>
          </p:sp>
        </mc:Choice>
        <mc:Fallback xmlns="">
          <p:sp>
            <p:nvSpPr>
              <p:cNvPr id="4" name="Rectangle 3"/>
              <p:cNvSpPr>
                <a:spLocks noRot="1" noChangeAspect="1" noMove="1" noResize="1" noEditPoints="1" noAdjustHandles="1" noChangeArrowheads="1" noChangeShapeType="1" noTextEdit="1"/>
              </p:cNvSpPr>
              <p:nvPr/>
            </p:nvSpPr>
            <p:spPr>
              <a:xfrm>
                <a:off x="3712491" y="4774368"/>
                <a:ext cx="4997202" cy="1716560"/>
              </a:xfrm>
              <a:prstGeom prst="rect">
                <a:avLst/>
              </a:prstGeom>
              <a:blipFill>
                <a:blip r:embed="rId2"/>
                <a:stretch>
                  <a:fillRect/>
                </a:stretch>
              </a:blipFill>
            </p:spPr>
            <p:txBody>
              <a:bodyPr/>
              <a:lstStyle/>
              <a:p>
                <a:r>
                  <a:rPr lang="en-US">
                    <a:noFill/>
                  </a:rPr>
                  <a:t> </a:t>
                </a:r>
              </a:p>
            </p:txBody>
          </p:sp>
        </mc:Fallback>
      </mc:AlternateContent>
      <p:graphicFrame>
        <p:nvGraphicFramePr>
          <p:cNvPr id="5" name="Table 4"/>
          <p:cNvGraphicFramePr>
            <a:graphicFrameLocks noGrp="1"/>
          </p:cNvGraphicFramePr>
          <p:nvPr>
            <p:extLst>
              <p:ext uri="{D42A27DB-BD31-4B8C-83A1-F6EECF244321}">
                <p14:modId xmlns:p14="http://schemas.microsoft.com/office/powerpoint/2010/main" val="2768170842"/>
              </p:ext>
            </p:extLst>
          </p:nvPr>
        </p:nvGraphicFramePr>
        <p:xfrm>
          <a:off x="2143125" y="1643062"/>
          <a:ext cx="8901113" cy="2783716"/>
        </p:xfrm>
        <a:graphic>
          <a:graphicData uri="http://schemas.openxmlformats.org/drawingml/2006/table">
            <a:tbl>
              <a:tblPr firstRow="1" firstCol="1" bandRow="1">
                <a:tableStyleId>{5C22544A-7EE6-4342-B048-85BDC9FD1C3A}</a:tableStyleId>
              </a:tblPr>
              <a:tblGrid>
                <a:gridCol w="3050281">
                  <a:extLst>
                    <a:ext uri="{9D8B030D-6E8A-4147-A177-3AD203B41FA5}">
                      <a16:colId xmlns:a16="http://schemas.microsoft.com/office/drawing/2014/main" val="3577495025"/>
                    </a:ext>
                  </a:extLst>
                </a:gridCol>
                <a:gridCol w="2194062">
                  <a:extLst>
                    <a:ext uri="{9D8B030D-6E8A-4147-A177-3AD203B41FA5}">
                      <a16:colId xmlns:a16="http://schemas.microsoft.com/office/drawing/2014/main" val="4110176305"/>
                    </a:ext>
                  </a:extLst>
                </a:gridCol>
                <a:gridCol w="1801628">
                  <a:extLst>
                    <a:ext uri="{9D8B030D-6E8A-4147-A177-3AD203B41FA5}">
                      <a16:colId xmlns:a16="http://schemas.microsoft.com/office/drawing/2014/main" val="882326588"/>
                    </a:ext>
                  </a:extLst>
                </a:gridCol>
                <a:gridCol w="1855142">
                  <a:extLst>
                    <a:ext uri="{9D8B030D-6E8A-4147-A177-3AD203B41FA5}">
                      <a16:colId xmlns:a16="http://schemas.microsoft.com/office/drawing/2014/main" val="2971125254"/>
                    </a:ext>
                  </a:extLst>
                </a:gridCol>
              </a:tblGrid>
              <a:tr h="1336866">
                <a:tc>
                  <a:txBody>
                    <a:bodyPr/>
                    <a:lstStyle/>
                    <a:p>
                      <a:pPr marL="0" marR="0" algn="ctr">
                        <a:lnSpc>
                          <a:spcPct val="150000"/>
                        </a:lnSpc>
                        <a:spcBef>
                          <a:spcPts val="0"/>
                        </a:spcBef>
                        <a:spcAft>
                          <a:spcPts val="0"/>
                        </a:spcAft>
                      </a:pPr>
                      <a:r>
                        <a:rPr lang="en-US" sz="1600" dirty="0">
                          <a:effectLst/>
                        </a:rPr>
                        <a:t>System</a:t>
                      </a:r>
                      <a:endParaRPr lang="en-US" sz="12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tc>
                <a:tc>
                  <a:txBody>
                    <a:bodyPr/>
                    <a:lstStyle/>
                    <a:p>
                      <a:pPr marL="0" marR="0" algn="ctr">
                        <a:lnSpc>
                          <a:spcPct val="150000"/>
                        </a:lnSpc>
                        <a:spcBef>
                          <a:spcPts val="0"/>
                        </a:spcBef>
                        <a:spcAft>
                          <a:spcPts val="0"/>
                        </a:spcAft>
                      </a:pPr>
                      <a:r>
                        <a:rPr lang="en-US" sz="1600" dirty="0">
                          <a:effectLst/>
                        </a:rPr>
                        <a:t>Initial Invest</a:t>
                      </a:r>
                      <a:endParaRPr lang="en-US" sz="1200" dirty="0">
                        <a:effectLst/>
                      </a:endParaRPr>
                    </a:p>
                    <a:p>
                      <a:pPr marL="0" marR="0" algn="ctr">
                        <a:lnSpc>
                          <a:spcPct val="150000"/>
                        </a:lnSpc>
                        <a:spcBef>
                          <a:spcPts val="0"/>
                        </a:spcBef>
                        <a:spcAft>
                          <a:spcPts val="0"/>
                        </a:spcAft>
                      </a:pPr>
                      <a:r>
                        <a:rPr lang="en-US" sz="1600" dirty="0">
                          <a:effectLst/>
                        </a:rPr>
                        <a:t>+Installation</a:t>
                      </a:r>
                      <a:endParaRPr lang="en-US" sz="12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tc>
                <a:tc>
                  <a:txBody>
                    <a:bodyPr/>
                    <a:lstStyle/>
                    <a:p>
                      <a:pPr marL="0" marR="0" algn="ctr">
                        <a:lnSpc>
                          <a:spcPct val="150000"/>
                        </a:lnSpc>
                        <a:spcBef>
                          <a:spcPts val="0"/>
                        </a:spcBef>
                        <a:spcAft>
                          <a:spcPts val="0"/>
                        </a:spcAft>
                      </a:pPr>
                      <a:r>
                        <a:rPr lang="en-US" sz="1600" dirty="0">
                          <a:effectLst/>
                        </a:rPr>
                        <a:t>Annual Energy cost($)</a:t>
                      </a:r>
                      <a:endParaRPr lang="en-US" sz="12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tc>
                <a:tc>
                  <a:txBody>
                    <a:bodyPr/>
                    <a:lstStyle/>
                    <a:p>
                      <a:pPr marL="0" marR="0" algn="ctr">
                        <a:lnSpc>
                          <a:spcPct val="150000"/>
                        </a:lnSpc>
                        <a:spcBef>
                          <a:spcPts val="0"/>
                        </a:spcBef>
                        <a:spcAft>
                          <a:spcPts val="0"/>
                        </a:spcAft>
                      </a:pPr>
                      <a:r>
                        <a:rPr lang="en-US" sz="1600">
                          <a:effectLst/>
                        </a:rPr>
                        <a:t>Annual Energy Production(kWh)</a:t>
                      </a:r>
                      <a:endParaRPr lang="en-US" sz="12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tc>
                <a:extLst>
                  <a:ext uri="{0D108BD9-81ED-4DB2-BD59-A6C34878D82A}">
                    <a16:rowId xmlns:a16="http://schemas.microsoft.com/office/drawing/2014/main" val="825722614"/>
                  </a:ext>
                </a:extLst>
              </a:tr>
              <a:tr h="723425">
                <a:tc>
                  <a:txBody>
                    <a:bodyPr/>
                    <a:lstStyle/>
                    <a:p>
                      <a:pPr marL="0" marR="0" algn="ctr">
                        <a:lnSpc>
                          <a:spcPct val="150000"/>
                        </a:lnSpc>
                        <a:spcBef>
                          <a:spcPts val="0"/>
                        </a:spcBef>
                        <a:spcAft>
                          <a:spcPts val="0"/>
                        </a:spcAft>
                      </a:pPr>
                      <a:r>
                        <a:rPr lang="en-US" sz="1600">
                          <a:effectLst/>
                        </a:rPr>
                        <a:t>Full Diesel</a:t>
                      </a:r>
                      <a:endParaRPr lang="en-US" sz="12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tc>
                <a:tc>
                  <a:txBody>
                    <a:bodyPr/>
                    <a:lstStyle/>
                    <a:p>
                      <a:pPr marL="0" marR="0" algn="ctr">
                        <a:lnSpc>
                          <a:spcPct val="150000"/>
                        </a:lnSpc>
                        <a:spcBef>
                          <a:spcPts val="0"/>
                        </a:spcBef>
                        <a:spcAft>
                          <a:spcPts val="0"/>
                        </a:spcAft>
                      </a:pPr>
                      <a:r>
                        <a:rPr lang="en-US" sz="1600" dirty="0">
                          <a:effectLst/>
                        </a:rPr>
                        <a:t>0</a:t>
                      </a:r>
                      <a:endParaRPr lang="en-US" sz="12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tc>
                <a:tc>
                  <a:txBody>
                    <a:bodyPr/>
                    <a:lstStyle/>
                    <a:p>
                      <a:pPr marL="0" marR="0" algn="ctr">
                        <a:lnSpc>
                          <a:spcPct val="150000"/>
                        </a:lnSpc>
                        <a:spcBef>
                          <a:spcPts val="0"/>
                        </a:spcBef>
                        <a:spcAft>
                          <a:spcPts val="0"/>
                        </a:spcAft>
                      </a:pPr>
                      <a:r>
                        <a:rPr lang="en-US" sz="1600" dirty="0">
                          <a:effectLst/>
                        </a:rPr>
                        <a:t>1500*electricity cost</a:t>
                      </a:r>
                      <a:endParaRPr lang="en-US" sz="12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tc>
                <a:tc>
                  <a:txBody>
                    <a:bodyPr/>
                    <a:lstStyle/>
                    <a:p>
                      <a:pPr marL="0" marR="0" algn="ctr">
                        <a:lnSpc>
                          <a:spcPct val="150000"/>
                        </a:lnSpc>
                        <a:spcBef>
                          <a:spcPts val="0"/>
                        </a:spcBef>
                        <a:spcAft>
                          <a:spcPts val="0"/>
                        </a:spcAft>
                      </a:pPr>
                      <a:r>
                        <a:rPr lang="en-US" sz="1600" dirty="0">
                          <a:effectLst/>
                        </a:rPr>
                        <a:t>1500</a:t>
                      </a:r>
                      <a:endParaRPr lang="en-US" sz="12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tc>
                <a:extLst>
                  <a:ext uri="{0D108BD9-81ED-4DB2-BD59-A6C34878D82A}">
                    <a16:rowId xmlns:a16="http://schemas.microsoft.com/office/drawing/2014/main" val="2738281954"/>
                  </a:ext>
                </a:extLst>
              </a:tr>
              <a:tr h="723425">
                <a:tc>
                  <a:txBody>
                    <a:bodyPr/>
                    <a:lstStyle/>
                    <a:p>
                      <a:pPr marL="0" marR="0" algn="ctr">
                        <a:lnSpc>
                          <a:spcPct val="150000"/>
                        </a:lnSpc>
                        <a:spcBef>
                          <a:spcPts val="0"/>
                        </a:spcBef>
                        <a:spcAft>
                          <a:spcPts val="0"/>
                        </a:spcAft>
                      </a:pPr>
                      <a:r>
                        <a:rPr lang="en-US" sz="1600">
                          <a:effectLst/>
                        </a:rPr>
                        <a:t>Half Diesel Half PV</a:t>
                      </a:r>
                      <a:endParaRPr lang="en-US" sz="12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tc>
                <a:tc>
                  <a:txBody>
                    <a:bodyPr/>
                    <a:lstStyle/>
                    <a:p>
                      <a:pPr marL="0" marR="0" algn="ctr">
                        <a:lnSpc>
                          <a:spcPct val="150000"/>
                        </a:lnSpc>
                        <a:spcBef>
                          <a:spcPts val="0"/>
                        </a:spcBef>
                        <a:spcAft>
                          <a:spcPts val="0"/>
                        </a:spcAft>
                      </a:pPr>
                      <a:r>
                        <a:rPr lang="en-US" sz="1600">
                          <a:effectLst/>
                        </a:rPr>
                        <a:t>1000</a:t>
                      </a:r>
                      <a:endParaRPr lang="en-US" sz="12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tc>
                <a:tc>
                  <a:txBody>
                    <a:bodyPr/>
                    <a:lstStyle/>
                    <a:p>
                      <a:pPr marL="0" marR="0" algn="ctr">
                        <a:lnSpc>
                          <a:spcPct val="150000"/>
                        </a:lnSpc>
                        <a:spcBef>
                          <a:spcPts val="0"/>
                        </a:spcBef>
                        <a:spcAft>
                          <a:spcPts val="0"/>
                        </a:spcAft>
                      </a:pPr>
                      <a:r>
                        <a:rPr lang="en-US" sz="1600">
                          <a:effectLst/>
                        </a:rPr>
                        <a:t>840*electricity cost</a:t>
                      </a:r>
                      <a:endParaRPr lang="en-US" sz="12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tc>
                <a:tc>
                  <a:txBody>
                    <a:bodyPr/>
                    <a:lstStyle/>
                    <a:p>
                      <a:pPr marL="0" marR="0" algn="ctr">
                        <a:lnSpc>
                          <a:spcPct val="150000"/>
                        </a:lnSpc>
                        <a:spcBef>
                          <a:spcPts val="0"/>
                        </a:spcBef>
                        <a:spcAft>
                          <a:spcPts val="0"/>
                        </a:spcAft>
                      </a:pPr>
                      <a:r>
                        <a:rPr lang="en-US" sz="1600" dirty="0">
                          <a:effectLst/>
                        </a:rPr>
                        <a:t>1680</a:t>
                      </a:r>
                      <a:endParaRPr lang="en-US" sz="12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tc>
                <a:extLst>
                  <a:ext uri="{0D108BD9-81ED-4DB2-BD59-A6C34878D82A}">
                    <a16:rowId xmlns:a16="http://schemas.microsoft.com/office/drawing/2014/main" val="3919428109"/>
                  </a:ext>
                </a:extLst>
              </a:tr>
            </a:tbl>
          </a:graphicData>
        </a:graphic>
      </p:graphicFrame>
    </p:spTree>
    <p:extLst>
      <p:ext uri="{BB962C8B-B14F-4D97-AF65-F5344CB8AC3E}">
        <p14:creationId xmlns:p14="http://schemas.microsoft.com/office/powerpoint/2010/main" val="299946841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Energy Cost Cash Flows and NPV</a:t>
            </a:r>
          </a:p>
        </p:txBody>
      </p:sp>
      <p:pic>
        <p:nvPicPr>
          <p:cNvPr id="6" name="Picture 5"/>
          <p:cNvPicPr/>
          <p:nvPr/>
        </p:nvPicPr>
        <p:blipFill>
          <a:blip r:embed="rId2">
            <a:extLst>
              <a:ext uri="{28A0092B-C50C-407E-A947-70E740481C1C}">
                <a14:useLocalDpi xmlns:a14="http://schemas.microsoft.com/office/drawing/2010/main" val="0"/>
              </a:ext>
            </a:extLst>
          </a:blip>
          <a:srcRect/>
          <a:stretch>
            <a:fillRect/>
          </a:stretch>
        </p:blipFill>
        <p:spPr bwMode="auto">
          <a:xfrm>
            <a:off x="2592925" y="1532255"/>
            <a:ext cx="6819900" cy="1068070"/>
          </a:xfrm>
          <a:prstGeom prst="rect">
            <a:avLst/>
          </a:prstGeom>
          <a:noFill/>
          <a:ln>
            <a:noFill/>
          </a:ln>
        </p:spPr>
      </p:pic>
      <p:pic>
        <p:nvPicPr>
          <p:cNvPr id="7" name="Picture 6"/>
          <p:cNvPicPr/>
          <p:nvPr/>
        </p:nvPicPr>
        <p:blipFill>
          <a:blip r:embed="rId3">
            <a:extLst>
              <a:ext uri="{28A0092B-C50C-407E-A947-70E740481C1C}">
                <a14:useLocalDpi xmlns:a14="http://schemas.microsoft.com/office/drawing/2010/main" val="0"/>
              </a:ext>
            </a:extLst>
          </a:blip>
          <a:srcRect/>
          <a:stretch>
            <a:fillRect/>
          </a:stretch>
        </p:blipFill>
        <p:spPr bwMode="auto">
          <a:xfrm>
            <a:off x="2592925" y="2573655"/>
            <a:ext cx="6819900" cy="934815"/>
          </a:xfrm>
          <a:prstGeom prst="rect">
            <a:avLst/>
          </a:prstGeom>
          <a:noFill/>
          <a:ln>
            <a:noFill/>
          </a:ln>
        </p:spPr>
      </p:pic>
      <p:pic>
        <p:nvPicPr>
          <p:cNvPr id="8" name="Picture 7"/>
          <p:cNvPicPr/>
          <p:nvPr/>
        </p:nvPicPr>
        <p:blipFill>
          <a:blip r:embed="rId4">
            <a:extLst>
              <a:ext uri="{28A0092B-C50C-407E-A947-70E740481C1C}">
                <a14:useLocalDpi xmlns:a14="http://schemas.microsoft.com/office/drawing/2010/main" val="0"/>
              </a:ext>
            </a:extLst>
          </a:blip>
          <a:srcRect/>
          <a:stretch>
            <a:fillRect/>
          </a:stretch>
        </p:blipFill>
        <p:spPr bwMode="auto">
          <a:xfrm>
            <a:off x="2592925" y="3919124"/>
            <a:ext cx="6819900" cy="838613"/>
          </a:xfrm>
          <a:prstGeom prst="rect">
            <a:avLst/>
          </a:prstGeom>
          <a:noFill/>
          <a:ln>
            <a:noFill/>
          </a:ln>
        </p:spPr>
      </p:pic>
      <p:pic>
        <p:nvPicPr>
          <p:cNvPr id="9" name="Picture 8"/>
          <p:cNvPicPr/>
          <p:nvPr/>
        </p:nvPicPr>
        <p:blipFill>
          <a:blip r:embed="rId5">
            <a:extLst>
              <a:ext uri="{28A0092B-C50C-407E-A947-70E740481C1C}">
                <a14:useLocalDpi xmlns:a14="http://schemas.microsoft.com/office/drawing/2010/main" val="0"/>
              </a:ext>
            </a:extLst>
          </a:blip>
          <a:srcRect/>
          <a:stretch>
            <a:fillRect/>
          </a:stretch>
        </p:blipFill>
        <p:spPr bwMode="auto">
          <a:xfrm>
            <a:off x="2592925" y="4757737"/>
            <a:ext cx="6819900" cy="842963"/>
          </a:xfrm>
          <a:prstGeom prst="rect">
            <a:avLst/>
          </a:prstGeom>
          <a:noFill/>
          <a:ln>
            <a:noFill/>
          </a:ln>
        </p:spPr>
      </p:pic>
    </p:spTree>
    <p:extLst>
      <p:ext uri="{BB962C8B-B14F-4D97-AF65-F5344CB8AC3E}">
        <p14:creationId xmlns:p14="http://schemas.microsoft.com/office/powerpoint/2010/main" val="419887362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Energy produced including interest</a:t>
            </a:r>
          </a:p>
        </p:txBody>
      </p:sp>
      <p:pic>
        <p:nvPicPr>
          <p:cNvPr id="6" name="Picture 5"/>
          <p:cNvPicPr/>
          <p:nvPr/>
        </p:nvPicPr>
        <p:blipFill>
          <a:blip r:embed="rId2">
            <a:extLst>
              <a:ext uri="{28A0092B-C50C-407E-A947-70E740481C1C}">
                <a14:useLocalDpi xmlns:a14="http://schemas.microsoft.com/office/drawing/2010/main" val="0"/>
              </a:ext>
            </a:extLst>
          </a:blip>
          <a:srcRect/>
          <a:stretch>
            <a:fillRect/>
          </a:stretch>
        </p:blipFill>
        <p:spPr bwMode="auto">
          <a:xfrm>
            <a:off x="2592924" y="1727518"/>
            <a:ext cx="8794214" cy="1430020"/>
          </a:xfrm>
          <a:prstGeom prst="rect">
            <a:avLst/>
          </a:prstGeom>
          <a:noFill/>
          <a:ln>
            <a:noFill/>
          </a:ln>
        </p:spPr>
      </p:pic>
      <p:pic>
        <p:nvPicPr>
          <p:cNvPr id="7" name="Picture 6"/>
          <p:cNvPicPr/>
          <p:nvPr/>
        </p:nvPicPr>
        <p:blipFill>
          <a:blip r:embed="rId3">
            <a:extLst>
              <a:ext uri="{28A0092B-C50C-407E-A947-70E740481C1C}">
                <a14:useLocalDpi xmlns:a14="http://schemas.microsoft.com/office/drawing/2010/main" val="0"/>
              </a:ext>
            </a:extLst>
          </a:blip>
          <a:srcRect/>
          <a:stretch>
            <a:fillRect/>
          </a:stretch>
        </p:blipFill>
        <p:spPr bwMode="auto">
          <a:xfrm>
            <a:off x="2592922" y="3157538"/>
            <a:ext cx="8794215" cy="1103408"/>
          </a:xfrm>
          <a:prstGeom prst="rect">
            <a:avLst/>
          </a:prstGeom>
          <a:noFill/>
          <a:ln>
            <a:noFill/>
          </a:ln>
        </p:spPr>
      </p:pic>
    </p:spTree>
    <p:extLst>
      <p:ext uri="{BB962C8B-B14F-4D97-AF65-F5344CB8AC3E}">
        <p14:creationId xmlns:p14="http://schemas.microsoft.com/office/powerpoint/2010/main" val="118893805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Levelised</a:t>
            </a:r>
            <a:r>
              <a:rPr lang="en-US" dirty="0"/>
              <a:t> Cost of Electricity</a:t>
            </a:r>
          </a:p>
        </p:txBody>
      </p:sp>
      <p:graphicFrame>
        <p:nvGraphicFramePr>
          <p:cNvPr id="4" name="Table 3"/>
          <p:cNvGraphicFramePr>
            <a:graphicFrameLocks noGrp="1"/>
          </p:cNvGraphicFramePr>
          <p:nvPr>
            <p:extLst>
              <p:ext uri="{D42A27DB-BD31-4B8C-83A1-F6EECF244321}">
                <p14:modId xmlns:p14="http://schemas.microsoft.com/office/powerpoint/2010/main" val="261265255"/>
              </p:ext>
            </p:extLst>
          </p:nvPr>
        </p:nvGraphicFramePr>
        <p:xfrm>
          <a:off x="3000376" y="1905000"/>
          <a:ext cx="6943724" cy="2095500"/>
        </p:xfrm>
        <a:graphic>
          <a:graphicData uri="http://schemas.openxmlformats.org/drawingml/2006/table">
            <a:tbl>
              <a:tblPr firstRow="1" firstCol="1" bandRow="1">
                <a:tableStyleId>{5C22544A-7EE6-4342-B048-85BDC9FD1C3A}</a:tableStyleId>
              </a:tblPr>
              <a:tblGrid>
                <a:gridCol w="2352596">
                  <a:extLst>
                    <a:ext uri="{9D8B030D-6E8A-4147-A177-3AD203B41FA5}">
                      <a16:colId xmlns:a16="http://schemas.microsoft.com/office/drawing/2014/main" val="185284798"/>
                    </a:ext>
                  </a:extLst>
                </a:gridCol>
                <a:gridCol w="1753754">
                  <a:extLst>
                    <a:ext uri="{9D8B030D-6E8A-4147-A177-3AD203B41FA5}">
                      <a16:colId xmlns:a16="http://schemas.microsoft.com/office/drawing/2014/main" val="883184600"/>
                    </a:ext>
                  </a:extLst>
                </a:gridCol>
                <a:gridCol w="1354526">
                  <a:extLst>
                    <a:ext uri="{9D8B030D-6E8A-4147-A177-3AD203B41FA5}">
                      <a16:colId xmlns:a16="http://schemas.microsoft.com/office/drawing/2014/main" val="2429101790"/>
                    </a:ext>
                  </a:extLst>
                </a:gridCol>
                <a:gridCol w="1482848">
                  <a:extLst>
                    <a:ext uri="{9D8B030D-6E8A-4147-A177-3AD203B41FA5}">
                      <a16:colId xmlns:a16="http://schemas.microsoft.com/office/drawing/2014/main" val="2086102177"/>
                    </a:ext>
                  </a:extLst>
                </a:gridCol>
              </a:tblGrid>
              <a:tr h="698372">
                <a:tc>
                  <a:txBody>
                    <a:bodyPr/>
                    <a:lstStyle/>
                    <a:p>
                      <a:pPr marL="0" marR="0">
                        <a:lnSpc>
                          <a:spcPct val="150000"/>
                        </a:lnSpc>
                        <a:spcBef>
                          <a:spcPts val="0"/>
                        </a:spcBef>
                        <a:spcAft>
                          <a:spcPts val="0"/>
                        </a:spcAft>
                      </a:pPr>
                      <a:r>
                        <a:rPr lang="en-US" sz="1600">
                          <a:effectLst/>
                        </a:rPr>
                        <a:t>System</a:t>
                      </a:r>
                      <a:endParaRPr lang="en-US" sz="12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tc>
                <a:tc>
                  <a:txBody>
                    <a:bodyPr/>
                    <a:lstStyle/>
                    <a:p>
                      <a:pPr marL="0" marR="0">
                        <a:lnSpc>
                          <a:spcPct val="150000"/>
                        </a:lnSpc>
                        <a:spcBef>
                          <a:spcPts val="0"/>
                        </a:spcBef>
                        <a:spcAft>
                          <a:spcPts val="0"/>
                        </a:spcAft>
                      </a:pPr>
                      <a:r>
                        <a:rPr lang="en-US" sz="1600">
                          <a:effectLst/>
                        </a:rPr>
                        <a:t>Sum Cost</a:t>
                      </a:r>
                      <a:endParaRPr lang="en-US" sz="12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tc>
                <a:tc>
                  <a:txBody>
                    <a:bodyPr/>
                    <a:lstStyle/>
                    <a:p>
                      <a:pPr marL="0" marR="0">
                        <a:lnSpc>
                          <a:spcPct val="150000"/>
                        </a:lnSpc>
                        <a:spcBef>
                          <a:spcPts val="0"/>
                        </a:spcBef>
                        <a:spcAft>
                          <a:spcPts val="0"/>
                        </a:spcAft>
                      </a:pPr>
                      <a:r>
                        <a:rPr lang="en-US" sz="1600">
                          <a:effectLst/>
                        </a:rPr>
                        <a:t>Sum Energy</a:t>
                      </a:r>
                      <a:endParaRPr lang="en-US" sz="12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tc>
                <a:tc>
                  <a:txBody>
                    <a:bodyPr/>
                    <a:lstStyle/>
                    <a:p>
                      <a:pPr marL="0" marR="0">
                        <a:lnSpc>
                          <a:spcPct val="150000"/>
                        </a:lnSpc>
                        <a:spcBef>
                          <a:spcPts val="0"/>
                        </a:spcBef>
                        <a:spcAft>
                          <a:spcPts val="0"/>
                        </a:spcAft>
                      </a:pPr>
                      <a:r>
                        <a:rPr lang="en-US" sz="1600">
                          <a:effectLst/>
                        </a:rPr>
                        <a:t>LCOE($/kWh)</a:t>
                      </a:r>
                      <a:endParaRPr lang="en-US" sz="12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tc>
                <a:extLst>
                  <a:ext uri="{0D108BD9-81ED-4DB2-BD59-A6C34878D82A}">
                    <a16:rowId xmlns:a16="http://schemas.microsoft.com/office/drawing/2014/main" val="550653177"/>
                  </a:ext>
                </a:extLst>
              </a:tr>
              <a:tr h="698564">
                <a:tc>
                  <a:txBody>
                    <a:bodyPr/>
                    <a:lstStyle/>
                    <a:p>
                      <a:pPr marL="0" marR="0">
                        <a:lnSpc>
                          <a:spcPct val="150000"/>
                        </a:lnSpc>
                        <a:spcBef>
                          <a:spcPts val="0"/>
                        </a:spcBef>
                        <a:spcAft>
                          <a:spcPts val="0"/>
                        </a:spcAft>
                      </a:pPr>
                      <a:r>
                        <a:rPr lang="en-US" sz="1600">
                          <a:effectLst/>
                        </a:rPr>
                        <a:t>Full Diesel</a:t>
                      </a:r>
                      <a:endParaRPr lang="en-US" sz="12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tc>
                <a:tc>
                  <a:txBody>
                    <a:bodyPr/>
                    <a:lstStyle/>
                    <a:p>
                      <a:pPr marL="0" marR="0" algn="r">
                        <a:lnSpc>
                          <a:spcPct val="150000"/>
                        </a:lnSpc>
                        <a:spcBef>
                          <a:spcPts val="0"/>
                        </a:spcBef>
                        <a:spcAft>
                          <a:spcPts val="0"/>
                        </a:spcAft>
                      </a:pPr>
                      <a:r>
                        <a:rPr lang="en-US" sz="1600">
                          <a:effectLst/>
                        </a:rPr>
                        <a:t>5538.754778</a:t>
                      </a:r>
                      <a:endParaRPr lang="en-US" sz="12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tc>
                <a:tc>
                  <a:txBody>
                    <a:bodyPr/>
                    <a:lstStyle/>
                    <a:p>
                      <a:pPr marL="0" marR="0" algn="r">
                        <a:lnSpc>
                          <a:spcPct val="150000"/>
                        </a:lnSpc>
                        <a:spcBef>
                          <a:spcPts val="0"/>
                        </a:spcBef>
                        <a:spcAft>
                          <a:spcPts val="0"/>
                        </a:spcAft>
                      </a:pPr>
                      <a:r>
                        <a:rPr lang="en-US" sz="1600">
                          <a:effectLst/>
                        </a:rPr>
                        <a:t>27300.79291</a:t>
                      </a:r>
                      <a:endParaRPr lang="en-US" sz="12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tc>
                <a:tc>
                  <a:txBody>
                    <a:bodyPr/>
                    <a:lstStyle/>
                    <a:p>
                      <a:pPr marL="0" marR="0" algn="r">
                        <a:lnSpc>
                          <a:spcPct val="150000"/>
                        </a:lnSpc>
                        <a:spcBef>
                          <a:spcPts val="0"/>
                        </a:spcBef>
                        <a:spcAft>
                          <a:spcPts val="0"/>
                        </a:spcAft>
                      </a:pPr>
                      <a:r>
                        <a:rPr lang="en-US" sz="1600" dirty="0">
                          <a:effectLst/>
                        </a:rPr>
                        <a:t>0.202878898</a:t>
                      </a:r>
                      <a:endParaRPr lang="en-US" sz="12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tc>
                <a:extLst>
                  <a:ext uri="{0D108BD9-81ED-4DB2-BD59-A6C34878D82A}">
                    <a16:rowId xmlns:a16="http://schemas.microsoft.com/office/drawing/2014/main" val="309614144"/>
                  </a:ext>
                </a:extLst>
              </a:tr>
              <a:tr h="698564">
                <a:tc>
                  <a:txBody>
                    <a:bodyPr/>
                    <a:lstStyle/>
                    <a:p>
                      <a:pPr marL="0" marR="0">
                        <a:lnSpc>
                          <a:spcPct val="150000"/>
                        </a:lnSpc>
                        <a:spcBef>
                          <a:spcPts val="0"/>
                        </a:spcBef>
                        <a:spcAft>
                          <a:spcPts val="0"/>
                        </a:spcAft>
                      </a:pPr>
                      <a:r>
                        <a:rPr lang="en-US" sz="1600">
                          <a:effectLst/>
                        </a:rPr>
                        <a:t>Half Diesel Half PV</a:t>
                      </a:r>
                      <a:endParaRPr lang="en-US" sz="12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tc>
                <a:tc>
                  <a:txBody>
                    <a:bodyPr/>
                    <a:lstStyle/>
                    <a:p>
                      <a:pPr marL="0" marR="0" algn="r">
                        <a:lnSpc>
                          <a:spcPct val="150000"/>
                        </a:lnSpc>
                        <a:spcBef>
                          <a:spcPts val="0"/>
                        </a:spcBef>
                        <a:spcAft>
                          <a:spcPts val="0"/>
                        </a:spcAft>
                      </a:pPr>
                      <a:r>
                        <a:rPr lang="en-US" sz="1600">
                          <a:effectLst/>
                        </a:rPr>
                        <a:t>4101.702676</a:t>
                      </a:r>
                      <a:endParaRPr lang="en-US" sz="12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tc>
                <a:tc>
                  <a:txBody>
                    <a:bodyPr/>
                    <a:lstStyle/>
                    <a:p>
                      <a:pPr marL="0" marR="0" algn="r">
                        <a:lnSpc>
                          <a:spcPct val="150000"/>
                        </a:lnSpc>
                        <a:spcBef>
                          <a:spcPts val="0"/>
                        </a:spcBef>
                        <a:spcAft>
                          <a:spcPts val="0"/>
                        </a:spcAft>
                      </a:pPr>
                      <a:r>
                        <a:rPr lang="en-US" sz="1600">
                          <a:effectLst/>
                        </a:rPr>
                        <a:t>30576.88806</a:t>
                      </a:r>
                      <a:endParaRPr lang="en-US" sz="120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tc>
                <a:tc>
                  <a:txBody>
                    <a:bodyPr/>
                    <a:lstStyle/>
                    <a:p>
                      <a:pPr marL="0" marR="0" algn="r">
                        <a:lnSpc>
                          <a:spcPct val="150000"/>
                        </a:lnSpc>
                        <a:spcBef>
                          <a:spcPts val="0"/>
                        </a:spcBef>
                        <a:spcAft>
                          <a:spcPts val="0"/>
                        </a:spcAft>
                      </a:pPr>
                      <a:r>
                        <a:rPr lang="en-US" sz="1600" dirty="0">
                          <a:effectLst/>
                        </a:rPr>
                        <a:t>0.134143889</a:t>
                      </a:r>
                      <a:endParaRPr lang="en-US" sz="1200" dirty="0">
                        <a:effectLst/>
                        <a:latin typeface="Calibri" panose="020F0502020204030204" pitchFamily="34" charset="0"/>
                        <a:ea typeface="Calibri" panose="020F0502020204030204" pitchFamily="34" charset="0"/>
                        <a:cs typeface="Arial" panose="020B0604020202020204" pitchFamily="34" charset="0"/>
                      </a:endParaRPr>
                    </a:p>
                  </a:txBody>
                  <a:tcPr marL="68580" marR="68580" marT="0" marB="0" anchor="b"/>
                </a:tc>
                <a:extLst>
                  <a:ext uri="{0D108BD9-81ED-4DB2-BD59-A6C34878D82A}">
                    <a16:rowId xmlns:a16="http://schemas.microsoft.com/office/drawing/2014/main" val="2414436842"/>
                  </a:ext>
                </a:extLst>
              </a:tr>
            </a:tbl>
          </a:graphicData>
        </a:graphic>
      </p:graphicFrame>
      <mc:AlternateContent xmlns:mc="http://schemas.openxmlformats.org/markup-compatibility/2006" xmlns:a14="http://schemas.microsoft.com/office/drawing/2010/main">
        <mc:Choice Requires="a14">
          <p:sp>
            <p:nvSpPr>
              <p:cNvPr id="5" name="TextBox 4"/>
              <p:cNvSpPr txBox="1"/>
              <p:nvPr/>
            </p:nvSpPr>
            <p:spPr>
              <a:xfrm>
                <a:off x="4129088" y="4414838"/>
                <a:ext cx="4243387" cy="39158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𝐿𝐶𝑂</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𝐸</m:t>
                          </m:r>
                        </m:e>
                        <m:sub>
                          <m:r>
                            <a:rPr lang="en-US" b="0" i="1" smtClean="0">
                              <a:latin typeface="Cambria Math" panose="02040503050406030204" pitchFamily="18" charset="0"/>
                            </a:rPr>
                            <m:t>h𝑎𝑙𝑓</m:t>
                          </m:r>
                          <m:r>
                            <a:rPr lang="en-US" b="0" i="1" smtClean="0">
                              <a:latin typeface="Cambria Math" panose="02040503050406030204" pitchFamily="18" charset="0"/>
                            </a:rPr>
                            <m:t> </m:t>
                          </m:r>
                          <m:r>
                            <a:rPr lang="en-US" b="0" i="1" smtClean="0">
                              <a:latin typeface="Cambria Math" panose="02040503050406030204" pitchFamily="18" charset="0"/>
                            </a:rPr>
                            <m:t>𝑑𝑖𝑒𝑠𝑒𝑙</m:t>
                          </m:r>
                          <m:r>
                            <a:rPr lang="en-US" b="0" i="1" smtClean="0">
                              <a:latin typeface="Cambria Math" panose="02040503050406030204" pitchFamily="18" charset="0"/>
                            </a:rPr>
                            <m:t> </m:t>
                          </m:r>
                          <m:r>
                            <a:rPr lang="en-US" b="0" i="1" smtClean="0">
                              <a:latin typeface="Cambria Math" panose="02040503050406030204" pitchFamily="18" charset="0"/>
                            </a:rPr>
                            <m:t>h𝑎𝑙𝑓</m:t>
                          </m:r>
                          <m:r>
                            <a:rPr lang="en-US" b="0" i="1" smtClean="0">
                              <a:latin typeface="Cambria Math" panose="02040503050406030204" pitchFamily="18" charset="0"/>
                            </a:rPr>
                            <m:t> </m:t>
                          </m:r>
                          <m:r>
                            <a:rPr lang="en-US" b="0" i="1" smtClean="0">
                              <a:latin typeface="Cambria Math" panose="02040503050406030204" pitchFamily="18" charset="0"/>
                            </a:rPr>
                            <m:t>𝑃𝑉</m:t>
                          </m:r>
                        </m:sub>
                      </m:sSub>
                      <m:r>
                        <a:rPr lang="en-US" b="0" i="1" smtClean="0">
                          <a:latin typeface="Cambria Math" panose="02040503050406030204" pitchFamily="18" charset="0"/>
                        </a:rPr>
                        <m:t>&lt;</m:t>
                      </m:r>
                      <m:r>
                        <a:rPr lang="en-US" b="0" i="1" smtClean="0">
                          <a:latin typeface="Cambria Math" panose="02040503050406030204" pitchFamily="18" charset="0"/>
                        </a:rPr>
                        <m:t>𝐿𝐶𝑂</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𝐸</m:t>
                          </m:r>
                        </m:e>
                        <m:sub>
                          <m:r>
                            <a:rPr lang="en-US" b="0" i="1" smtClean="0">
                              <a:latin typeface="Cambria Math" panose="02040503050406030204" pitchFamily="18" charset="0"/>
                            </a:rPr>
                            <m:t>𝑓𝑢𝑙𝑙</m:t>
                          </m:r>
                          <m:r>
                            <a:rPr lang="en-US" b="0" i="1" smtClean="0">
                              <a:latin typeface="Cambria Math" panose="02040503050406030204" pitchFamily="18" charset="0"/>
                            </a:rPr>
                            <m:t> </m:t>
                          </m:r>
                          <m:r>
                            <a:rPr lang="en-US" b="0" i="1" smtClean="0">
                              <a:latin typeface="Cambria Math" panose="02040503050406030204" pitchFamily="18" charset="0"/>
                            </a:rPr>
                            <m:t>𝑑𝑖𝑒𝑠𝑒𝑙</m:t>
                          </m:r>
                        </m:sub>
                      </m:sSub>
                      <m:r>
                        <a:rPr lang="en-US" b="0" i="1" smtClean="0">
                          <a:latin typeface="Cambria Math" panose="02040503050406030204" pitchFamily="18" charset="0"/>
                        </a:rPr>
                        <m:t> </m:t>
                      </m:r>
                    </m:oMath>
                  </m:oMathPara>
                </a14:m>
                <a:endParaRPr lang="en-US" dirty="0"/>
              </a:p>
            </p:txBody>
          </p:sp>
        </mc:Choice>
        <mc:Fallback xmlns="">
          <p:sp>
            <p:nvSpPr>
              <p:cNvPr id="5" name="TextBox 4"/>
              <p:cNvSpPr txBox="1">
                <a:spLocks noRot="1" noChangeAspect="1" noMove="1" noResize="1" noEditPoints="1" noAdjustHandles="1" noChangeArrowheads="1" noChangeShapeType="1" noTextEdit="1"/>
              </p:cNvSpPr>
              <p:nvPr/>
            </p:nvSpPr>
            <p:spPr>
              <a:xfrm>
                <a:off x="4129088" y="4414838"/>
                <a:ext cx="4243387" cy="391582"/>
              </a:xfrm>
              <a:prstGeom prst="rect">
                <a:avLst/>
              </a:prstGeom>
              <a:blipFill>
                <a:blip r:embed="rId2"/>
                <a:stretch>
                  <a:fillRect b="-10938"/>
                </a:stretch>
              </a:blipFill>
            </p:spPr>
            <p:txBody>
              <a:bodyPr/>
              <a:lstStyle/>
              <a:p>
                <a:r>
                  <a:rPr lang="en-US">
                    <a:noFill/>
                  </a:rPr>
                  <a:t> </a:t>
                </a:r>
              </a:p>
            </p:txBody>
          </p:sp>
        </mc:Fallback>
      </mc:AlternateContent>
      <p:sp>
        <p:nvSpPr>
          <p:cNvPr id="6" name="TextBox 5"/>
          <p:cNvSpPr txBox="1"/>
          <p:nvPr/>
        </p:nvSpPr>
        <p:spPr>
          <a:xfrm>
            <a:off x="4129087" y="5281390"/>
            <a:ext cx="4243387" cy="646331"/>
          </a:xfrm>
          <a:prstGeom prst="rect">
            <a:avLst/>
          </a:prstGeom>
          <a:noFill/>
        </p:spPr>
        <p:txBody>
          <a:bodyPr wrap="square" rtlCol="0">
            <a:spAutoFit/>
          </a:bodyPr>
          <a:lstStyle/>
          <a:p>
            <a:r>
              <a:rPr lang="en-US" dirty="0">
                <a:sym typeface="Wingdings" panose="05000000000000000000" pitchFamily="2" charset="2"/>
              </a:rPr>
              <a:t> Encouraging the use of the CCDV system based on cost of electricity.</a:t>
            </a:r>
            <a:endParaRPr lang="en-US" dirty="0"/>
          </a:p>
        </p:txBody>
      </p:sp>
    </p:spTree>
    <p:extLst>
      <p:ext uri="{BB962C8B-B14F-4D97-AF65-F5344CB8AC3E}">
        <p14:creationId xmlns:p14="http://schemas.microsoft.com/office/powerpoint/2010/main" val="206787660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Final Decision</a:t>
            </a:r>
          </a:p>
        </p:txBody>
      </p:sp>
      <p:sp>
        <p:nvSpPr>
          <p:cNvPr id="3" name="Content Placeholder 2"/>
          <p:cNvSpPr>
            <a:spLocks noGrp="1"/>
          </p:cNvSpPr>
          <p:nvPr>
            <p:ph idx="1"/>
          </p:nvPr>
        </p:nvSpPr>
        <p:spPr/>
        <p:txBody>
          <a:bodyPr/>
          <a:lstStyle/>
          <a:p>
            <a:r>
              <a:rPr lang="en-US" dirty="0"/>
              <a:t>All methods of analysis either CER, IRR, benefit-cost, or electricity cost indicate that the better HVAC system to be used is the CCDV system in this problem.</a:t>
            </a:r>
          </a:p>
        </p:txBody>
      </p:sp>
      <p:sp>
        <p:nvSpPr>
          <p:cNvPr id="4" name="Oval 3"/>
          <p:cNvSpPr/>
          <p:nvPr/>
        </p:nvSpPr>
        <p:spPr>
          <a:xfrm>
            <a:off x="4638502" y="3108960"/>
            <a:ext cx="4946073" cy="1837113"/>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CCDV &gt; Mixed-Mode</a:t>
            </a:r>
          </a:p>
        </p:txBody>
      </p:sp>
    </p:spTree>
    <p:extLst>
      <p:ext uri="{BB962C8B-B14F-4D97-AF65-F5344CB8AC3E}">
        <p14:creationId xmlns:p14="http://schemas.microsoft.com/office/powerpoint/2010/main" val="300260732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FF999D9-4160-AA21-CFF3-9EC6D8E61E0D}"/>
              </a:ext>
            </a:extLst>
          </p:cNvPr>
          <p:cNvSpPr txBox="1"/>
          <p:nvPr/>
        </p:nvSpPr>
        <p:spPr>
          <a:xfrm>
            <a:off x="2550160" y="2828835"/>
            <a:ext cx="7762240" cy="1200329"/>
          </a:xfrm>
          <a:prstGeom prst="rect">
            <a:avLst/>
          </a:prstGeom>
          <a:noFill/>
        </p:spPr>
        <p:txBody>
          <a:bodyPr wrap="square" rtlCol="0">
            <a:spAutoFit/>
          </a:bodyPr>
          <a:lstStyle/>
          <a:p>
            <a:pPr algn="ctr"/>
            <a:r>
              <a:rPr lang="en-US" sz="7200" b="1" dirty="0">
                <a:latin typeface="Times New Roman" panose="02020603050405020304" pitchFamily="18" charset="0"/>
                <a:cs typeface="Times New Roman" panose="02020603050405020304" pitchFamily="18" charset="0"/>
              </a:rPr>
              <a:t>Thank you</a:t>
            </a:r>
          </a:p>
        </p:txBody>
      </p:sp>
    </p:spTree>
    <p:extLst>
      <p:ext uri="{BB962C8B-B14F-4D97-AF65-F5344CB8AC3E}">
        <p14:creationId xmlns:p14="http://schemas.microsoft.com/office/powerpoint/2010/main" val="397251286"/>
      </p:ext>
    </p:extLst>
  </p:cSld>
  <p:clrMapOvr>
    <a:masterClrMapping/>
  </p:clrMapOvr>
</p:sld>
</file>

<file path=ppt/theme/theme1.xml><?xml version="1.0" encoding="utf-8"?>
<a:theme xmlns:a="http://schemas.openxmlformats.org/drawingml/2006/main" name="Wisp">
  <a:themeElements>
    <a:clrScheme name="Wisp">
      <a:dk1>
        <a:sysClr val="windowText" lastClr="000000"/>
      </a:dk1>
      <a:lt1>
        <a:sysClr val="window" lastClr="FFFFFF"/>
      </a:lt1>
      <a:dk2>
        <a:srgbClr val="766F54"/>
      </a:dk2>
      <a:lt2>
        <a:srgbClr val="E3EACF"/>
      </a:lt2>
      <a:accent1>
        <a:srgbClr val="A53010"/>
      </a:accent1>
      <a:accent2>
        <a:srgbClr val="DE7E18"/>
      </a:accent2>
      <a:accent3>
        <a:srgbClr val="9F8351"/>
      </a:accent3>
      <a:accent4>
        <a:srgbClr val="728653"/>
      </a:accent4>
      <a:accent5>
        <a:srgbClr val="92AA4C"/>
      </a:accent5>
      <a:accent6>
        <a:srgbClr val="6AAC91"/>
      </a:accent6>
      <a:hlink>
        <a:srgbClr val="FB4A18"/>
      </a:hlink>
      <a:folHlink>
        <a:srgbClr val="FB9318"/>
      </a:folHlink>
    </a:clrScheme>
    <a:fontScheme name="Wisp">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Wisp">
      <a:fillStyleLst>
        <a:solidFill>
          <a:schemeClr val="phClr"/>
        </a:solidFill>
        <a:solidFill>
          <a:schemeClr val="phClr">
            <a:tint val="70000"/>
            <a:lumMod val="104000"/>
          </a:schemeClr>
        </a:solidFill>
        <a:gradFill rotWithShape="1">
          <a:gsLst>
            <a:gs pos="0">
              <a:schemeClr val="phClr">
                <a:tint val="96000"/>
                <a:lumMod val="104000"/>
              </a:schemeClr>
            </a:gs>
            <a:gs pos="100000">
              <a:schemeClr val="phClr">
                <a:shade val="98000"/>
                <a:lumMod val="94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outerShdw blurRad="38100" dist="25400" dir="5400000" rotWithShape="0">
              <a:srgbClr val="000000">
                <a:alpha val="25000"/>
              </a:srgbClr>
            </a:outerShdw>
          </a:effectLst>
        </a:effectStyle>
        <a:effectStyle>
          <a:effectLst>
            <a:outerShdw blurRad="50800" dist="38100" dir="5400000" rotWithShape="0">
              <a:srgbClr val="000000">
                <a:alpha val="60000"/>
              </a:srgbClr>
            </a:outerShdw>
          </a:effectLst>
        </a:effectStyle>
      </a:effectStyleLst>
      <a:bgFillStyleLst>
        <a:solidFill>
          <a:schemeClr val="phClr"/>
        </a:solidFill>
        <a:gradFill rotWithShape="1">
          <a:gsLst>
            <a:gs pos="0">
              <a:schemeClr val="phClr">
                <a:tint val="90000"/>
                <a:lumMod val="120000"/>
              </a:schemeClr>
            </a:gs>
            <a:gs pos="100000">
              <a:schemeClr val="phClr">
                <a:shade val="98000"/>
                <a:satMod val="120000"/>
                <a:lumMod val="98000"/>
              </a:schemeClr>
            </a:gs>
          </a:gsLst>
          <a:lin ang="5400000" scaled="0"/>
        </a:gradFill>
        <a:gradFill rotWithShape="1">
          <a:gsLst>
            <a:gs pos="0">
              <a:schemeClr val="phClr">
                <a:tint val="90000"/>
                <a:satMod val="92000"/>
                <a:lumMod val="120000"/>
              </a:schemeClr>
            </a:gs>
            <a:gs pos="100000">
              <a:schemeClr val="phClr">
                <a:shade val="98000"/>
                <a:satMod val="120000"/>
                <a:lumMod val="98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Wisp" id="{7CB32D59-10C0-40DD-B7BD-2E94284A981C}" vid="{24B1A44C-C006-48B2-A4D7-E5549B3D8CD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Wisp</Template>
  <TotalTime>615</TotalTime>
  <Words>2268</Words>
  <Application>Microsoft Office PowerPoint</Application>
  <PresentationFormat>Widescreen</PresentationFormat>
  <Paragraphs>687</Paragraphs>
  <Slides>41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41</vt:i4>
      </vt:variant>
    </vt:vector>
  </HeadingPairs>
  <TitlesOfParts>
    <vt:vector size="48" baseType="lpstr">
      <vt:lpstr>Arial</vt:lpstr>
      <vt:lpstr>Calibri</vt:lpstr>
      <vt:lpstr>Cambria Math</vt:lpstr>
      <vt:lpstr>Century Gothic</vt:lpstr>
      <vt:lpstr>Times New Roman</vt:lpstr>
      <vt:lpstr>Wingdings 3</vt:lpstr>
      <vt:lpstr>Wisp</vt:lpstr>
      <vt:lpstr>PowerPoint Presentation</vt:lpstr>
      <vt:lpstr>Problem</vt:lpstr>
      <vt:lpstr>Problem</vt:lpstr>
      <vt:lpstr>Different options?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Simulation</vt:lpstr>
      <vt:lpstr>Simulation</vt:lpstr>
      <vt:lpstr>Simulation</vt:lpstr>
      <vt:lpstr>Simulation Conditions</vt:lpstr>
      <vt:lpstr>Simulation Results</vt:lpstr>
      <vt:lpstr>CCDV Results</vt:lpstr>
      <vt:lpstr>Mixed Ventilation Results</vt:lpstr>
      <vt:lpstr>Economic Analysis</vt:lpstr>
      <vt:lpstr>Cash Flows</vt:lpstr>
      <vt:lpstr>NPV and CER</vt:lpstr>
      <vt:lpstr>Internal Rate of Return</vt:lpstr>
      <vt:lpstr>Results</vt:lpstr>
      <vt:lpstr>Benefit-Cost Analysis</vt:lpstr>
      <vt:lpstr>Benefits and costs without interest</vt:lpstr>
      <vt:lpstr>NPV of Benefits and Costs</vt:lpstr>
      <vt:lpstr>Benefit-Cost Ratio (B/C)</vt:lpstr>
      <vt:lpstr>Electricity Generation Analysis</vt:lpstr>
      <vt:lpstr>Energy Cost Cash Flows and NPV</vt:lpstr>
      <vt:lpstr>Energy produced including interest</vt:lpstr>
      <vt:lpstr>Levelised Cost of Electricity</vt:lpstr>
      <vt:lpstr>Final Decision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Ahmad El Haj (Student)</dc:creator>
  <cp:lastModifiedBy>Jihad Jundi</cp:lastModifiedBy>
  <cp:revision>44</cp:revision>
  <dcterms:created xsi:type="dcterms:W3CDTF">2022-11-29T19:12:16Z</dcterms:created>
  <dcterms:modified xsi:type="dcterms:W3CDTF">2023-05-04T09:26:43Z</dcterms:modified>
</cp:coreProperties>
</file>